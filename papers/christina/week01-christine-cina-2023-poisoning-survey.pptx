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 roundtripDataSignature="AMtx7mgFWkV+o51bwg5Ibz6LEpuqADjO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customschemas.google.com/relationships/presentationmetadata" Target="metadata"/><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 name="Google Shape;3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2" name="Google Shape;8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7" name="Google Shape;10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6" name="Google Shape;13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B2B"/>
        </a:solidFill>
      </p:bgPr>
    </p:bg>
    <p:spTree>
      <p:nvGrpSpPr>
        <p:cNvPr id="11" name="Shape 11"/>
        <p:cNvGrpSpPr/>
        <p:nvPr/>
      </p:nvGrpSpPr>
      <p:grpSpPr>
        <a:xfrm>
          <a:off x="0" y="0"/>
          <a:ext cx="0" cy="0"/>
          <a:chOff x="0" y="0"/>
          <a:chExt cx="0" cy="0"/>
        </a:xfrm>
      </p:grpSpPr>
      <p:pic>
        <p:nvPicPr>
          <p:cNvPr descr="template_img1.png" id="12" name="Google Shape;12;p1"/>
          <p:cNvPicPr preferRelativeResize="0"/>
          <p:nvPr/>
        </p:nvPicPr>
        <p:blipFill rotWithShape="1">
          <a:blip r:embed="rId3">
            <a:alphaModFix/>
          </a:blip>
          <a:srcRect b="0" l="0" r="0" t="0"/>
          <a:stretch/>
        </p:blipFill>
        <p:spPr>
          <a:xfrm>
            <a:off x="6217920" y="182880"/>
            <a:ext cx="2743200" cy="502920"/>
          </a:xfrm>
          <a:prstGeom prst="rect">
            <a:avLst/>
          </a:prstGeom>
          <a:noFill/>
          <a:ln>
            <a:noFill/>
          </a:ln>
        </p:spPr>
      </p:pic>
      <p:sp>
        <p:nvSpPr>
          <p:cNvPr id="13" name="Google Shape;13;p1"/>
          <p:cNvSpPr/>
          <p:nvPr/>
        </p:nvSpPr>
        <p:spPr>
          <a:xfrm>
            <a:off x="365760" y="822960"/>
            <a:ext cx="5486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Georgia"/>
              <a:buNone/>
            </a:pPr>
            <a:r>
              <a:rPr b="1" i="0" lang="en-US" sz="5400" u="none" cap="none" strike="noStrike">
                <a:solidFill>
                  <a:srgbClr val="FFFFFF"/>
                </a:solidFill>
                <a:latin typeface="Georgia"/>
                <a:ea typeface="Georgia"/>
                <a:cs typeface="Georgia"/>
                <a:sym typeface="Georgia"/>
              </a:rPr>
              <a:t>blindspot</a:t>
            </a:r>
            <a:endParaRPr b="0" i="0" sz="5400" u="none" cap="none" strike="noStrike">
              <a:solidFill>
                <a:schemeClr val="dk1"/>
              </a:solidFill>
              <a:latin typeface="Calibri"/>
              <a:ea typeface="Calibri"/>
              <a:cs typeface="Calibri"/>
              <a:sym typeface="Calibri"/>
            </a:endParaRPr>
          </a:p>
        </p:txBody>
      </p:sp>
      <p:sp>
        <p:nvSpPr>
          <p:cNvPr id="14" name="Google Shape;14;p1"/>
          <p:cNvSpPr/>
          <p:nvPr/>
        </p:nvSpPr>
        <p:spPr>
          <a:xfrm>
            <a:off x="365760" y="18745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400"/>
              <a:buFont typeface="Calibri"/>
              <a:buNone/>
            </a:pPr>
            <a:r>
              <a:rPr b="0" i="1" lang="en-US" sz="1400" u="none" cap="none" strike="noStrike">
                <a:solidFill>
                  <a:srgbClr val="AAAAAA"/>
                </a:solidFill>
                <a:latin typeface="Calibri"/>
                <a:ea typeface="Calibri"/>
                <a:cs typeface="Calibri"/>
                <a:sym typeface="Calibri"/>
              </a:rPr>
              <a:t>detecting what the tracker cannot see</a:t>
            </a:r>
            <a:endParaRPr b="0" i="0" sz="1400" u="none" cap="none" strike="noStrike">
              <a:solidFill>
                <a:schemeClr val="dk1"/>
              </a:solidFill>
              <a:latin typeface="Calibri"/>
              <a:ea typeface="Calibri"/>
              <a:cs typeface="Calibri"/>
              <a:sym typeface="Calibri"/>
            </a:endParaRPr>
          </a:p>
        </p:txBody>
      </p:sp>
      <p:sp>
        <p:nvSpPr>
          <p:cNvPr id="15" name="Google Shape;15;p1"/>
          <p:cNvSpPr/>
          <p:nvPr/>
        </p:nvSpPr>
        <p:spPr>
          <a:xfrm>
            <a:off x="365760" y="2377440"/>
            <a:ext cx="5029200" cy="4572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365760" y="2560320"/>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Paper title:</a:t>
            </a:r>
            <a:endParaRPr sz="1100">
              <a:solidFill>
                <a:schemeClr val="dk1"/>
              </a:solidFill>
              <a:latin typeface="Calibri"/>
              <a:ea typeface="Calibri"/>
              <a:cs typeface="Calibri"/>
              <a:sym typeface="Calibri"/>
            </a:endParaRPr>
          </a:p>
        </p:txBody>
      </p:sp>
      <p:sp>
        <p:nvSpPr>
          <p:cNvPr id="17" name="Google Shape;17;p1"/>
          <p:cNvSpPr/>
          <p:nvPr/>
        </p:nvSpPr>
        <p:spPr>
          <a:xfrm>
            <a:off x="1737360" y="2560320"/>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Wild Patterns Reloaded: A Survey of Machine Learning Security against Training Data Poisoning </a:t>
            </a:r>
            <a:endParaRPr sz="1300">
              <a:solidFill>
                <a:schemeClr val="dk1"/>
              </a:solidFill>
              <a:latin typeface="Calibri"/>
              <a:ea typeface="Calibri"/>
              <a:cs typeface="Calibri"/>
              <a:sym typeface="Calibri"/>
            </a:endParaRPr>
          </a:p>
        </p:txBody>
      </p:sp>
      <p:sp>
        <p:nvSpPr>
          <p:cNvPr id="18" name="Google Shape;18;p1"/>
          <p:cNvSpPr/>
          <p:nvPr/>
        </p:nvSpPr>
        <p:spPr>
          <a:xfrm>
            <a:off x="365760" y="3035808"/>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Authors:</a:t>
            </a:r>
            <a:endParaRPr sz="1100">
              <a:solidFill>
                <a:schemeClr val="dk1"/>
              </a:solidFill>
              <a:latin typeface="Calibri"/>
              <a:ea typeface="Calibri"/>
              <a:cs typeface="Calibri"/>
              <a:sym typeface="Calibri"/>
            </a:endParaRPr>
          </a:p>
        </p:txBody>
      </p:sp>
      <p:sp>
        <p:nvSpPr>
          <p:cNvPr id="19" name="Google Shape;19;p1"/>
          <p:cNvSpPr/>
          <p:nvPr/>
        </p:nvSpPr>
        <p:spPr>
          <a:xfrm>
            <a:off x="1737360" y="3035808"/>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Cina et. al </a:t>
            </a:r>
            <a:endParaRPr sz="1300">
              <a:solidFill>
                <a:schemeClr val="dk1"/>
              </a:solidFill>
              <a:latin typeface="Calibri"/>
              <a:ea typeface="Calibri"/>
              <a:cs typeface="Calibri"/>
              <a:sym typeface="Calibri"/>
            </a:endParaRPr>
          </a:p>
        </p:txBody>
      </p:sp>
      <p:sp>
        <p:nvSpPr>
          <p:cNvPr id="20" name="Google Shape;20;p1"/>
          <p:cNvSpPr/>
          <p:nvPr/>
        </p:nvSpPr>
        <p:spPr>
          <a:xfrm>
            <a:off x="365760" y="3511296"/>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Venue &amp; year:</a:t>
            </a:r>
            <a:endParaRPr sz="1100">
              <a:solidFill>
                <a:schemeClr val="dk1"/>
              </a:solidFill>
              <a:latin typeface="Calibri"/>
              <a:ea typeface="Calibri"/>
              <a:cs typeface="Calibri"/>
              <a:sym typeface="Calibri"/>
            </a:endParaRPr>
          </a:p>
        </p:txBody>
      </p:sp>
      <p:sp>
        <p:nvSpPr>
          <p:cNvPr id="21" name="Google Shape;21;p1"/>
          <p:cNvSpPr/>
          <p:nvPr/>
        </p:nvSpPr>
        <p:spPr>
          <a:xfrm>
            <a:off x="1737360" y="3511296"/>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ACM Computing Surveys, Vol. 55, No. 13s, Article 294. Publication date: July 2023 </a:t>
            </a:r>
            <a:endParaRPr sz="1300">
              <a:solidFill>
                <a:schemeClr val="dk1"/>
              </a:solidFill>
              <a:latin typeface="Calibri"/>
              <a:ea typeface="Calibri"/>
              <a:cs typeface="Calibri"/>
              <a:sym typeface="Calibri"/>
            </a:endParaRPr>
          </a:p>
        </p:txBody>
      </p:sp>
      <p:sp>
        <p:nvSpPr>
          <p:cNvPr id="22" name="Google Shape;22;p1"/>
          <p:cNvSpPr/>
          <p:nvPr/>
        </p:nvSpPr>
        <p:spPr>
          <a:xfrm>
            <a:off x="365760" y="3986784"/>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Link:</a:t>
            </a:r>
            <a:endParaRPr sz="1100">
              <a:solidFill>
                <a:schemeClr val="dk1"/>
              </a:solidFill>
              <a:latin typeface="Calibri"/>
              <a:ea typeface="Calibri"/>
              <a:cs typeface="Calibri"/>
              <a:sym typeface="Calibri"/>
            </a:endParaRPr>
          </a:p>
        </p:txBody>
      </p:sp>
      <p:sp>
        <p:nvSpPr>
          <p:cNvPr id="23" name="Google Shape;23;p1"/>
          <p:cNvSpPr/>
          <p:nvPr/>
        </p:nvSpPr>
        <p:spPr>
          <a:xfrm>
            <a:off x="1737360" y="3986784"/>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https://dl.acm.org/doi/10.1145/3585385</a:t>
            </a:r>
            <a:endParaRPr sz="1300">
              <a:solidFill>
                <a:schemeClr val="dk1"/>
              </a:solidFill>
              <a:latin typeface="Calibri"/>
              <a:ea typeface="Calibri"/>
              <a:cs typeface="Calibri"/>
              <a:sym typeface="Calibri"/>
            </a:endParaRPr>
          </a:p>
        </p:txBody>
      </p:sp>
      <p:sp>
        <p:nvSpPr>
          <p:cNvPr id="24" name="Google Shape;24;p1"/>
          <p:cNvSpPr/>
          <p:nvPr/>
        </p:nvSpPr>
        <p:spPr>
          <a:xfrm>
            <a:off x="365760" y="6035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1100"/>
              <a:buFont typeface="Calibri"/>
              <a:buNone/>
            </a:pPr>
            <a:r>
              <a:rPr lang="en-US" sz="1100">
                <a:solidFill>
                  <a:srgbClr val="888888"/>
                </a:solidFill>
                <a:latin typeface="Calibri"/>
                <a:ea typeface="Calibri"/>
                <a:cs typeface="Calibri"/>
                <a:sym typeface="Calibri"/>
              </a:rPr>
              <a:t>Christine</a:t>
            </a:r>
            <a:r>
              <a:rPr lang="en-US" sz="1100">
                <a:solidFill>
                  <a:srgbClr val="888888"/>
                </a:solidFill>
                <a:latin typeface="Calibri"/>
                <a:ea typeface="Calibri"/>
                <a:cs typeface="Calibri"/>
                <a:sym typeface="Calibri"/>
              </a:rPr>
              <a:t>  ·  Week [01]  ·  P.R.I.M.E. Summer 2026</a:t>
            </a:r>
            <a:endParaRPr sz="1100">
              <a:solidFill>
                <a:schemeClr val="dk1"/>
              </a:solidFill>
              <a:latin typeface="Calibri"/>
              <a:ea typeface="Calibri"/>
              <a:cs typeface="Calibri"/>
              <a:sym typeface="Calibri"/>
            </a:endParaRPr>
          </a:p>
        </p:txBody>
      </p:sp>
      <p:sp>
        <p:nvSpPr>
          <p:cNvPr id="25" name="Google Shape;25;p1"/>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1"/>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27" name="Google Shape;27;p1"/>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 / 7</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34" name="Google Shape;34;p2"/>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35" name="Google Shape;35;p2"/>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100"/>
              <a:buFont typeface="Calibri"/>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36" name="Google Shape;36;p2"/>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38" name="Google Shape;38;p2"/>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Main Argument</a:t>
            </a:r>
            <a:endParaRPr sz="2600">
              <a:solidFill>
                <a:schemeClr val="dk1"/>
              </a:solidFill>
              <a:latin typeface="Calibri"/>
              <a:ea typeface="Calibri"/>
              <a:cs typeface="Calibri"/>
              <a:sym typeface="Calibri"/>
            </a:endParaRPr>
          </a:p>
        </p:txBody>
      </p:sp>
      <p:sp>
        <p:nvSpPr>
          <p:cNvPr id="39" name="Google Shape;39;p2"/>
          <p:cNvSpPr/>
          <p:nvPr/>
        </p:nvSpPr>
        <p:spPr>
          <a:xfrm>
            <a:off x="365760" y="1234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State the paper's central claim in ONE sentence. If you cannot say it in one sentence, keep refining.</a:t>
            </a:r>
            <a:endParaRPr sz="1100">
              <a:solidFill>
                <a:schemeClr val="dk1"/>
              </a:solidFill>
              <a:latin typeface="Calibri"/>
              <a:ea typeface="Calibri"/>
              <a:cs typeface="Calibri"/>
              <a:sym typeface="Calibri"/>
            </a:endParaRPr>
          </a:p>
        </p:txBody>
      </p:sp>
      <p:sp>
        <p:nvSpPr>
          <p:cNvPr id="40" name="Google Shape;40;p2"/>
          <p:cNvSpPr/>
          <p:nvPr/>
        </p:nvSpPr>
        <p:spPr>
          <a:xfrm>
            <a:off x="365760" y="1645920"/>
            <a:ext cx="8412480" cy="201168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365760" y="1645920"/>
            <a:ext cx="73152" cy="201168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2"/>
          <p:cNvSpPr/>
          <p:nvPr/>
        </p:nvSpPr>
        <p:spPr>
          <a:xfrm>
            <a:off x="594360" y="1645920"/>
            <a:ext cx="8092440" cy="2011680"/>
          </a:xfrm>
          <a:prstGeom prst="rect">
            <a:avLst/>
          </a:prstGeom>
          <a:noFill/>
          <a:ln>
            <a:noFill/>
          </a:ln>
        </p:spPr>
        <p:txBody>
          <a:bodyPr anchorCtr="0" anchor="ctr" bIns="203200" lIns="203200" spcFirstLastPara="1" rIns="203200" wrap="square" tIns="203200">
            <a:noAutofit/>
          </a:bodyPr>
          <a:lstStyle/>
          <a:p>
            <a:pPr indent="0" lvl="0" marL="0" rtl="0" algn="l">
              <a:spcBef>
                <a:spcPts val="0"/>
              </a:spcBef>
              <a:spcAft>
                <a:spcPts val="0"/>
              </a:spcAft>
              <a:buClr>
                <a:schemeClr val="dk1"/>
              </a:buClr>
              <a:buSzPts val="1100"/>
              <a:buFont typeface="Arial"/>
              <a:buNone/>
            </a:pPr>
            <a:r>
              <a:rPr lang="en-US" sz="1700">
                <a:solidFill>
                  <a:schemeClr val="lt1"/>
                </a:solidFill>
              </a:rPr>
              <a:t>This paper claims that machine learning systems are vulnerable when being trained, and that the current defenses are not reliable enough to stop all poisoning attacks. </a:t>
            </a:r>
            <a:endParaRPr sz="2600">
              <a:solidFill>
                <a:schemeClr val="lt1"/>
              </a:solidFill>
            </a:endParaRPr>
          </a:p>
        </p:txBody>
      </p:sp>
      <p:sp>
        <p:nvSpPr>
          <p:cNvPr id="43" name="Google Shape;43;p2"/>
          <p:cNvSpPr/>
          <p:nvPr/>
        </p:nvSpPr>
        <p:spPr>
          <a:xfrm>
            <a:off x="365760" y="384048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Calibri"/>
              <a:buNone/>
            </a:pPr>
            <a:r>
              <a:rPr b="1" lang="en-US" sz="1200">
                <a:solidFill>
                  <a:srgbClr val="0D9488"/>
                </a:solidFill>
                <a:latin typeface="Calibri"/>
                <a:ea typeface="Calibri"/>
                <a:cs typeface="Calibri"/>
                <a:sym typeface="Calibri"/>
              </a:rPr>
              <a:t>Why does this matter?</a:t>
            </a:r>
            <a:endParaRPr sz="1200">
              <a:solidFill>
                <a:schemeClr val="dk1"/>
              </a:solidFill>
              <a:latin typeface="Calibri"/>
              <a:ea typeface="Calibri"/>
              <a:cs typeface="Calibri"/>
              <a:sym typeface="Calibri"/>
            </a:endParaRPr>
          </a:p>
        </p:txBody>
      </p:sp>
      <p:sp>
        <p:nvSpPr>
          <p:cNvPr id="44" name="Google Shape;44;p2"/>
          <p:cNvSpPr/>
          <p:nvPr/>
        </p:nvSpPr>
        <p:spPr>
          <a:xfrm>
            <a:off x="365760" y="4160520"/>
            <a:ext cx="8412480" cy="685800"/>
          </a:xfrm>
          <a:prstGeom prst="rect">
            <a:avLst/>
          </a:prstGeom>
          <a:solidFill>
            <a:srgbClr val="D6E4F0"/>
          </a:solidFill>
          <a:ln cap="flat" cmpd="sng" w="12700">
            <a:solidFill>
              <a:srgbClr val="CCDD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2"/>
          <p:cNvSpPr/>
          <p:nvPr/>
        </p:nvSpPr>
        <p:spPr>
          <a:xfrm>
            <a:off x="502920" y="4160520"/>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300"/>
              <a:buFont typeface="Calibri"/>
              <a:buNone/>
            </a:pPr>
            <a:r>
              <a:rPr lang="en-US" sz="1100">
                <a:solidFill>
                  <a:schemeClr val="dk1"/>
                </a:solidFill>
                <a:latin typeface="Calibri"/>
                <a:ea typeface="Calibri"/>
                <a:cs typeface="Calibri"/>
                <a:sym typeface="Calibri"/>
              </a:rPr>
              <a:t>This is important because most AI systems rely on data that is obtained through the internet or third parties and that data cannot be completely verified before using it for training purposes. </a:t>
            </a:r>
            <a:endParaRPr sz="1300">
              <a:solidFill>
                <a:schemeClr val="dk1"/>
              </a:solidFill>
              <a:latin typeface="Calibri"/>
              <a:ea typeface="Calibri"/>
              <a:cs typeface="Calibri"/>
              <a:sym typeface="Calibri"/>
            </a:endParaRPr>
          </a:p>
        </p:txBody>
      </p:sp>
      <p:sp>
        <p:nvSpPr>
          <p:cNvPr id="46" name="Google Shape;46;p2"/>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2"/>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48" name="Google Shape;48;p2"/>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2 / 7</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3"/>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55" name="Google Shape;55;p3"/>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56" name="Google Shape;56;p3"/>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57" name="Google Shape;57;p3"/>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3"/>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59" name="Google Shape;59;p3"/>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Method or Evidence</a:t>
            </a:r>
            <a:endParaRPr sz="2600">
              <a:solidFill>
                <a:schemeClr val="dk1"/>
              </a:solidFill>
              <a:latin typeface="Calibri"/>
              <a:ea typeface="Calibri"/>
              <a:cs typeface="Calibri"/>
              <a:sym typeface="Calibri"/>
            </a:endParaRPr>
          </a:p>
        </p:txBody>
      </p:sp>
      <p:sp>
        <p:nvSpPr>
          <p:cNvPr id="60" name="Google Shape;60;p3"/>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How did they show it? Describe the dataset, experiment, proof, or analysis.</a:t>
            </a:r>
            <a:endParaRPr sz="1100">
              <a:solidFill>
                <a:schemeClr val="dk1"/>
              </a:solidFill>
              <a:latin typeface="Calibri"/>
              <a:ea typeface="Calibri"/>
              <a:cs typeface="Calibri"/>
              <a:sym typeface="Calibri"/>
            </a:endParaRPr>
          </a:p>
        </p:txBody>
      </p:sp>
      <p:sp>
        <p:nvSpPr>
          <p:cNvPr id="61" name="Google Shape;61;p3"/>
          <p:cNvSpPr/>
          <p:nvPr/>
        </p:nvSpPr>
        <p:spPr>
          <a:xfrm>
            <a:off x="365760"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3"/>
          <p:cNvSpPr/>
          <p:nvPr/>
        </p:nvSpPr>
        <p:spPr>
          <a:xfrm>
            <a:off x="365760"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Dataset or setting</a:t>
            </a:r>
            <a:endParaRPr sz="1200">
              <a:solidFill>
                <a:schemeClr val="dk1"/>
              </a:solidFill>
              <a:latin typeface="Calibri"/>
              <a:ea typeface="Calibri"/>
              <a:cs typeface="Calibri"/>
              <a:sym typeface="Calibri"/>
            </a:endParaRPr>
          </a:p>
        </p:txBody>
      </p:sp>
      <p:sp>
        <p:nvSpPr>
          <p:cNvPr id="63" name="Google Shape;63;p3"/>
          <p:cNvSpPr/>
          <p:nvPr/>
        </p:nvSpPr>
        <p:spPr>
          <a:xfrm>
            <a:off x="365760"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3"/>
          <p:cNvSpPr/>
          <p:nvPr/>
        </p:nvSpPr>
        <p:spPr>
          <a:xfrm>
            <a:off x="457200"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Since this is a survey paper there is not one dataset but rather a culmination of datasets from over 100 different research articles.</a:t>
            </a:r>
            <a:endParaRPr sz="1200">
              <a:solidFill>
                <a:schemeClr val="dk1"/>
              </a:solidFill>
              <a:latin typeface="Calibri"/>
              <a:ea typeface="Calibri"/>
              <a:cs typeface="Calibri"/>
              <a:sym typeface="Calibri"/>
            </a:endParaRPr>
          </a:p>
        </p:txBody>
      </p:sp>
      <p:sp>
        <p:nvSpPr>
          <p:cNvPr id="65" name="Google Shape;65;p3"/>
          <p:cNvSpPr/>
          <p:nvPr/>
        </p:nvSpPr>
        <p:spPr>
          <a:xfrm>
            <a:off x="3172968"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3"/>
          <p:cNvSpPr/>
          <p:nvPr/>
        </p:nvSpPr>
        <p:spPr>
          <a:xfrm>
            <a:off x="3172968"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Experimental approach</a:t>
            </a:r>
            <a:endParaRPr sz="1200">
              <a:solidFill>
                <a:schemeClr val="dk1"/>
              </a:solidFill>
              <a:latin typeface="Calibri"/>
              <a:ea typeface="Calibri"/>
              <a:cs typeface="Calibri"/>
              <a:sym typeface="Calibri"/>
            </a:endParaRPr>
          </a:p>
        </p:txBody>
      </p:sp>
      <p:sp>
        <p:nvSpPr>
          <p:cNvPr id="67" name="Google Shape;67;p3"/>
          <p:cNvSpPr/>
          <p:nvPr/>
        </p:nvSpPr>
        <p:spPr>
          <a:xfrm>
            <a:off x="3172968"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3"/>
          <p:cNvSpPr/>
          <p:nvPr/>
        </p:nvSpPr>
        <p:spPr>
          <a:xfrm>
            <a:off x="3264408"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There were multiple methods that were tested throughout these different experiments. There was testing done on Indiscriminate poisoning attacks, Targeted </a:t>
            </a:r>
            <a:r>
              <a:rPr lang="en-US" sz="1200">
                <a:solidFill>
                  <a:schemeClr val="dk1"/>
                </a:solidFill>
                <a:latin typeface="Calibri"/>
                <a:ea typeface="Calibri"/>
                <a:cs typeface="Calibri"/>
                <a:sym typeface="Calibri"/>
              </a:rPr>
              <a:t>poisoning</a:t>
            </a:r>
            <a:r>
              <a:rPr lang="en-US" sz="1200">
                <a:solidFill>
                  <a:schemeClr val="dk1"/>
                </a:solidFill>
                <a:latin typeface="Calibri"/>
                <a:ea typeface="Calibri"/>
                <a:cs typeface="Calibri"/>
                <a:sym typeface="Calibri"/>
              </a:rPr>
              <a:t> attacks, and Backdoor poisoning </a:t>
            </a:r>
            <a:r>
              <a:rPr lang="en-US" sz="1200">
                <a:solidFill>
                  <a:schemeClr val="dk1"/>
                </a:solidFill>
                <a:latin typeface="Calibri"/>
                <a:ea typeface="Calibri"/>
                <a:cs typeface="Calibri"/>
                <a:sym typeface="Calibri"/>
              </a:rPr>
              <a:t>attacks. </a:t>
            </a:r>
            <a:endParaRPr sz="1200">
              <a:solidFill>
                <a:schemeClr val="dk1"/>
              </a:solidFill>
              <a:latin typeface="Calibri"/>
              <a:ea typeface="Calibri"/>
              <a:cs typeface="Calibri"/>
              <a:sym typeface="Calibri"/>
            </a:endParaRPr>
          </a:p>
        </p:txBody>
      </p:sp>
      <p:sp>
        <p:nvSpPr>
          <p:cNvPr id="69" name="Google Shape;69;p3"/>
          <p:cNvSpPr/>
          <p:nvPr/>
        </p:nvSpPr>
        <p:spPr>
          <a:xfrm>
            <a:off x="5980176"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p:nvPr/>
        </p:nvSpPr>
        <p:spPr>
          <a:xfrm>
            <a:off x="5980176"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How they measured success</a:t>
            </a:r>
            <a:endParaRPr sz="1200">
              <a:solidFill>
                <a:schemeClr val="dk1"/>
              </a:solidFill>
              <a:latin typeface="Calibri"/>
              <a:ea typeface="Calibri"/>
              <a:cs typeface="Calibri"/>
              <a:sym typeface="Calibri"/>
            </a:endParaRPr>
          </a:p>
        </p:txBody>
      </p:sp>
      <p:sp>
        <p:nvSpPr>
          <p:cNvPr id="71" name="Google Shape;71;p3"/>
          <p:cNvSpPr/>
          <p:nvPr/>
        </p:nvSpPr>
        <p:spPr>
          <a:xfrm>
            <a:off x="5980176"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3"/>
          <p:cNvSpPr/>
          <p:nvPr/>
        </p:nvSpPr>
        <p:spPr>
          <a:xfrm>
            <a:off x="6071616" y="2057400"/>
            <a:ext cx="2468880" cy="1508760"/>
          </a:xfrm>
          <a:prstGeom prst="rect">
            <a:avLst/>
          </a:prstGeom>
          <a:noFill/>
          <a:ln>
            <a:noFill/>
          </a:ln>
        </p:spPr>
        <p:txBody>
          <a:bodyPr anchorCtr="0" anchor="t" bIns="0" lIns="0" spcFirstLastPara="1" rIns="0" wrap="square" tIns="0">
            <a:noAutofit/>
          </a:bodyPr>
          <a:lstStyle/>
          <a:p>
            <a:pPr indent="-304800" lvl="0" marL="4572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Attack rate success</a:t>
            </a:r>
            <a:endParaRPr sz="1200">
              <a:solidFill>
                <a:schemeClr val="dk1"/>
              </a:solidFill>
              <a:latin typeface="Calibri"/>
              <a:ea typeface="Calibri"/>
              <a:cs typeface="Calibri"/>
              <a:sym typeface="Calibri"/>
            </a:endParaRPr>
          </a:p>
          <a:p>
            <a:pPr indent="-304800" lvl="0" marL="4572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validation loss</a:t>
            </a:r>
            <a:endParaRPr sz="1200">
              <a:solidFill>
                <a:schemeClr val="dk1"/>
              </a:solidFill>
              <a:latin typeface="Calibri"/>
              <a:ea typeface="Calibri"/>
              <a:cs typeface="Calibri"/>
              <a:sym typeface="Calibri"/>
            </a:endParaRPr>
          </a:p>
          <a:p>
            <a:pPr indent="-304800" lvl="0" marL="4572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invisibility</a:t>
            </a:r>
            <a:endParaRPr sz="1200">
              <a:solidFill>
                <a:schemeClr val="dk1"/>
              </a:solidFill>
              <a:latin typeface="Calibri"/>
              <a:ea typeface="Calibri"/>
              <a:cs typeface="Calibri"/>
              <a:sym typeface="Calibri"/>
            </a:endParaRPr>
          </a:p>
          <a:p>
            <a:pPr indent="-304800" lvl="0" marL="4572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transferability</a:t>
            </a:r>
            <a:endParaRPr sz="1200">
              <a:solidFill>
                <a:schemeClr val="dk1"/>
              </a:solidFill>
              <a:latin typeface="Calibri"/>
              <a:ea typeface="Calibri"/>
              <a:cs typeface="Calibri"/>
              <a:sym typeface="Calibri"/>
            </a:endParaRPr>
          </a:p>
        </p:txBody>
      </p:sp>
      <p:sp>
        <p:nvSpPr>
          <p:cNvPr id="73" name="Google Shape;73;p3"/>
          <p:cNvSpPr/>
          <p:nvPr/>
        </p:nvSpPr>
        <p:spPr>
          <a:xfrm>
            <a:off x="365760" y="379476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lang="en-US" sz="1100">
                <a:solidFill>
                  <a:srgbClr val="0D9488"/>
                </a:solidFill>
                <a:latin typeface="Calibri"/>
                <a:ea typeface="Calibri"/>
                <a:cs typeface="Calibri"/>
                <a:sym typeface="Calibri"/>
              </a:rPr>
              <a:t>Additional notes on the method:</a:t>
            </a:r>
            <a:endParaRPr sz="1100">
              <a:solidFill>
                <a:schemeClr val="dk1"/>
              </a:solidFill>
              <a:latin typeface="Calibri"/>
              <a:ea typeface="Calibri"/>
              <a:cs typeface="Calibri"/>
              <a:sym typeface="Calibri"/>
            </a:endParaRPr>
          </a:p>
        </p:txBody>
      </p:sp>
      <p:sp>
        <p:nvSpPr>
          <p:cNvPr id="74" name="Google Shape;74;p3"/>
          <p:cNvSpPr/>
          <p:nvPr/>
        </p:nvSpPr>
        <p:spPr>
          <a:xfrm>
            <a:off x="365760" y="4096512"/>
            <a:ext cx="8412480" cy="685800"/>
          </a:xfrm>
          <a:prstGeom prst="rect">
            <a:avLst/>
          </a:prstGeom>
          <a:solidFill>
            <a:srgbClr val="D6E4F0"/>
          </a:solidFill>
          <a:ln cap="flat" cmpd="sng" w="12700">
            <a:solidFill>
              <a:srgbClr val="CCDD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3"/>
          <p:cNvSpPr/>
          <p:nvPr/>
        </p:nvSpPr>
        <p:spPr>
          <a:xfrm>
            <a:off x="502920" y="409651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300"/>
              <a:buFont typeface="Calibri"/>
              <a:buNone/>
            </a:pPr>
            <a:r>
              <a:t/>
            </a:r>
            <a:endParaRPr sz="1300">
              <a:solidFill>
                <a:schemeClr val="dk1"/>
              </a:solidFill>
              <a:latin typeface="Calibri"/>
              <a:ea typeface="Calibri"/>
              <a:cs typeface="Calibri"/>
              <a:sym typeface="Calibri"/>
            </a:endParaRPr>
          </a:p>
        </p:txBody>
      </p:sp>
      <p:sp>
        <p:nvSpPr>
          <p:cNvPr id="76" name="Google Shape;76;p3"/>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3"/>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78" name="Google Shape;78;p3"/>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3 / 7</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4"/>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85" name="Google Shape;85;p4"/>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86" name="Google Shape;86;p4"/>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87" name="Google Shape;87;p4"/>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4"/>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89" name="Google Shape;89;p4"/>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Key Finding or Result</a:t>
            </a:r>
            <a:endParaRPr sz="2600">
              <a:solidFill>
                <a:schemeClr val="dk1"/>
              </a:solidFill>
              <a:latin typeface="Calibri"/>
              <a:ea typeface="Calibri"/>
              <a:cs typeface="Calibri"/>
              <a:sym typeface="Calibri"/>
            </a:endParaRPr>
          </a:p>
        </p:txBody>
      </p:sp>
      <p:sp>
        <p:nvSpPr>
          <p:cNvPr id="90" name="Google Shape;90;p4"/>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The single most important thing the paper found or demonstrated.</a:t>
            </a:r>
            <a:endParaRPr sz="1100">
              <a:solidFill>
                <a:schemeClr val="dk1"/>
              </a:solidFill>
              <a:latin typeface="Calibri"/>
              <a:ea typeface="Calibri"/>
              <a:cs typeface="Calibri"/>
              <a:sym typeface="Calibri"/>
            </a:endParaRPr>
          </a:p>
        </p:txBody>
      </p:sp>
      <p:sp>
        <p:nvSpPr>
          <p:cNvPr id="91" name="Google Shape;91;p4"/>
          <p:cNvSpPr/>
          <p:nvPr/>
        </p:nvSpPr>
        <p:spPr>
          <a:xfrm>
            <a:off x="365760" y="1600200"/>
            <a:ext cx="8412480" cy="173736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4"/>
          <p:cNvSpPr/>
          <p:nvPr/>
        </p:nvSpPr>
        <p:spPr>
          <a:xfrm>
            <a:off x="365760" y="1600200"/>
            <a:ext cx="64008" cy="173736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4"/>
          <p:cNvSpPr/>
          <p:nvPr/>
        </p:nvSpPr>
        <p:spPr>
          <a:xfrm>
            <a:off x="594360" y="16459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000"/>
              <a:buFont typeface="Calibri"/>
              <a:buNone/>
            </a:pPr>
            <a:r>
              <a:rPr b="1" lang="en-US" sz="1000">
                <a:solidFill>
                  <a:srgbClr val="C8102E"/>
                </a:solidFill>
                <a:latin typeface="Calibri"/>
                <a:ea typeface="Calibri"/>
                <a:cs typeface="Calibri"/>
                <a:sym typeface="Calibri"/>
              </a:rPr>
              <a:t>★  Main finding</a:t>
            </a:r>
            <a:endParaRPr sz="1000">
              <a:solidFill>
                <a:schemeClr val="dk1"/>
              </a:solidFill>
              <a:latin typeface="Calibri"/>
              <a:ea typeface="Calibri"/>
              <a:cs typeface="Calibri"/>
              <a:sym typeface="Calibri"/>
            </a:endParaRPr>
          </a:p>
        </p:txBody>
      </p:sp>
      <p:sp>
        <p:nvSpPr>
          <p:cNvPr id="94" name="Google Shape;94;p4"/>
          <p:cNvSpPr/>
          <p:nvPr/>
        </p:nvSpPr>
        <p:spPr>
          <a:xfrm>
            <a:off x="594360" y="1965960"/>
            <a:ext cx="80467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Calibri"/>
              <a:buNone/>
            </a:pPr>
            <a:r>
              <a:rPr lang="en-US">
                <a:solidFill>
                  <a:schemeClr val="dk1"/>
                </a:solidFill>
                <a:latin typeface="Calibri"/>
                <a:ea typeface="Calibri"/>
                <a:cs typeface="Calibri"/>
                <a:sym typeface="Calibri"/>
              </a:rPr>
              <a:t>The paper found that poisoning attacks can successfully manipulate ML models while being able to preserve accuracy. </a:t>
            </a:r>
            <a:r>
              <a:rPr lang="en-US">
                <a:solidFill>
                  <a:schemeClr val="dk1"/>
                </a:solidFill>
                <a:latin typeface="Calibri"/>
                <a:ea typeface="Calibri"/>
                <a:cs typeface="Calibri"/>
                <a:sym typeface="Calibri"/>
              </a:rPr>
              <a:t>The</a:t>
            </a:r>
            <a:r>
              <a:rPr lang="en-US">
                <a:solidFill>
                  <a:schemeClr val="dk1"/>
                </a:solidFill>
                <a:latin typeface="Calibri"/>
                <a:ea typeface="Calibri"/>
                <a:cs typeface="Calibri"/>
                <a:sym typeface="Calibri"/>
              </a:rPr>
              <a:t> models could be poisoned and make it through validation testing without being triggered causing the </a:t>
            </a:r>
            <a:r>
              <a:rPr lang="en-US">
                <a:solidFill>
                  <a:schemeClr val="dk1"/>
                </a:solidFill>
                <a:latin typeface="Calibri"/>
                <a:ea typeface="Calibri"/>
                <a:cs typeface="Calibri"/>
                <a:sym typeface="Calibri"/>
              </a:rPr>
              <a:t>model</a:t>
            </a:r>
            <a:r>
              <a:rPr lang="en-US">
                <a:solidFill>
                  <a:schemeClr val="dk1"/>
                </a:solidFill>
                <a:latin typeface="Calibri"/>
                <a:ea typeface="Calibri"/>
                <a:cs typeface="Calibri"/>
                <a:sym typeface="Calibri"/>
              </a:rPr>
              <a:t> to be used until the </a:t>
            </a:r>
            <a:r>
              <a:rPr lang="en-US">
                <a:solidFill>
                  <a:schemeClr val="dk1"/>
                </a:solidFill>
                <a:latin typeface="Calibri"/>
                <a:ea typeface="Calibri"/>
                <a:cs typeface="Calibri"/>
                <a:sym typeface="Calibri"/>
              </a:rPr>
              <a:t>trigger</a:t>
            </a:r>
            <a:r>
              <a:rPr lang="en-US">
                <a:solidFill>
                  <a:schemeClr val="dk1"/>
                </a:solidFill>
                <a:latin typeface="Calibri"/>
                <a:ea typeface="Calibri"/>
                <a:cs typeface="Calibri"/>
                <a:sym typeface="Calibri"/>
              </a:rPr>
              <a:t> appeared.</a:t>
            </a:r>
            <a:endParaRPr sz="1400">
              <a:solidFill>
                <a:schemeClr val="dk1"/>
              </a:solidFill>
              <a:latin typeface="Calibri"/>
              <a:ea typeface="Calibri"/>
              <a:cs typeface="Calibri"/>
              <a:sym typeface="Calibri"/>
            </a:endParaRPr>
          </a:p>
        </p:txBody>
      </p:sp>
      <p:sp>
        <p:nvSpPr>
          <p:cNvPr id="95" name="Google Shape;95;p4"/>
          <p:cNvSpPr/>
          <p:nvPr/>
        </p:nvSpPr>
        <p:spPr>
          <a:xfrm>
            <a:off x="365760" y="3429000"/>
            <a:ext cx="4069080" cy="13716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4"/>
          <p:cNvSpPr/>
          <p:nvPr/>
        </p:nvSpPr>
        <p:spPr>
          <a:xfrm>
            <a:off x="475488" y="34747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Supporting result 1</a:t>
            </a:r>
            <a:endParaRPr sz="1000">
              <a:solidFill>
                <a:schemeClr val="dk1"/>
              </a:solidFill>
              <a:latin typeface="Calibri"/>
              <a:ea typeface="Calibri"/>
              <a:cs typeface="Calibri"/>
              <a:sym typeface="Calibri"/>
            </a:endParaRPr>
          </a:p>
        </p:txBody>
      </p:sp>
      <p:sp>
        <p:nvSpPr>
          <p:cNvPr id="97" name="Google Shape;97;p4"/>
          <p:cNvSpPr/>
          <p:nvPr/>
        </p:nvSpPr>
        <p:spPr>
          <a:xfrm>
            <a:off x="475488" y="3794760"/>
            <a:ext cx="37491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lang="en-US" sz="1200">
                <a:solidFill>
                  <a:schemeClr val="dk1"/>
                </a:solidFill>
                <a:latin typeface="Calibri"/>
                <a:ea typeface="Calibri"/>
                <a:cs typeface="Calibri"/>
                <a:sym typeface="Calibri"/>
              </a:rPr>
              <a:t>Attack success rates were often close to 100% but still had high clean-data accuracy.</a:t>
            </a:r>
            <a:endParaRPr sz="1200">
              <a:solidFill>
                <a:schemeClr val="dk1"/>
              </a:solidFill>
              <a:latin typeface="Calibri"/>
              <a:ea typeface="Calibri"/>
              <a:cs typeface="Calibri"/>
              <a:sym typeface="Calibri"/>
            </a:endParaRPr>
          </a:p>
        </p:txBody>
      </p:sp>
      <p:sp>
        <p:nvSpPr>
          <p:cNvPr id="98" name="Google Shape;98;p4"/>
          <p:cNvSpPr/>
          <p:nvPr/>
        </p:nvSpPr>
        <p:spPr>
          <a:xfrm>
            <a:off x="4617720" y="3429000"/>
            <a:ext cx="4069080" cy="13716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4"/>
          <p:cNvSpPr/>
          <p:nvPr/>
        </p:nvSpPr>
        <p:spPr>
          <a:xfrm>
            <a:off x="4727448" y="34747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Supporting result 2</a:t>
            </a:r>
            <a:endParaRPr sz="1000">
              <a:solidFill>
                <a:schemeClr val="dk1"/>
              </a:solidFill>
              <a:latin typeface="Calibri"/>
              <a:ea typeface="Calibri"/>
              <a:cs typeface="Calibri"/>
              <a:sym typeface="Calibri"/>
            </a:endParaRPr>
          </a:p>
        </p:txBody>
      </p:sp>
      <p:sp>
        <p:nvSpPr>
          <p:cNvPr id="100" name="Google Shape;100;p4"/>
          <p:cNvSpPr/>
          <p:nvPr/>
        </p:nvSpPr>
        <p:spPr>
          <a:xfrm>
            <a:off x="4727448" y="3794760"/>
            <a:ext cx="3749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lang="en-US" sz="1200">
                <a:solidFill>
                  <a:schemeClr val="dk1"/>
                </a:solidFill>
                <a:latin typeface="Calibri"/>
                <a:ea typeface="Calibri"/>
                <a:cs typeface="Calibri"/>
                <a:sym typeface="Calibri"/>
              </a:rPr>
              <a:t>This paper found that feature collision attacks could change feature embeddings causing the target samples to be misclassified without greatly affecting the model’s performance, making the attacks difficult to detect.</a:t>
            </a:r>
            <a:endParaRPr sz="1200">
              <a:solidFill>
                <a:schemeClr val="dk1"/>
              </a:solidFill>
              <a:latin typeface="Calibri"/>
              <a:ea typeface="Calibri"/>
              <a:cs typeface="Calibri"/>
              <a:sym typeface="Calibri"/>
            </a:endParaRPr>
          </a:p>
        </p:txBody>
      </p:sp>
      <p:sp>
        <p:nvSpPr>
          <p:cNvPr id="101" name="Google Shape;101;p4"/>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4"/>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103" name="Google Shape;103;p4"/>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4 / 7</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5"/>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110" name="Google Shape;110;p5"/>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111" name="Google Shape;111;p5"/>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112" name="Google Shape;112;p5"/>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5"/>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114" name="Google Shape;114;p5"/>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Limitation or Open Question</a:t>
            </a:r>
            <a:endParaRPr sz="2600">
              <a:solidFill>
                <a:schemeClr val="dk1"/>
              </a:solidFill>
              <a:latin typeface="Calibri"/>
              <a:ea typeface="Calibri"/>
              <a:cs typeface="Calibri"/>
              <a:sym typeface="Calibri"/>
            </a:endParaRPr>
          </a:p>
        </p:txBody>
      </p:sp>
      <p:sp>
        <p:nvSpPr>
          <p:cNvPr id="115" name="Google Shape;115;p5"/>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What does this paper leave unsolved? What are you skeptical of?</a:t>
            </a:r>
            <a:endParaRPr sz="1100">
              <a:solidFill>
                <a:schemeClr val="dk1"/>
              </a:solidFill>
              <a:latin typeface="Calibri"/>
              <a:ea typeface="Calibri"/>
              <a:cs typeface="Calibri"/>
              <a:sym typeface="Calibri"/>
            </a:endParaRPr>
          </a:p>
        </p:txBody>
      </p:sp>
      <p:sp>
        <p:nvSpPr>
          <p:cNvPr id="116" name="Google Shape;116;p5"/>
          <p:cNvSpPr/>
          <p:nvPr/>
        </p:nvSpPr>
        <p:spPr>
          <a:xfrm>
            <a:off x="365760"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5"/>
          <p:cNvSpPr/>
          <p:nvPr/>
        </p:nvSpPr>
        <p:spPr>
          <a:xfrm>
            <a:off x="365760"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it leaves unsolved</a:t>
            </a:r>
            <a:endParaRPr sz="1100">
              <a:solidFill>
                <a:schemeClr val="dk1"/>
              </a:solidFill>
              <a:latin typeface="Calibri"/>
              <a:ea typeface="Calibri"/>
              <a:cs typeface="Calibri"/>
              <a:sym typeface="Calibri"/>
            </a:endParaRPr>
          </a:p>
        </p:txBody>
      </p:sp>
      <p:sp>
        <p:nvSpPr>
          <p:cNvPr id="118" name="Google Shape;118;p5"/>
          <p:cNvSpPr/>
          <p:nvPr/>
        </p:nvSpPr>
        <p:spPr>
          <a:xfrm>
            <a:off x="365760" y="1993392"/>
            <a:ext cx="2651760" cy="1828800"/>
          </a:xfrm>
          <a:prstGeom prst="rect">
            <a:avLst/>
          </a:prstGeom>
          <a:solidFill>
            <a:srgbClr val="FFF3E0"/>
          </a:solidFill>
          <a:ln cap="flat" cmpd="sng" w="12700">
            <a:solidFill>
              <a:srgbClr val="FFCC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5"/>
          <p:cNvSpPr/>
          <p:nvPr/>
        </p:nvSpPr>
        <p:spPr>
          <a:xfrm>
            <a:off x="457200" y="2084832"/>
            <a:ext cx="2468880" cy="1645920"/>
          </a:xfrm>
          <a:prstGeom prst="rect">
            <a:avLst/>
          </a:prstGeom>
          <a:noFill/>
          <a:ln>
            <a:noFill/>
          </a:ln>
        </p:spPr>
        <p:txBody>
          <a:bodyPr anchorCtr="0" anchor="t" bIns="0" lIns="0" spcFirstLastPara="1" rIns="0" wrap="square" tIns="0">
            <a:noAutofit/>
          </a:bodyPr>
          <a:lstStyle/>
          <a:p>
            <a:pPr indent="-292100" lvl="0" marL="457200" rtl="0" algn="l">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How much of the training data can attackers realistically poison?  </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Would these attacks work in the real world? </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Would these defenses survive attacks adapting? </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Can the attacks transfer across unknown models? </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How does the poisoning affect large language models? Does poisoning persist after retraining?</a:t>
            </a:r>
            <a:endParaRPr sz="1100">
              <a:solidFill>
                <a:schemeClr val="dk1"/>
              </a:solidFill>
              <a:latin typeface="Calibri"/>
              <a:ea typeface="Calibri"/>
              <a:cs typeface="Calibri"/>
              <a:sym typeface="Calibri"/>
            </a:endParaRPr>
          </a:p>
        </p:txBody>
      </p:sp>
      <p:sp>
        <p:nvSpPr>
          <p:cNvPr id="120" name="Google Shape;120;p5"/>
          <p:cNvSpPr/>
          <p:nvPr/>
        </p:nvSpPr>
        <p:spPr>
          <a:xfrm>
            <a:off x="3172968"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5"/>
          <p:cNvSpPr/>
          <p:nvPr/>
        </p:nvSpPr>
        <p:spPr>
          <a:xfrm>
            <a:off x="3172968"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you are skeptical of</a:t>
            </a:r>
            <a:endParaRPr sz="1100">
              <a:solidFill>
                <a:schemeClr val="dk1"/>
              </a:solidFill>
              <a:latin typeface="Calibri"/>
              <a:ea typeface="Calibri"/>
              <a:cs typeface="Calibri"/>
              <a:sym typeface="Calibri"/>
            </a:endParaRPr>
          </a:p>
        </p:txBody>
      </p:sp>
      <p:sp>
        <p:nvSpPr>
          <p:cNvPr id="122" name="Google Shape;122;p5"/>
          <p:cNvSpPr/>
          <p:nvPr/>
        </p:nvSpPr>
        <p:spPr>
          <a:xfrm>
            <a:off x="3172968" y="1993392"/>
            <a:ext cx="2651760" cy="1828800"/>
          </a:xfrm>
          <a:prstGeom prst="rect">
            <a:avLst/>
          </a:prstGeom>
          <a:solidFill>
            <a:srgbClr val="FFEBEE"/>
          </a:solidFill>
          <a:ln cap="flat" cmpd="sng" w="12700">
            <a:solidFill>
              <a:srgbClr val="FFC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5"/>
          <p:cNvSpPr/>
          <p:nvPr/>
        </p:nvSpPr>
        <p:spPr>
          <a:xfrm>
            <a:off x="3264408" y="2084832"/>
            <a:ext cx="24688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1C1C"/>
              </a:buClr>
              <a:buSzPts val="1200"/>
              <a:buFont typeface="Calibri"/>
              <a:buNone/>
            </a:pPr>
            <a:r>
              <a:rPr lang="en-US" sz="1200">
                <a:solidFill>
                  <a:schemeClr val="dk1"/>
                </a:solidFill>
                <a:latin typeface="Calibri"/>
                <a:ea typeface="Calibri"/>
                <a:cs typeface="Calibri"/>
                <a:sym typeface="Calibri"/>
              </a:rPr>
              <a:t>I am skeptical of </a:t>
            </a:r>
            <a:r>
              <a:rPr lang="en-US" sz="1200">
                <a:solidFill>
                  <a:schemeClr val="dk1"/>
                </a:solidFill>
                <a:latin typeface="Calibri"/>
                <a:ea typeface="Calibri"/>
                <a:cs typeface="Calibri"/>
                <a:sym typeface="Calibri"/>
              </a:rPr>
              <a:t>the fact that many of  these experiments yielded an attack success rate of 100%</a:t>
            </a:r>
            <a:endParaRPr sz="1200">
              <a:solidFill>
                <a:schemeClr val="dk1"/>
              </a:solidFill>
              <a:latin typeface="Calibri"/>
              <a:ea typeface="Calibri"/>
              <a:cs typeface="Calibri"/>
              <a:sym typeface="Calibri"/>
            </a:endParaRPr>
          </a:p>
        </p:txBody>
      </p:sp>
      <p:sp>
        <p:nvSpPr>
          <p:cNvPr id="124" name="Google Shape;124;p5"/>
          <p:cNvSpPr/>
          <p:nvPr/>
        </p:nvSpPr>
        <p:spPr>
          <a:xfrm>
            <a:off x="5980176"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5"/>
          <p:cNvSpPr/>
          <p:nvPr/>
        </p:nvSpPr>
        <p:spPr>
          <a:xfrm>
            <a:off x="5980176"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question it raises for us</a:t>
            </a:r>
            <a:endParaRPr sz="1100">
              <a:solidFill>
                <a:schemeClr val="dk1"/>
              </a:solidFill>
              <a:latin typeface="Calibri"/>
              <a:ea typeface="Calibri"/>
              <a:cs typeface="Calibri"/>
              <a:sym typeface="Calibri"/>
            </a:endParaRPr>
          </a:p>
        </p:txBody>
      </p:sp>
      <p:sp>
        <p:nvSpPr>
          <p:cNvPr id="126" name="Google Shape;126;p5"/>
          <p:cNvSpPr/>
          <p:nvPr/>
        </p:nvSpPr>
        <p:spPr>
          <a:xfrm>
            <a:off x="5980176" y="1993392"/>
            <a:ext cx="2651760" cy="18288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5"/>
          <p:cNvSpPr/>
          <p:nvPr/>
        </p:nvSpPr>
        <p:spPr>
          <a:xfrm>
            <a:off x="6071616" y="2084832"/>
            <a:ext cx="24688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lang="en-US" sz="1200">
                <a:solidFill>
                  <a:schemeClr val="dk1"/>
                </a:solidFill>
                <a:latin typeface="Calibri"/>
                <a:ea typeface="Calibri"/>
                <a:cs typeface="Calibri"/>
                <a:sym typeface="Calibri"/>
              </a:rPr>
              <a:t>Is there a way for us to solve any of these unanswered questions?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A3A5C"/>
              </a:buClr>
              <a:buSzPts val="1200"/>
              <a:buFont typeface="Calibri"/>
              <a:buNone/>
            </a:pPr>
            <a:r>
              <a:rPr lang="en-US" sz="1200">
                <a:solidFill>
                  <a:schemeClr val="dk1"/>
                </a:solidFill>
                <a:latin typeface="Calibri"/>
                <a:ea typeface="Calibri"/>
                <a:cs typeface="Calibri"/>
                <a:sym typeface="Calibri"/>
              </a:rPr>
              <a:t>Can we do our </a:t>
            </a:r>
            <a:r>
              <a:rPr lang="en-US" sz="1200">
                <a:solidFill>
                  <a:schemeClr val="dk1"/>
                </a:solidFill>
                <a:latin typeface="Calibri"/>
                <a:ea typeface="Calibri"/>
                <a:cs typeface="Calibri"/>
                <a:sym typeface="Calibri"/>
              </a:rPr>
              <a:t>experiment</a:t>
            </a:r>
            <a:r>
              <a:rPr lang="en-US" sz="1200">
                <a:solidFill>
                  <a:schemeClr val="dk1"/>
                </a:solidFill>
                <a:latin typeface="Calibri"/>
                <a:ea typeface="Calibri"/>
                <a:cs typeface="Calibri"/>
                <a:sym typeface="Calibri"/>
              </a:rPr>
              <a:t> and test the outcome in more realistic ways?</a:t>
            </a:r>
            <a:endParaRPr sz="1200">
              <a:solidFill>
                <a:schemeClr val="dk1"/>
              </a:solidFill>
              <a:latin typeface="Calibri"/>
              <a:ea typeface="Calibri"/>
              <a:cs typeface="Calibri"/>
              <a:sym typeface="Calibri"/>
            </a:endParaRPr>
          </a:p>
        </p:txBody>
      </p:sp>
      <p:sp>
        <p:nvSpPr>
          <p:cNvPr id="128" name="Google Shape;128;p5"/>
          <p:cNvSpPr/>
          <p:nvPr/>
        </p:nvSpPr>
        <p:spPr>
          <a:xfrm>
            <a:off x="365760" y="3931920"/>
            <a:ext cx="8412480" cy="77724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5"/>
          <p:cNvSpPr/>
          <p:nvPr/>
        </p:nvSpPr>
        <p:spPr>
          <a:xfrm>
            <a:off x="548640" y="3931920"/>
            <a:ext cx="8046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200"/>
              <a:buFont typeface="Calibri"/>
              <a:buNone/>
            </a:pPr>
            <a:r>
              <a:rPr i="1" lang="en-US" sz="1200">
                <a:solidFill>
                  <a:srgbClr val="AAAAAA"/>
                </a:solidFill>
                <a:latin typeface="Calibri"/>
                <a:ea typeface="Calibri"/>
                <a:cs typeface="Calibri"/>
                <a:sym typeface="Calibri"/>
              </a:rPr>
              <a:t>Critical thinking prompt: Could you replicate this paper's results? What would you need?</a:t>
            </a:r>
            <a:endParaRPr i="1" sz="1200">
              <a:solidFill>
                <a:srgbClr val="AAAAAA"/>
              </a:solidFill>
              <a:latin typeface="Calibri"/>
              <a:ea typeface="Calibri"/>
              <a:cs typeface="Calibri"/>
              <a:sym typeface="Calibri"/>
            </a:endParaRPr>
          </a:p>
          <a:p>
            <a:pPr indent="0" lvl="0" marL="0" marR="0" rtl="0" algn="l">
              <a:spcBef>
                <a:spcPts val="0"/>
              </a:spcBef>
              <a:spcAft>
                <a:spcPts val="0"/>
              </a:spcAft>
              <a:buClr>
                <a:srgbClr val="AAAAAA"/>
              </a:buClr>
              <a:buSzPts val="1200"/>
              <a:buFont typeface="Calibri"/>
              <a:buNone/>
            </a:pPr>
            <a:r>
              <a:rPr lang="en-US" sz="1200">
                <a:solidFill>
                  <a:schemeClr val="lt1"/>
                </a:solidFill>
                <a:latin typeface="Calibri"/>
                <a:ea typeface="Calibri"/>
                <a:cs typeface="Calibri"/>
                <a:sym typeface="Calibri"/>
              </a:rPr>
              <a:t>I don’t think I would be able to replicate this survey since it was an amalgamation of over 100 other experiments. I fear it would take an extremely long time and require a lot of resources to be able to conduct each </a:t>
            </a:r>
            <a:r>
              <a:rPr lang="en-US" sz="1200">
                <a:solidFill>
                  <a:schemeClr val="lt1"/>
                </a:solidFill>
                <a:latin typeface="Calibri"/>
                <a:ea typeface="Calibri"/>
                <a:cs typeface="Calibri"/>
                <a:sym typeface="Calibri"/>
              </a:rPr>
              <a:t>experiment</a:t>
            </a:r>
            <a:r>
              <a:rPr lang="en-US" sz="1200">
                <a:solidFill>
                  <a:schemeClr val="lt1"/>
                </a:solidFill>
                <a:latin typeface="Calibri"/>
                <a:ea typeface="Calibri"/>
                <a:cs typeface="Calibri"/>
                <a:sym typeface="Calibri"/>
              </a:rPr>
              <a:t> </a:t>
            </a:r>
            <a:r>
              <a:rPr lang="en-US" sz="1200">
                <a:solidFill>
                  <a:schemeClr val="lt1"/>
                </a:solidFill>
                <a:latin typeface="Calibri"/>
                <a:ea typeface="Calibri"/>
                <a:cs typeface="Calibri"/>
                <a:sym typeface="Calibri"/>
              </a:rPr>
              <a:t>again</a:t>
            </a:r>
            <a:r>
              <a:rPr lang="en-US" sz="1200">
                <a:solidFill>
                  <a:schemeClr val="lt1"/>
                </a:solidFill>
                <a:latin typeface="Calibri"/>
                <a:ea typeface="Calibri"/>
                <a:cs typeface="Calibri"/>
                <a:sym typeface="Calibri"/>
              </a:rPr>
              <a:t>, and by the time I would complete it there would be new </a:t>
            </a:r>
            <a:r>
              <a:rPr lang="en-US" sz="1200">
                <a:solidFill>
                  <a:schemeClr val="lt1"/>
                </a:solidFill>
                <a:latin typeface="Calibri"/>
                <a:ea typeface="Calibri"/>
                <a:cs typeface="Calibri"/>
                <a:sym typeface="Calibri"/>
              </a:rPr>
              <a:t>evidence, techniques for attacks, defense mechanisms, and unanswered questions. </a:t>
            </a:r>
            <a:endParaRPr sz="1200">
              <a:solidFill>
                <a:schemeClr val="lt1"/>
              </a:solidFill>
              <a:latin typeface="Calibri"/>
              <a:ea typeface="Calibri"/>
              <a:cs typeface="Calibri"/>
              <a:sym typeface="Calibri"/>
            </a:endParaRPr>
          </a:p>
        </p:txBody>
      </p:sp>
      <p:sp>
        <p:nvSpPr>
          <p:cNvPr id="130" name="Google Shape;130;p5"/>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5"/>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132" name="Google Shape;132;p5"/>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5 / 7</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6"/>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139" name="Google Shape;139;p6"/>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140" name="Google Shape;140;p6"/>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141" name="Google Shape;141;p6"/>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6"/>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6</a:t>
            </a:r>
            <a:endParaRPr sz="1800">
              <a:solidFill>
                <a:schemeClr val="dk1"/>
              </a:solidFill>
              <a:latin typeface="Calibri"/>
              <a:ea typeface="Calibri"/>
              <a:cs typeface="Calibri"/>
              <a:sym typeface="Calibri"/>
            </a:endParaRPr>
          </a:p>
        </p:txBody>
      </p:sp>
      <p:sp>
        <p:nvSpPr>
          <p:cNvPr id="143" name="Google Shape;143;p6"/>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Connection to Our Project</a:t>
            </a:r>
            <a:endParaRPr sz="2600">
              <a:solidFill>
                <a:schemeClr val="dk1"/>
              </a:solidFill>
              <a:latin typeface="Calibri"/>
              <a:ea typeface="Calibri"/>
              <a:cs typeface="Calibri"/>
              <a:sym typeface="Calibri"/>
            </a:endParaRPr>
          </a:p>
        </p:txBody>
      </p:sp>
      <p:sp>
        <p:nvSpPr>
          <p:cNvPr id="144" name="Google Shape;144;p6"/>
          <p:cNvSpPr/>
          <p:nvPr/>
        </p:nvSpPr>
        <p:spPr>
          <a:xfrm>
            <a:off x="365760" y="1234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How does this paper change how you think about embedding-space poisoning in multi-camera tracking?</a:t>
            </a:r>
            <a:endParaRPr sz="1100">
              <a:solidFill>
                <a:schemeClr val="dk1"/>
              </a:solidFill>
              <a:latin typeface="Calibri"/>
              <a:ea typeface="Calibri"/>
              <a:cs typeface="Calibri"/>
              <a:sym typeface="Calibri"/>
            </a:endParaRPr>
          </a:p>
        </p:txBody>
      </p:sp>
      <p:sp>
        <p:nvSpPr>
          <p:cNvPr id="145" name="Google Shape;145;p6"/>
          <p:cNvSpPr/>
          <p:nvPr/>
        </p:nvSpPr>
        <p:spPr>
          <a:xfrm>
            <a:off x="365760" y="1645920"/>
            <a:ext cx="8412480" cy="182880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6"/>
          <p:cNvSpPr/>
          <p:nvPr/>
        </p:nvSpPr>
        <p:spPr>
          <a:xfrm>
            <a:off x="365760" y="1645920"/>
            <a:ext cx="64008" cy="18288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6"/>
          <p:cNvSpPr/>
          <p:nvPr/>
        </p:nvSpPr>
        <p:spPr>
          <a:xfrm>
            <a:off x="594360" y="1691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1" lang="en-US" sz="1000">
                <a:solidFill>
                  <a:srgbClr val="AAAAAA"/>
                </a:solidFill>
                <a:latin typeface="Calibri"/>
                <a:ea typeface="Calibri"/>
                <a:cs typeface="Calibri"/>
                <a:sym typeface="Calibri"/>
              </a:rPr>
              <a:t>How this paper connects to blindspot:</a:t>
            </a:r>
            <a:endParaRPr sz="1000">
              <a:solidFill>
                <a:schemeClr val="dk1"/>
              </a:solidFill>
              <a:latin typeface="Calibri"/>
              <a:ea typeface="Calibri"/>
              <a:cs typeface="Calibri"/>
              <a:sym typeface="Calibri"/>
            </a:endParaRPr>
          </a:p>
        </p:txBody>
      </p:sp>
      <p:sp>
        <p:nvSpPr>
          <p:cNvPr id="148" name="Google Shape;148;p6"/>
          <p:cNvSpPr/>
          <p:nvPr/>
        </p:nvSpPr>
        <p:spPr>
          <a:xfrm>
            <a:off x="594360" y="2011680"/>
            <a:ext cx="8046720" cy="13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8500"/>
              </a:spcAft>
              <a:buClr>
                <a:schemeClr val="dk1"/>
              </a:buClr>
              <a:buSzPts val="1100"/>
              <a:buFont typeface="Arial"/>
              <a:buNone/>
            </a:pPr>
            <a:r>
              <a:rPr lang="en-US" sz="1500">
                <a:solidFill>
                  <a:schemeClr val="lt1"/>
                </a:solidFill>
                <a:latin typeface="Calibri"/>
                <a:ea typeface="Calibri"/>
                <a:cs typeface="Calibri"/>
                <a:sym typeface="Calibri"/>
              </a:rPr>
              <a:t>This paper tells us that if an attacker can poison the training process they may also be able to cause the embeddings to collide or become too similar and cause the tracker to incorrectly identify or associate objects across cameras. The paper also discusses feature collision attacks which show that an attacker can intentionally move poisoned samples close to target samples in an embedding space causing the model to learn incorrect associations. </a:t>
            </a:r>
            <a:endParaRPr sz="1700">
              <a:solidFill>
                <a:schemeClr val="lt1"/>
              </a:solidFill>
              <a:latin typeface="Calibri"/>
              <a:ea typeface="Calibri"/>
              <a:cs typeface="Calibri"/>
              <a:sym typeface="Calibri"/>
            </a:endParaRPr>
          </a:p>
        </p:txBody>
      </p:sp>
      <p:sp>
        <p:nvSpPr>
          <p:cNvPr id="149" name="Google Shape;149;p6"/>
          <p:cNvSpPr/>
          <p:nvPr/>
        </p:nvSpPr>
        <p:spPr>
          <a:xfrm>
            <a:off x="365760" y="3566160"/>
            <a:ext cx="4069080" cy="1234440"/>
          </a:xfrm>
          <a:prstGeom prst="rect">
            <a:avLst/>
          </a:prstGeom>
          <a:solidFill>
            <a:srgbClr val="E8F5E9"/>
          </a:solidFill>
          <a:ln cap="flat" cmpd="sng" w="12700">
            <a:solidFill>
              <a:srgbClr val="A5D6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6"/>
          <p:cNvSpPr/>
          <p:nvPr/>
        </p:nvSpPr>
        <p:spPr>
          <a:xfrm>
            <a:off x="475488" y="361188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5E20"/>
              </a:buClr>
              <a:buSzPts val="1000"/>
              <a:buFont typeface="Calibri"/>
              <a:buNone/>
            </a:pPr>
            <a:r>
              <a:rPr b="1" lang="en-US" sz="1000">
                <a:solidFill>
                  <a:srgbClr val="1B5E20"/>
                </a:solidFill>
                <a:latin typeface="Calibri"/>
                <a:ea typeface="Calibri"/>
                <a:cs typeface="Calibri"/>
                <a:sym typeface="Calibri"/>
              </a:rPr>
              <a:t>This paper supports our approach because...</a:t>
            </a:r>
            <a:endParaRPr sz="1000">
              <a:solidFill>
                <a:schemeClr val="dk1"/>
              </a:solidFill>
              <a:latin typeface="Calibri"/>
              <a:ea typeface="Calibri"/>
              <a:cs typeface="Calibri"/>
              <a:sym typeface="Calibri"/>
            </a:endParaRPr>
          </a:p>
        </p:txBody>
      </p:sp>
      <p:sp>
        <p:nvSpPr>
          <p:cNvPr id="151" name="Google Shape;151;p6"/>
          <p:cNvSpPr/>
          <p:nvPr/>
        </p:nvSpPr>
        <p:spPr>
          <a:xfrm>
            <a:off x="475488" y="3977640"/>
            <a:ext cx="3749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5E20"/>
              </a:buClr>
              <a:buSzPts val="1200"/>
              <a:buFont typeface="Calibri"/>
              <a:buNone/>
            </a:pPr>
            <a:r>
              <a:rPr lang="en-US" sz="1200">
                <a:solidFill>
                  <a:schemeClr val="dk1"/>
                </a:solidFill>
                <a:latin typeface="Calibri"/>
                <a:ea typeface="Calibri"/>
                <a:cs typeface="Calibri"/>
                <a:sym typeface="Calibri"/>
              </a:rPr>
              <a:t>it shows that poisoning </a:t>
            </a:r>
            <a:r>
              <a:rPr lang="en-US" sz="1200">
                <a:solidFill>
                  <a:schemeClr val="dk1"/>
                </a:solidFill>
                <a:latin typeface="Calibri"/>
                <a:ea typeface="Calibri"/>
                <a:cs typeface="Calibri"/>
                <a:sym typeface="Calibri"/>
              </a:rPr>
              <a:t>attacks</a:t>
            </a:r>
            <a:r>
              <a:rPr lang="en-US" sz="1200">
                <a:solidFill>
                  <a:schemeClr val="dk1"/>
                </a:solidFill>
                <a:latin typeface="Calibri"/>
                <a:ea typeface="Calibri"/>
                <a:cs typeface="Calibri"/>
                <a:sym typeface="Calibri"/>
              </a:rPr>
              <a:t> can manipulate feature embeddings through feature collision techniques.</a:t>
            </a:r>
            <a:endParaRPr sz="1200">
              <a:solidFill>
                <a:schemeClr val="dk1"/>
              </a:solidFill>
              <a:latin typeface="Calibri"/>
              <a:ea typeface="Calibri"/>
              <a:cs typeface="Calibri"/>
              <a:sym typeface="Calibri"/>
            </a:endParaRPr>
          </a:p>
        </p:txBody>
      </p:sp>
      <p:sp>
        <p:nvSpPr>
          <p:cNvPr id="152" name="Google Shape;152;p6"/>
          <p:cNvSpPr/>
          <p:nvPr/>
        </p:nvSpPr>
        <p:spPr>
          <a:xfrm>
            <a:off x="4617720" y="3566160"/>
            <a:ext cx="4069080" cy="1234440"/>
          </a:xfrm>
          <a:prstGeom prst="rect">
            <a:avLst/>
          </a:prstGeom>
          <a:solidFill>
            <a:srgbClr val="FFEBEE"/>
          </a:solidFill>
          <a:ln cap="flat" cmpd="sng" w="12700">
            <a:solidFill>
              <a:srgbClr val="FFC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6"/>
          <p:cNvSpPr/>
          <p:nvPr/>
        </p:nvSpPr>
        <p:spPr>
          <a:xfrm>
            <a:off x="4727448" y="361188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1C1C"/>
              </a:buClr>
              <a:buSzPts val="1000"/>
              <a:buFont typeface="Calibri"/>
              <a:buNone/>
            </a:pPr>
            <a:r>
              <a:rPr b="1" lang="en-US" sz="1000">
                <a:solidFill>
                  <a:srgbClr val="B71C1C"/>
                </a:solidFill>
                <a:latin typeface="Calibri"/>
                <a:ea typeface="Calibri"/>
                <a:cs typeface="Calibri"/>
                <a:sym typeface="Calibri"/>
              </a:rPr>
              <a:t>This paper challenges our approach because...</a:t>
            </a:r>
            <a:endParaRPr sz="1000">
              <a:solidFill>
                <a:schemeClr val="dk1"/>
              </a:solidFill>
              <a:latin typeface="Calibri"/>
              <a:ea typeface="Calibri"/>
              <a:cs typeface="Calibri"/>
              <a:sym typeface="Calibri"/>
            </a:endParaRPr>
          </a:p>
        </p:txBody>
      </p:sp>
      <p:sp>
        <p:nvSpPr>
          <p:cNvPr id="154" name="Google Shape;154;p6"/>
          <p:cNvSpPr/>
          <p:nvPr/>
        </p:nvSpPr>
        <p:spPr>
          <a:xfrm>
            <a:off x="4727448" y="3977640"/>
            <a:ext cx="3749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1C1C"/>
              </a:buClr>
              <a:buSzPts val="1200"/>
              <a:buFont typeface="Calibri"/>
              <a:buNone/>
            </a:pPr>
            <a:r>
              <a:rPr lang="en-US" sz="1200">
                <a:solidFill>
                  <a:schemeClr val="dk1"/>
                </a:solidFill>
                <a:latin typeface="Calibri"/>
                <a:ea typeface="Calibri"/>
                <a:cs typeface="Calibri"/>
                <a:sym typeface="Calibri"/>
              </a:rPr>
              <a:t>the attacks tested in controlled environments may not generalize reliably to real world conditions.</a:t>
            </a:r>
            <a:endParaRPr sz="1200">
              <a:solidFill>
                <a:schemeClr val="dk1"/>
              </a:solidFill>
              <a:latin typeface="Calibri"/>
              <a:ea typeface="Calibri"/>
              <a:cs typeface="Calibri"/>
              <a:sym typeface="Calibri"/>
            </a:endParaRPr>
          </a:p>
        </p:txBody>
      </p:sp>
      <p:sp>
        <p:nvSpPr>
          <p:cNvPr id="155" name="Google Shape;155;p6"/>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6"/>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157" name="Google Shape;157;p6"/>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6 / 7</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2026-05-19T13:44:10Z</dcterms:created>
  <dc:creator>PptxGenJS</dc:creator>
</cp:coreProperties>
</file>