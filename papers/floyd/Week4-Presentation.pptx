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3" r:id="rId2"/>
    <p:sldId id="264" r:id="rId3"/>
    <p:sldId id="265" r:id="rId4"/>
    <p:sldId id="266" r:id="rId5"/>
    <p:sldId id="267" r:id="rId6"/>
    <p:sldId id="262" r:id="rId7"/>
    <p:sldId id="268"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37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
        <p:cNvGrpSpPr/>
        <p:nvPr/>
      </p:nvGrpSpPr>
      <p:grpSpPr>
        <a:xfrm>
          <a:off x="0" y="0"/>
          <a:ext cx="0" cy="0"/>
          <a:chOff x="0" y="0"/>
          <a:chExt cx="0" cy="0"/>
        </a:xfrm>
      </p:grpSpPr>
      <p:pic>
        <p:nvPicPr>
          <p:cNvPr id="2" name="Image 0" descr="template_img1.png"/>
          <p:cNvPicPr>
            <a:picLocks noChangeAspect="1"/>
          </p:cNvPicPr>
          <p:nvPr/>
        </p:nvPicPr>
        <p:blipFill>
          <a:blip r:embed="rId3"/>
          <a:stretch>
            <a:fillRect/>
          </a:stretch>
        </p:blipFill>
        <p:spPr>
          <a:xfrm>
            <a:off x="6217920" y="182880"/>
            <a:ext cx="2743200" cy="502920"/>
          </a:xfrm>
          <a:prstGeom prst="rect">
            <a:avLst/>
          </a:prstGeom>
        </p:spPr>
      </p:pic>
      <p:sp>
        <p:nvSpPr>
          <p:cNvPr id="3" name="Text 0"/>
          <p:cNvSpPr/>
          <p:nvPr/>
        </p:nvSpPr>
        <p:spPr>
          <a:xfrm>
            <a:off x="365760" y="594360"/>
            <a:ext cx="64008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500" normalizeH="0" baseline="0" noProof="0" dirty="0">
                <a:ln>
                  <a:noFill/>
                </a:ln>
                <a:solidFill>
                  <a:srgbClr val="C8102E"/>
                </a:solidFill>
                <a:effectLst/>
                <a:uLnTx/>
                <a:uFillTx/>
                <a:latin typeface="Calibri" pitchFamily="34" charset="0"/>
                <a:ea typeface="Calibri" pitchFamily="34" charset="-122"/>
                <a:cs typeface="Calibri" pitchFamily="34" charset="-120"/>
              </a:rPr>
              <a:t>PHANTOM</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365760" y="1005840"/>
            <a:ext cx="64008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blindspot</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365760" y="1920240"/>
            <a:ext cx="6400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detecting what the tracker cannot see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365760" y="2377440"/>
            <a:ext cx="5029200" cy="4572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365760" y="2560320"/>
            <a:ext cx="8229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Papers presented this week: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365760" y="2907792"/>
            <a:ext cx="256032" cy="25603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365760" y="2907792"/>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749808" y="2907792"/>
            <a:ext cx="7498080" cy="347472"/>
          </a:xfrm>
          <a:prstGeom prst="rect">
            <a:avLst/>
          </a:prstGeom>
          <a:noFill/>
          <a:ln/>
        </p:spPr>
        <p:txBody>
          <a:bodyPr wrap="square" lIns="0" tIns="0" rIns="0" bIns="0" rtlCol="0" anchor="ctr"/>
          <a:lstStyle/>
          <a:p>
            <a:pPr lvl="0">
              <a:defRPr/>
            </a:pPr>
            <a:r>
              <a:rPr lang="en-US" sz="1400" dirty="0" err="1">
                <a:solidFill>
                  <a:schemeClr val="bg1"/>
                </a:solidFill>
              </a:rPr>
              <a:t>DiffPhysBA</a:t>
            </a:r>
            <a:r>
              <a:rPr lang="en-US" sz="1400" dirty="0">
                <a:solidFill>
                  <a:schemeClr val="bg1"/>
                </a:solidFill>
              </a:rPr>
              <a:t>: Diffusion-based Physical Backdoor Attack against Person Re-Identification in Real-World — </a:t>
            </a:r>
            <a:r>
              <a:rPr lang="en-US" sz="1400" dirty="0" err="1">
                <a:solidFill>
                  <a:schemeClr val="bg1"/>
                </a:solidFill>
              </a:rPr>
              <a:t>Wenli</a:t>
            </a:r>
            <a:r>
              <a:rPr lang="en-US" sz="1400" dirty="0">
                <a:solidFill>
                  <a:schemeClr val="bg1"/>
                </a:solidFill>
              </a:rPr>
              <a:t> Sun, Xinyang Jiang, Dongsheng Li, </a:t>
            </a:r>
            <a:r>
              <a:rPr lang="en-US" sz="1400" dirty="0" err="1">
                <a:solidFill>
                  <a:schemeClr val="bg1"/>
                </a:solidFill>
              </a:rPr>
              <a:t>Cairong</a:t>
            </a:r>
            <a:r>
              <a:rPr lang="en-US" sz="1400" dirty="0">
                <a:solidFill>
                  <a:schemeClr val="bg1"/>
                </a:solidFill>
              </a:rPr>
              <a:t> Zhao · </a:t>
            </a:r>
            <a:r>
              <a:rPr lang="en-US" sz="1400" dirty="0" err="1">
                <a:solidFill>
                  <a:schemeClr val="bg1"/>
                </a:solidFill>
              </a:rPr>
              <a:t>arXiv</a:t>
            </a:r>
            <a:r>
              <a:rPr lang="en-US" sz="1400" dirty="0">
                <a:solidFill>
                  <a:schemeClr val="bg1"/>
                </a:solidFill>
              </a:rPr>
              <a:t> · 2024</a:t>
            </a:r>
            <a:endParaRPr kumimoji="0" lang="en-US" sz="13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1" name="Shape 8"/>
          <p:cNvSpPr/>
          <p:nvPr/>
        </p:nvSpPr>
        <p:spPr>
          <a:xfrm>
            <a:off x="365760" y="3566160"/>
            <a:ext cx="256032" cy="256032"/>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365760" y="3566160"/>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749808" y="3566160"/>
            <a:ext cx="7498080" cy="347472"/>
          </a:xfrm>
          <a:prstGeom prst="rect">
            <a:avLst/>
          </a:prstGeom>
          <a:noFill/>
          <a:ln/>
        </p:spPr>
        <p:txBody>
          <a:bodyPr wrap="square" lIns="0" tIns="0" rIns="0" bIns="0" rtlCol="0" anchor="ctr"/>
          <a:lstStyle/>
          <a:p>
            <a:pPr lvl="0">
              <a:defRPr/>
            </a:pPr>
            <a:r>
              <a:rPr lang="en-US" sz="1400" dirty="0">
                <a:solidFill>
                  <a:schemeClr val="bg1"/>
                </a:solidFill>
              </a:rPr>
              <a:t>Invisible Backdoor Attack with Dynamic Triggers against Person Re-identification — </a:t>
            </a:r>
            <a:r>
              <a:rPr lang="en-US" sz="1400" dirty="0" err="1">
                <a:solidFill>
                  <a:schemeClr val="bg1"/>
                </a:solidFill>
              </a:rPr>
              <a:t>Wenli</a:t>
            </a:r>
            <a:r>
              <a:rPr lang="en-US" sz="1400" dirty="0">
                <a:solidFill>
                  <a:schemeClr val="bg1"/>
                </a:solidFill>
              </a:rPr>
              <a:t> Sun, Xinyang Jiang, Shuguang Dou, </a:t>
            </a:r>
            <a:r>
              <a:rPr lang="en-US" sz="1400" dirty="0" err="1">
                <a:solidFill>
                  <a:schemeClr val="bg1"/>
                </a:solidFill>
              </a:rPr>
              <a:t>Cairong</a:t>
            </a:r>
            <a:r>
              <a:rPr lang="en-US" sz="1400" dirty="0">
                <a:solidFill>
                  <a:schemeClr val="bg1"/>
                </a:solidFill>
              </a:rPr>
              <a:t> Zhao · IEEE T-IFS · 2023</a:t>
            </a:r>
            <a:endParaRPr kumimoji="0" lang="en-US" sz="13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Shape 11"/>
          <p:cNvSpPr/>
          <p:nvPr/>
        </p:nvSpPr>
        <p:spPr>
          <a:xfrm>
            <a:off x="365760" y="4224528"/>
            <a:ext cx="256032" cy="256032"/>
          </a:xfrm>
          <a:prstGeom prst="rect">
            <a:avLst/>
          </a:prstGeom>
          <a:solidFill>
            <a:srgbClr val="0D9488"/>
          </a:solidFill>
          <a:ln w="127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p:nvPr/>
        </p:nvSpPr>
        <p:spPr>
          <a:xfrm>
            <a:off x="365760" y="4224528"/>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749808" y="4224528"/>
            <a:ext cx="7498080" cy="347472"/>
          </a:xfrm>
          <a:prstGeom prst="rect">
            <a:avLst/>
          </a:prstGeom>
          <a:noFill/>
          <a:ln/>
        </p:spPr>
        <p:txBody>
          <a:bodyPr wrap="square" lIns="0" tIns="0" rIns="0" bIns="0" rtlCol="0" anchor="ctr"/>
          <a:lstStyle/>
          <a:p>
            <a:pPr lvl="0">
              <a:defRPr/>
            </a:pPr>
            <a:r>
              <a:rPr lang="en-US" sz="1400" dirty="0">
                <a:solidFill>
                  <a:schemeClr val="bg1"/>
                </a:solidFill>
              </a:rPr>
              <a:t>See No Evil: Adversarial Attacks against Context-dependent Visual Association in Referring Multi-Object Tracking Systems — Halima Bouzidi, Haoyu Liu, Mohammad Abdullah Al Faruque · </a:t>
            </a:r>
            <a:r>
              <a:rPr lang="en-US" sz="1400" dirty="0" err="1">
                <a:solidFill>
                  <a:schemeClr val="bg1"/>
                </a:solidFill>
              </a:rPr>
              <a:t>NeurIPS</a:t>
            </a:r>
            <a:r>
              <a:rPr lang="en-US" sz="1400" dirty="0">
                <a:solidFill>
                  <a:schemeClr val="bg1"/>
                </a:solidFill>
              </a:rPr>
              <a:t> 2025 Workshop · 2025</a:t>
            </a:r>
            <a:endParaRPr kumimoji="0" lang="en-US" sz="13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14"/>
          <p:cNvSpPr/>
          <p:nvPr/>
        </p:nvSpPr>
        <p:spPr>
          <a:xfrm>
            <a:off x="365760" y="608076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888888"/>
                </a:solidFill>
                <a:latin typeface="Calibri" pitchFamily="34" charset="0"/>
                <a:ea typeface="Calibri" pitchFamily="34" charset="-122"/>
                <a:cs typeface="Calibri" pitchFamily="34" charset="-120"/>
              </a:rPr>
              <a:t>Floyd Dodwell</a:t>
            </a:r>
            <a:r>
              <a:rPr kumimoji="0" lang="en-US" sz="1100" b="0" i="0"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  ·  Week </a:t>
            </a:r>
            <a:r>
              <a:rPr lang="en-US" sz="1100" dirty="0">
                <a:solidFill>
                  <a:srgbClr val="888888"/>
                </a:solidFill>
                <a:latin typeface="Calibri" pitchFamily="34" charset="0"/>
                <a:ea typeface="Calibri" pitchFamily="34" charset="-122"/>
                <a:cs typeface="Calibri" pitchFamily="34" charset="-120"/>
              </a:rPr>
              <a:t>4</a:t>
            </a:r>
            <a:r>
              <a:rPr kumimoji="0" lang="en-US" sz="1100" b="0" i="0"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  ·  P.R.I.M.E. Summer 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722376"/>
            <a:ext cx="7498080" cy="457200"/>
          </a:xfrm>
          <a:prstGeom prst="rect">
            <a:avLst/>
          </a:prstGeom>
          <a:noFill/>
          <a:ln/>
        </p:spPr>
        <p:txBody>
          <a:bodyPr wrap="square" lIns="0" tIns="0" rIns="0" bIns="0" rtlCol="0" anchor="ctr"/>
          <a:lstStyle/>
          <a:p>
            <a:pPr lvl="0">
              <a:defRPr/>
            </a:pPr>
            <a:r>
              <a:rPr lang="en-US" sz="2800" dirty="0"/>
              <a:t>Diffusion-based Physical Backdoor Attack against Person Re-Identification in Real-World</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65760" y="162763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Main argument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956816"/>
            <a:ext cx="4069080" cy="1042416"/>
          </a:xfrm>
          <a:prstGeom prst="rect">
            <a:avLst/>
          </a:prstGeom>
          <a:solidFill>
            <a:srgbClr val="2B2B2B"/>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384048" y="1971688"/>
            <a:ext cx="4032504" cy="1042416"/>
          </a:xfrm>
          <a:prstGeom prst="rect">
            <a:avLst/>
          </a:prstGeom>
          <a:noFill/>
          <a:ln/>
        </p:spPr>
        <p:txBody>
          <a:bodyPr wrap="square" lIns="0" tIns="0" rIns="0" bIns="0" rtlCol="0" anchor="t"/>
          <a:lstStyle/>
          <a:p>
            <a:pPr lvl="0">
              <a:defRPr/>
            </a:pPr>
            <a:r>
              <a:rPr lang="en-US" sz="1100" dirty="0">
                <a:solidFill>
                  <a:schemeClr val="bg1"/>
                </a:solidFill>
              </a:rPr>
              <a:t>This paper shows that deep tracking networks can be tricked by adding natural-looking physical accessories directly into the training data. This plants a hidden "backdoor" in the model's identity memory. The system works perfectly normally for everyone else, but whenever a targeted person wears that specific accessory, the model automatically misidentifies them</a:t>
            </a:r>
            <a:endPar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Shape 10"/>
          <p:cNvSpPr/>
          <p:nvPr/>
        </p:nvSpPr>
        <p:spPr>
          <a:xfrm>
            <a:off x="4709160" y="162763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8188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 or evidence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4709160" y="1938528"/>
            <a:ext cx="4069080" cy="1042416"/>
          </a:xfrm>
          <a:prstGeom prst="rect">
            <a:avLst/>
          </a:prstGeom>
          <a:solidFill>
            <a:srgbClr val="D6E4F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4709160" y="1929384"/>
            <a:ext cx="3849624" cy="896112"/>
          </a:xfrm>
          <a:prstGeom prst="rect">
            <a:avLst/>
          </a:prstGeom>
          <a:noFill/>
          <a:ln/>
        </p:spPr>
        <p:txBody>
          <a:bodyPr wrap="square" lIns="0" tIns="0" rIns="0" bIns="0" rtlCol="0" anchor="t"/>
          <a:lstStyle/>
          <a:p>
            <a:pPr lvl="0">
              <a:defRPr/>
            </a:pPr>
            <a:r>
              <a:rPr lang="en-US" sz="1200" dirty="0"/>
              <a:t>The authors used generative AI (diffusion models) to realistically paste everyday items like backpacks or caps onto pedestrian photos, artificially linking them to wrong identities during training.</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365760" y="313639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754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finding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3465576"/>
            <a:ext cx="4069080" cy="1042416"/>
          </a:xfrm>
          <a:prstGeom prst="rect">
            <a:avLst/>
          </a:prstGeom>
          <a:solidFill>
            <a:srgbClr val="FFF3E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75488" y="3538728"/>
            <a:ext cx="3849624" cy="896112"/>
          </a:xfrm>
          <a:prstGeom prst="rect">
            <a:avLst/>
          </a:prstGeom>
          <a:noFill/>
          <a:ln/>
        </p:spPr>
        <p:txBody>
          <a:bodyPr wrap="square" lIns="0" tIns="0" rIns="0" bIns="0" rtlCol="0" anchor="t"/>
          <a:lstStyle/>
          <a:p>
            <a:pPr lvl="0">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During </a:t>
            </a:r>
            <a:r>
              <a:rPr lang="en-US" sz="1200" dirty="0">
                <a:solidFill>
                  <a:prstClr val="black"/>
                </a:solidFill>
              </a:rPr>
              <a:t>their tests, they achieved an attack success rate over 90% in both digital tests and physical camera setups, without harming</a:t>
            </a:r>
            <a:r>
              <a:rPr lang="en-US" sz="1200" dirty="0"/>
              <a:t> the model's normal accuracy.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4709160" y="313639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8188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reaction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4709160" y="3465576"/>
            <a:ext cx="4069080" cy="1042416"/>
          </a:xfrm>
          <a:prstGeom prst="rect">
            <a:avLst/>
          </a:prstGeom>
          <a:solidFill>
            <a:srgbClr val="E8F5E9"/>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4709160" y="3419856"/>
            <a:ext cx="4069080" cy="1042416"/>
          </a:xfrm>
          <a:prstGeom prst="rect">
            <a:avLst/>
          </a:prstGeom>
          <a:noFill/>
          <a:ln/>
        </p:spPr>
        <p:txBody>
          <a:bodyPr wrap="square" lIns="0" tIns="0" rIns="0" bIns="0" rtlCol="0" anchor="t"/>
          <a:lstStyle/>
          <a:p>
            <a:pPr lvl="0">
              <a:defRPr/>
            </a:pPr>
            <a:r>
              <a:rPr lang="en-US" sz="1200" dirty="0"/>
              <a:t>Its insane that AI can create fake clothing items so realistic that human checkers wouldn't think twice about them, yet they completely blind a security system. However, I wonder whether this trick would fail if the person walks through a heavy crowd where their clothes are mostly blocked from the camera's view. And makes the AI’s input try to put it onto other peoples outfits.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365760" y="4617720"/>
            <a:ext cx="8412480" cy="292608"/>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475488" y="4617720"/>
            <a:ext cx="1371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Link / Citation: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874520" y="4617720"/>
            <a:ext cx="6858000" cy="292608"/>
          </a:xfrm>
          <a:prstGeom prst="rect">
            <a:avLst/>
          </a:prstGeom>
          <a:noFill/>
          <a:ln/>
        </p:spPr>
        <p:txBody>
          <a:bodyPr wrap="square" lIns="0" tIns="0" rIns="0" bIns="0" rtlCol="0" anchor="ctr"/>
          <a:lstStyle/>
          <a:p>
            <a:pPr lvl="0">
              <a:defRPr/>
            </a:pPr>
            <a:r>
              <a:rPr lang="en-US" sz="1000" dirty="0" err="1"/>
              <a:t>arxiv.org</a:t>
            </a:r>
            <a:r>
              <a:rPr lang="en-US" sz="1000" dirty="0"/>
              <a:t>/abs/2405.19990 — Sun et al. (2024)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5"/>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lvl="0">
              <a:defRPr/>
            </a:pPr>
            <a:r>
              <a:rPr lang="en-US" sz="2800" dirty="0"/>
              <a:t>Invisible Backdoor Attack with Dynamic Triggers against Person Re-identification</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lvl="0">
              <a:defRPr/>
            </a:pPr>
            <a:endParaRPr lang="en-US" sz="1100" dirty="0">
              <a:solidFill>
                <a:prstClr val="black"/>
              </a:solidFill>
            </a:endParaRPr>
          </a:p>
        </p:txBody>
      </p:sp>
      <p:sp>
        <p:nvSpPr>
          <p:cNvPr id="9" name="Shape 6"/>
          <p:cNvSpPr/>
          <p:nvPr/>
        </p:nvSpPr>
        <p:spPr>
          <a:xfrm>
            <a:off x="365760" y="162763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Main argument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956816"/>
            <a:ext cx="4069080" cy="1042416"/>
          </a:xfrm>
          <a:prstGeom prst="rect">
            <a:avLst/>
          </a:prstGeom>
          <a:solidFill>
            <a:srgbClr val="2B2B2B"/>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365760" y="1970633"/>
            <a:ext cx="4069080" cy="987351"/>
          </a:xfrm>
          <a:prstGeom prst="rect">
            <a:avLst/>
          </a:prstGeom>
          <a:noFill/>
          <a:ln/>
        </p:spPr>
        <p:txBody>
          <a:bodyPr wrap="square" lIns="0" tIns="0" rIns="0" bIns="0" rtlCol="0" anchor="t"/>
          <a:lstStyle/>
          <a:p>
            <a:pPr lvl="0">
              <a:defRPr/>
            </a:pPr>
            <a:r>
              <a:rPr lang="en-US" sz="1100" dirty="0">
                <a:solidFill>
                  <a:schemeClr val="bg1"/>
                </a:solidFill>
              </a:rPr>
              <a:t>This paper shows that attackers can break Person Re-ID tracking models, even if the model is tracking a completely random stranger, it has never seen before. Instead of using a fixed target, the authors created an "invisible watermark" that dynamically changes shape based on who is in the photo. This proves data poisoning can adapt on the fly to trick tracking systems</a:t>
            </a:r>
            <a:endPar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Shape 10"/>
          <p:cNvSpPr/>
          <p:nvPr/>
        </p:nvSpPr>
        <p:spPr>
          <a:xfrm>
            <a:off x="4709160" y="162763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8188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 or evidence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4709160" y="1956816"/>
            <a:ext cx="4069080" cy="1042416"/>
          </a:xfrm>
          <a:prstGeom prst="rect">
            <a:avLst/>
          </a:prstGeom>
          <a:solidFill>
            <a:srgbClr val="D6E4F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4818888" y="2029968"/>
            <a:ext cx="3849624" cy="8961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365760" y="313639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754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finding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3465576"/>
            <a:ext cx="4069080" cy="1042416"/>
          </a:xfrm>
          <a:prstGeom prst="rect">
            <a:avLst/>
          </a:prstGeom>
          <a:solidFill>
            <a:srgbClr val="FFF3E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75488" y="3538728"/>
            <a:ext cx="3849624" cy="896112"/>
          </a:xfrm>
          <a:prstGeom prst="rect">
            <a:avLst/>
          </a:prstGeom>
          <a:noFill/>
          <a:ln/>
        </p:spPr>
        <p:txBody>
          <a:bodyPr wrap="square" lIns="0" tIns="0" rIns="0" bIns="0" rtlCol="0" anchor="t"/>
          <a:lstStyle/>
          <a:p>
            <a:pPr lvl="0">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a:t>
            </a:r>
            <a:r>
              <a:rPr lang="en-US" sz="1200" dirty="0"/>
              <a:t>he invisible triggers successfully forced the tracking models to mix up completely new, unseen identities while easily slipping past standard cybersecurity scanners.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4709160" y="313639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8188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reaction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4709160" y="3465576"/>
            <a:ext cx="4069080" cy="1042416"/>
          </a:xfrm>
          <a:prstGeom prst="rect">
            <a:avLst/>
          </a:prstGeom>
          <a:solidFill>
            <a:srgbClr val="E8F5E9"/>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4709160" y="3452614"/>
            <a:ext cx="4069080" cy="980610"/>
          </a:xfrm>
          <a:prstGeom prst="rect">
            <a:avLst/>
          </a:prstGeom>
          <a:noFill/>
          <a:ln/>
        </p:spPr>
        <p:txBody>
          <a:bodyPr wrap="square" lIns="0" tIns="0" rIns="0" bIns="0" rtlCol="0" anchor="t"/>
          <a:lstStyle/>
          <a:p>
            <a:pPr lvl="0">
              <a:defRPr/>
            </a:pPr>
            <a:r>
              <a:rPr lang="en-US" sz="1200" dirty="0"/>
              <a:t>Bypassing security with a trigger that automatically changes shape is a huge leap for attackers. It proves we can't just assume tracking systems are safe just because they are tracking new people. One thing I'm skeptical of is that, what if they made it so </a:t>
            </a:r>
            <a:r>
              <a:rPr lang="en-US" sz="1200" dirty="0" err="1"/>
              <a:t>anAI</a:t>
            </a:r>
            <a:r>
              <a:rPr lang="en-US" sz="1200" dirty="0"/>
              <a:t> could report back any anomalies that trigger rapid changes to a persons outfit or to certain pixels(since the ai can see it)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365760" y="4617720"/>
            <a:ext cx="8412480" cy="292608"/>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475488" y="4617720"/>
            <a:ext cx="1371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Link / Citation: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874520" y="4617720"/>
            <a:ext cx="6858000" cy="292608"/>
          </a:xfrm>
          <a:prstGeom prst="rect">
            <a:avLst/>
          </a:prstGeom>
          <a:noFill/>
          <a:ln/>
        </p:spPr>
        <p:txBody>
          <a:bodyPr wrap="square" lIns="0" tIns="0" rIns="0" bIns="0" rtlCol="0" anchor="ctr"/>
          <a:lstStyle/>
          <a:p>
            <a:pPr lvl="0">
              <a:defRPr/>
            </a:pPr>
            <a:r>
              <a:rPr lang="en-US" sz="1000" dirty="0" err="1"/>
              <a:t>doi.org</a:t>
            </a:r>
            <a:r>
              <a:rPr lang="en-US" sz="1000" dirty="0"/>
              <a:t>/10.1109/TIFS.2023.3323145 — Sun et al. (2023).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5"/>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Rectangle 2">
            <a:extLst>
              <a:ext uri="{FF2B5EF4-FFF2-40B4-BE49-F238E27FC236}">
                <a16:creationId xmlns:a16="http://schemas.microsoft.com/office/drawing/2014/main" id="{B5246907-0512-D644-1F22-ECE177EBBA53}"/>
              </a:ext>
            </a:extLst>
          </p:cNvPr>
          <p:cNvSpPr>
            <a:spLocks noChangeArrowheads="1"/>
          </p:cNvSpPr>
          <p:nvPr/>
        </p:nvSpPr>
        <p:spPr bwMode="auto">
          <a:xfrm>
            <a:off x="4709161" y="1867992"/>
            <a:ext cx="406908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effectLst/>
                <a:latin typeface="Arial" panose="020B0604020202020204" pitchFamily="34" charset="0"/>
              </a:rPr>
              <a:t>The authors built a secondary AI that looks at a target's body features and calculates a custom,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effectLst/>
                <a:latin typeface="Arial" panose="020B0604020202020204" pitchFamily="34" charset="0"/>
              </a:rPr>
              <a:t>hidden pixel pattern.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effectLst/>
                <a:latin typeface="Arial" panose="020B0604020202020204" pitchFamily="34" charset="0"/>
              </a:rPr>
              <a:t>They injected these invisible patterns into the training data.</a:t>
            </a:r>
          </a:p>
          <a:p>
            <a:pPr lvl="0" eaLnBrk="0" fontAlgn="base" hangingPunct="0">
              <a:spcBef>
                <a:spcPct val="0"/>
              </a:spcBef>
              <a:spcAft>
                <a:spcPct val="0"/>
              </a:spcAft>
            </a:pPr>
            <a:r>
              <a:rPr kumimoji="0" lang="en-US" altLang="en-US" sz="1100" b="0" i="0" u="none" strike="noStrike" cap="none" normalizeH="0" baseline="0" dirty="0">
                <a:ln>
                  <a:noFill/>
                </a:ln>
                <a:effectLst/>
                <a:latin typeface="Arial" panose="020B0604020202020204" pitchFamily="34" charset="0"/>
              </a:rPr>
              <a:t>And when they ran the attack </a:t>
            </a:r>
            <a:r>
              <a:rPr lang="en-US" altLang="en-US" sz="1100" dirty="0">
                <a:latin typeface="Arial" panose="020B0604020202020204" pitchFamily="34" charset="0"/>
              </a:rPr>
              <a:t>against the top </a:t>
            </a:r>
            <a:r>
              <a:rPr kumimoji="0" lang="en-US" altLang="en-US" sz="1100" b="0" i="0" u="none" strike="noStrike" cap="none" normalizeH="0" baseline="0" dirty="0">
                <a:ln>
                  <a:noFill/>
                </a:ln>
                <a:effectLst/>
                <a:latin typeface="Arial" panose="020B0604020202020204" pitchFamily="34" charset="0"/>
              </a:rPr>
              <a:t>open-set identity dataset (</a:t>
            </a:r>
            <a:r>
              <a:rPr kumimoji="0" lang="en-US" altLang="en-US" sz="1100" i="0" u="none" strike="noStrike" cap="none" normalizeH="0" baseline="0" dirty="0">
                <a:ln>
                  <a:noFill/>
                </a:ln>
                <a:effectLst/>
                <a:latin typeface="Arial" panose="020B0604020202020204" pitchFamily="34" charset="0"/>
              </a:rPr>
              <a:t>Market-1501</a:t>
            </a:r>
            <a:r>
              <a:rPr kumimoji="0" lang="en-US" altLang="en-US" sz="1100" b="1" i="0" u="none" strike="noStrike" cap="none" normalizeH="0" baseline="0" dirty="0">
                <a:ln>
                  <a:noFill/>
                </a:ln>
                <a:effectLst/>
                <a:latin typeface="Arial" panose="020B0604020202020204" pitchFamily="34" charset="0"/>
              </a:rPr>
              <a:t>)</a:t>
            </a:r>
            <a:endParaRPr kumimoji="0" lang="en-US" altLang="en-US" sz="1100" b="0" i="0" u="none" strike="noStrike" cap="none" normalizeH="0" baseline="0" dirty="0">
              <a:ln>
                <a:noFill/>
              </a:ln>
              <a:effectLst/>
              <a:latin typeface="Arial" panose="020B0604020202020204" pitchFamily="34" charset="0"/>
            </a:endParaRPr>
          </a:p>
        </p:txBody>
      </p:sp>
      <p:sp>
        <p:nvSpPr>
          <p:cNvPr id="33" name="TextBox 32">
            <a:extLst>
              <a:ext uri="{FF2B5EF4-FFF2-40B4-BE49-F238E27FC236}">
                <a16:creationId xmlns:a16="http://schemas.microsoft.com/office/drawing/2014/main" id="{5ECFE178-0489-0F3E-6634-AC1BBBF23BC6}"/>
              </a:ext>
            </a:extLst>
          </p:cNvPr>
          <p:cNvSpPr txBox="1"/>
          <p:nvPr/>
        </p:nvSpPr>
        <p:spPr>
          <a:xfrm>
            <a:off x="365760" y="4978524"/>
            <a:ext cx="8364919" cy="461665"/>
          </a:xfrm>
          <a:prstGeom prst="rect">
            <a:avLst/>
          </a:prstGeom>
          <a:noFill/>
        </p:spPr>
        <p:txBody>
          <a:bodyPr wrap="none" rtlCol="0">
            <a:spAutoFit/>
          </a:bodyPr>
          <a:lstStyle/>
          <a:p>
            <a:r>
              <a:rPr lang="en-US" sz="1200" b="1" dirty="0"/>
              <a:t>invisible image steganography</a:t>
            </a:r>
            <a:r>
              <a:rPr lang="en-US" sz="1200" dirty="0"/>
              <a:t>. = they basically used an AI model to change the smallest unseen pixels in places that</a:t>
            </a:r>
          </a:p>
          <a:p>
            <a:r>
              <a:rPr lang="en-US" sz="1200" dirty="0"/>
              <a:t>A human being couldn’t see, but the AI’s neural network picks it up, and when the AI picks it up, it gives it a very specific command.</a:t>
            </a:r>
          </a:p>
        </p:txBody>
      </p:sp>
      <p:sp>
        <p:nvSpPr>
          <p:cNvPr id="34" name="TextBox 33">
            <a:extLst>
              <a:ext uri="{FF2B5EF4-FFF2-40B4-BE49-F238E27FC236}">
                <a16:creationId xmlns:a16="http://schemas.microsoft.com/office/drawing/2014/main" id="{A0C37629-B210-52F7-CF05-50BC4BF26051}"/>
              </a:ext>
            </a:extLst>
          </p:cNvPr>
          <p:cNvSpPr txBox="1"/>
          <p:nvPr/>
        </p:nvSpPr>
        <p:spPr>
          <a:xfrm>
            <a:off x="365760" y="5420776"/>
            <a:ext cx="8852103" cy="769441"/>
          </a:xfrm>
          <a:prstGeom prst="rect">
            <a:avLst/>
          </a:prstGeom>
          <a:noFill/>
        </p:spPr>
        <p:txBody>
          <a:bodyPr wrap="none" rtlCol="0">
            <a:spAutoFit/>
          </a:bodyPr>
          <a:lstStyle/>
          <a:p>
            <a:r>
              <a:rPr lang="en-US" sz="1100" b="1" dirty="0"/>
              <a:t>How it changes shape: </a:t>
            </a:r>
            <a:r>
              <a:rPr lang="en-US" sz="1100" dirty="0"/>
              <a:t>The attacker trains a specialized "trigger generator" network. </a:t>
            </a:r>
          </a:p>
          <a:p>
            <a:r>
              <a:rPr lang="en-US" sz="1100" dirty="0"/>
              <a:t>When a new person walks into the frame, this generator looks at that specific person’s unique features </a:t>
            </a:r>
          </a:p>
          <a:p>
            <a:r>
              <a:rPr lang="en-US" sz="1100" dirty="0"/>
              <a:t>(their height, clothing color, body shape) and instantly calculates a custom-tailored, invisible pixel pattern that perfectly blends into their specific image.</a:t>
            </a:r>
          </a:p>
          <a:p>
            <a:r>
              <a:rPr lang="en-US" sz="1100" dirty="0"/>
              <a:t>Essentially, like being an outfit tailor for pixels.</a:t>
            </a:r>
          </a:p>
        </p:txBody>
      </p:sp>
      <p:sp>
        <p:nvSpPr>
          <p:cNvPr id="35" name="TextBox 34">
            <a:extLst>
              <a:ext uri="{FF2B5EF4-FFF2-40B4-BE49-F238E27FC236}">
                <a16:creationId xmlns:a16="http://schemas.microsoft.com/office/drawing/2014/main" id="{9FA2E9DF-CB22-19B1-3606-624D081B4915}"/>
              </a:ext>
            </a:extLst>
          </p:cNvPr>
          <p:cNvSpPr txBox="1"/>
          <p:nvPr/>
        </p:nvSpPr>
        <p:spPr>
          <a:xfrm>
            <a:off x="8953081" y="1085222"/>
            <a:ext cx="3323474" cy="1200329"/>
          </a:xfrm>
          <a:prstGeom prst="rect">
            <a:avLst/>
          </a:prstGeom>
          <a:noFill/>
        </p:spPr>
        <p:txBody>
          <a:bodyPr wrap="none" rtlCol="0">
            <a:spAutoFit/>
          </a:bodyPr>
          <a:lstStyle/>
          <a:p>
            <a:r>
              <a:rPr lang="en-US" dirty="0"/>
              <a:t>(They said if it was used on photo</a:t>
            </a:r>
          </a:p>
          <a:p>
            <a:r>
              <a:rPr lang="en-US" dirty="0"/>
              <a:t>Data sets they’d use a software</a:t>
            </a:r>
          </a:p>
          <a:p>
            <a:r>
              <a:rPr lang="en-US" dirty="0"/>
              <a:t>To mess with the pixels then </a:t>
            </a:r>
          </a:p>
          <a:p>
            <a:r>
              <a:rPr lang="en-US" dirty="0"/>
              <a:t>Re-upload)</a:t>
            </a:r>
          </a:p>
        </p:txBody>
      </p:sp>
      <p:sp>
        <p:nvSpPr>
          <p:cNvPr id="36" name="TextBox 35">
            <a:extLst>
              <a:ext uri="{FF2B5EF4-FFF2-40B4-BE49-F238E27FC236}">
                <a16:creationId xmlns:a16="http://schemas.microsoft.com/office/drawing/2014/main" id="{7E341586-0AF1-C14E-9A91-439C97D18B9E}"/>
              </a:ext>
            </a:extLst>
          </p:cNvPr>
          <p:cNvSpPr txBox="1"/>
          <p:nvPr/>
        </p:nvSpPr>
        <p:spPr>
          <a:xfrm>
            <a:off x="8803745" y="2537227"/>
            <a:ext cx="3472810" cy="1477328"/>
          </a:xfrm>
          <a:prstGeom prst="rect">
            <a:avLst/>
          </a:prstGeom>
          <a:noFill/>
        </p:spPr>
        <p:txBody>
          <a:bodyPr wrap="none" rtlCol="0">
            <a:spAutoFit/>
          </a:bodyPr>
          <a:lstStyle/>
          <a:p>
            <a:r>
              <a:rPr lang="en-US" dirty="0"/>
              <a:t>(If used in real time the software</a:t>
            </a:r>
          </a:p>
          <a:p>
            <a:r>
              <a:rPr lang="en-US" dirty="0"/>
              <a:t>Was injected between the cameras</a:t>
            </a:r>
          </a:p>
          <a:p>
            <a:r>
              <a:rPr lang="en-US" dirty="0"/>
              <a:t>Eye and AI analyzer, using the </a:t>
            </a:r>
          </a:p>
          <a:p>
            <a:r>
              <a:rPr lang="en-US" dirty="0"/>
              <a:t>Software to create the pixels then</a:t>
            </a:r>
          </a:p>
          <a:p>
            <a:r>
              <a:rPr lang="en-US" dirty="0"/>
              <a:t>Feed it to the AI)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0D9488"/>
          </a:solidFill>
          <a:ln w="127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a:t>
            </a:r>
            <a:r>
              <a:rPr lang="en-US" sz="2000" dirty="0"/>
              <a:t>ee No Evil: Adversarial Attacks against Context-dependent Visual Association in Referring Multi-Object Tracking Systems </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2130552"/>
            <a:ext cx="4069080" cy="310896"/>
          </a:xfrm>
          <a:prstGeom prst="rect">
            <a:avLst/>
          </a:prstGeom>
          <a:solidFill>
            <a:srgbClr val="0D9488"/>
          </a:solidFill>
          <a:ln w="127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475488" y="2130552"/>
            <a:ext cx="384962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Main argument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365760" y="2441448"/>
            <a:ext cx="4069080" cy="923544"/>
          </a:xfrm>
          <a:prstGeom prst="rect">
            <a:avLst/>
          </a:prstGeom>
          <a:solidFill>
            <a:srgbClr val="2B2B2B"/>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365760" y="2441448"/>
            <a:ext cx="4069080" cy="923544"/>
          </a:xfrm>
          <a:prstGeom prst="rect">
            <a:avLst/>
          </a:prstGeom>
          <a:noFill/>
          <a:ln/>
        </p:spPr>
        <p:txBody>
          <a:bodyPr wrap="square" lIns="0" tIns="0" rIns="0" bIns="0" rtlCol="0" anchor="t"/>
          <a:lstStyle/>
          <a:p>
            <a:pPr lvl="0">
              <a:defRPr/>
            </a:pPr>
            <a:r>
              <a:rPr lang="en-US" sz="1100" dirty="0">
                <a:solidFill>
                  <a:schemeClr val="bg1"/>
                </a:solidFill>
              </a:rPr>
              <a:t>This paper argues that adding context clues to an AI tracker doesn't automatically make it safer. In fact, it creates brand new vulnerabilities. The authors demonstrate that an attacker can subtly tweak video frames to confuse how the AI links visual data to surrounding context, causing the tracker to instantly lose its target or swap its identity.</a:t>
            </a:r>
            <a:endPar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5" name="Shape 12"/>
          <p:cNvSpPr/>
          <p:nvPr/>
        </p:nvSpPr>
        <p:spPr>
          <a:xfrm>
            <a:off x="4709160" y="2130552"/>
            <a:ext cx="4069080" cy="310896"/>
          </a:xfrm>
          <a:prstGeom prst="rect">
            <a:avLst/>
          </a:prstGeom>
          <a:solidFill>
            <a:srgbClr val="0D9488"/>
          </a:solidFill>
          <a:ln w="127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4818888" y="2130552"/>
            <a:ext cx="384962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 or evidence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4709160" y="2441448"/>
            <a:ext cx="4069080" cy="923544"/>
          </a:xfrm>
          <a:prstGeom prst="rect">
            <a:avLst/>
          </a:prstGeom>
          <a:solidFill>
            <a:srgbClr val="D6E4F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818888" y="2514600"/>
            <a:ext cx="3849624" cy="777240"/>
          </a:xfrm>
          <a:prstGeom prst="rect">
            <a:avLst/>
          </a:prstGeom>
          <a:noFill/>
          <a:ln/>
        </p:spPr>
        <p:txBody>
          <a:bodyPr wrap="square" lIns="0" tIns="0" rIns="0" bIns="0" rtlCol="0" anchor="t"/>
          <a:lstStyle/>
          <a:p>
            <a:pPr lvl="0">
              <a:defRPr/>
            </a:pPr>
            <a:r>
              <a:rPr lang="en-US" sz="1200" dirty="0"/>
              <a:t>They built an optimization tool called VEIL that calculates tiny, localized digital tweaks designed to disrupt the bridge connecting a moving object to its environmental path context.(pixels)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3502152"/>
            <a:ext cx="4069080" cy="310896"/>
          </a:xfrm>
          <a:prstGeom prst="rect">
            <a:avLst/>
          </a:prstGeom>
          <a:solidFill>
            <a:srgbClr val="0D9488"/>
          </a:solidFill>
          <a:ln w="127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75488" y="3502152"/>
            <a:ext cx="384962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finding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365760" y="3813048"/>
            <a:ext cx="4069080" cy="923544"/>
          </a:xfrm>
          <a:prstGeom prst="rect">
            <a:avLst/>
          </a:prstGeom>
          <a:solidFill>
            <a:srgbClr val="FFF3E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75488" y="3886200"/>
            <a:ext cx="3849624" cy="777240"/>
          </a:xfrm>
          <a:prstGeom prst="rect">
            <a:avLst/>
          </a:prstGeom>
          <a:noFill/>
          <a:ln/>
        </p:spPr>
        <p:txBody>
          <a:bodyPr wrap="square" lIns="0" tIns="0" rIns="0" bIns="0" rtlCol="0" anchor="t"/>
          <a:lstStyle/>
          <a:p>
            <a:pPr lvl="0">
              <a:defRPr/>
            </a:pPr>
            <a:r>
              <a:rPr lang="en-US" sz="1200" dirty="0"/>
              <a:t>By changing less than 1% of the video data weights, they successfully forced the AI tracker to constantly swap person IDs or drop the trajectory entirely.</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4709160" y="3502152"/>
            <a:ext cx="4069080" cy="310896"/>
          </a:xfrm>
          <a:prstGeom prst="rect">
            <a:avLst/>
          </a:prstGeom>
          <a:solidFill>
            <a:srgbClr val="0D9488"/>
          </a:solidFill>
          <a:ln w="127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4818888" y="3502152"/>
            <a:ext cx="384962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reaction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4709160" y="3813048"/>
            <a:ext cx="4069080" cy="923544"/>
          </a:xfrm>
          <a:prstGeom prst="rect">
            <a:avLst/>
          </a:prstGeom>
          <a:solidFill>
            <a:srgbClr val="E8F5E9"/>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4709159" y="3794692"/>
            <a:ext cx="4069079" cy="923544"/>
          </a:xfrm>
          <a:prstGeom prst="rect">
            <a:avLst/>
          </a:prstGeom>
          <a:noFill/>
          <a:ln/>
        </p:spPr>
        <p:txBody>
          <a:bodyPr wrap="square" lIns="0" tIns="0" rIns="0" bIns="0" rtlCol="0" anchor="t"/>
          <a:lstStyle/>
          <a:p>
            <a:pPr lvl="0">
              <a:defRPr/>
            </a:pPr>
            <a:r>
              <a:rPr lang="en-US" sz="1200" dirty="0"/>
              <a:t>It's surprising that giving a tracking model more helpful information (like context) actually gives an attacker more ways to break it. Still, I am skeptical about how well this attack would work in the real world where camera angles move around quickly and unpredictably.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A11F4380-FD93-42E6-4B7D-66120E71F639}"/>
              </a:ext>
            </a:extLst>
          </p:cNvPr>
          <p:cNvSpPr txBox="1"/>
          <p:nvPr/>
        </p:nvSpPr>
        <p:spPr>
          <a:xfrm>
            <a:off x="452175" y="5014127"/>
            <a:ext cx="8240846" cy="323165"/>
          </a:xfrm>
          <a:prstGeom prst="rect">
            <a:avLst/>
          </a:prstGeom>
          <a:noFill/>
        </p:spPr>
        <p:txBody>
          <a:bodyPr wrap="none" rtlCol="0">
            <a:spAutoFit/>
          </a:bodyPr>
          <a:lstStyle/>
          <a:p>
            <a:r>
              <a:rPr lang="en-US" sz="1500" dirty="0"/>
              <a:t>“The bridge” = the mathematical link the AI builds to connect visual features with environmental clues. </a:t>
            </a:r>
          </a:p>
        </p:txBody>
      </p:sp>
      <p:sp>
        <p:nvSpPr>
          <p:cNvPr id="31" name="TextBox 30">
            <a:extLst>
              <a:ext uri="{FF2B5EF4-FFF2-40B4-BE49-F238E27FC236}">
                <a16:creationId xmlns:a16="http://schemas.microsoft.com/office/drawing/2014/main" id="{19CF61A4-2FDF-9D89-AE62-07BA2C2643B5}"/>
              </a:ext>
            </a:extLst>
          </p:cNvPr>
          <p:cNvSpPr txBox="1"/>
          <p:nvPr/>
        </p:nvSpPr>
        <p:spPr>
          <a:xfrm>
            <a:off x="475488" y="5353217"/>
            <a:ext cx="9517285" cy="738664"/>
          </a:xfrm>
          <a:prstGeom prst="rect">
            <a:avLst/>
          </a:prstGeom>
          <a:noFill/>
        </p:spPr>
        <p:txBody>
          <a:bodyPr wrap="none" rtlCol="0">
            <a:spAutoFit/>
          </a:bodyPr>
          <a:lstStyle/>
          <a:p>
            <a:r>
              <a:rPr lang="en-US" sz="1400" dirty="0"/>
              <a:t>”Mathematical Link” = AI giving the person a coordinate point on an embedding space using</a:t>
            </a:r>
          </a:p>
          <a:p>
            <a:r>
              <a:rPr lang="en-US" sz="1400" dirty="0"/>
              <a:t>Math. If a person looks enough like a target and moves through the environment</a:t>
            </a:r>
          </a:p>
          <a:p>
            <a:r>
              <a:rPr lang="en-US" sz="1400" dirty="0"/>
              <a:t>Like whatever it's identified as it can calculate where they are going to go. I think this </a:t>
            </a:r>
            <a:r>
              <a:rPr lang="en-US" sz="1400" dirty="0" err="1"/>
              <a:t>kinda</a:t>
            </a:r>
            <a:r>
              <a:rPr lang="en-US" sz="1400" dirty="0"/>
              <a:t> comes back to </a:t>
            </a:r>
            <a:r>
              <a:rPr lang="en-US" sz="1400" dirty="0" err="1"/>
              <a:t>tracklet</a:t>
            </a:r>
            <a:r>
              <a:rPr lang="en-US" sz="1400" dirty="0"/>
              <a:t> interpolation.</a:t>
            </a:r>
          </a:p>
        </p:txBody>
      </p:sp>
      <p:sp>
        <p:nvSpPr>
          <p:cNvPr id="32" name="TextBox 31">
            <a:extLst>
              <a:ext uri="{FF2B5EF4-FFF2-40B4-BE49-F238E27FC236}">
                <a16:creationId xmlns:a16="http://schemas.microsoft.com/office/drawing/2014/main" id="{0D19D0DE-E4B8-1343-9C2E-B9F940F3E9AA}"/>
              </a:ext>
            </a:extLst>
          </p:cNvPr>
          <p:cNvSpPr txBox="1"/>
          <p:nvPr/>
        </p:nvSpPr>
        <p:spPr>
          <a:xfrm>
            <a:off x="9133952" y="1477108"/>
            <a:ext cx="3177537" cy="646331"/>
          </a:xfrm>
          <a:prstGeom prst="rect">
            <a:avLst/>
          </a:prstGeom>
          <a:noFill/>
        </p:spPr>
        <p:txBody>
          <a:bodyPr wrap="none" rtlCol="0">
            <a:spAutoFit/>
          </a:bodyPr>
          <a:lstStyle/>
          <a:p>
            <a:r>
              <a:rPr lang="en-US" dirty="0"/>
              <a:t>“data weights” =the importance</a:t>
            </a:r>
          </a:p>
          <a:p>
            <a:r>
              <a:rPr lang="en-US" dirty="0"/>
              <a:t>Values in an AI’s brain</a:t>
            </a:r>
          </a:p>
        </p:txBody>
      </p:sp>
      <p:sp>
        <p:nvSpPr>
          <p:cNvPr id="33" name="TextBox 32">
            <a:extLst>
              <a:ext uri="{FF2B5EF4-FFF2-40B4-BE49-F238E27FC236}">
                <a16:creationId xmlns:a16="http://schemas.microsoft.com/office/drawing/2014/main" id="{7A65C2F9-0AE3-92F6-A88C-7EA743C35416}"/>
              </a:ext>
            </a:extLst>
          </p:cNvPr>
          <p:cNvSpPr txBox="1"/>
          <p:nvPr/>
        </p:nvSpPr>
        <p:spPr>
          <a:xfrm>
            <a:off x="9052560" y="2573236"/>
            <a:ext cx="2431307" cy="923330"/>
          </a:xfrm>
          <a:prstGeom prst="rect">
            <a:avLst/>
          </a:prstGeom>
          <a:noFill/>
        </p:spPr>
        <p:txBody>
          <a:bodyPr wrap="none" rtlCol="0">
            <a:spAutoFit/>
          </a:bodyPr>
          <a:lstStyle/>
          <a:p>
            <a:r>
              <a:rPr lang="en-US" dirty="0"/>
              <a:t>(This one messes with </a:t>
            </a:r>
          </a:p>
          <a:p>
            <a:r>
              <a:rPr lang="en-US" dirty="0"/>
              <a:t>The background instead</a:t>
            </a:r>
          </a:p>
          <a:p>
            <a:r>
              <a:rPr lang="en-US" dirty="0"/>
              <a:t>Of the humans)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7B1FA2"/>
          </a:solidFill>
          <a:ln w="12700">
            <a:solidFill>
              <a:srgbClr val="7B1FA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What Connects These Papers?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65760" y="1627632"/>
            <a:ext cx="4069080" cy="329184"/>
          </a:xfrm>
          <a:prstGeom prst="rect">
            <a:avLst/>
          </a:prstGeom>
          <a:solidFill>
            <a:srgbClr val="7B1FA2"/>
          </a:solidFill>
          <a:ln w="12700">
            <a:solidFill>
              <a:srgbClr val="7B1FA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1627632"/>
            <a:ext cx="3840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Theme or pattern across this week's papers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956816"/>
            <a:ext cx="4069080" cy="2011680"/>
          </a:xfrm>
          <a:prstGeom prst="rect">
            <a:avLst/>
          </a:prstGeom>
          <a:solidFill>
            <a:srgbClr val="F3E8FF"/>
          </a:solidFill>
          <a:ln w="12700">
            <a:solidFill>
              <a:srgbClr val="D1A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475488" y="2039112"/>
            <a:ext cx="3840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4A148C"/>
                </a:solidFill>
                <a:effectLst/>
                <a:uLnTx/>
                <a:uFillTx/>
                <a:latin typeface="Calibri" pitchFamily="34" charset="0"/>
                <a:ea typeface="Calibri" pitchFamily="34" charset="-122"/>
                <a:cs typeface="Calibri" pitchFamily="34" charset="-120"/>
              </a:rPr>
              <a:t>What idea, method, or approach shows up in more than one of the papers you read this week? Be specific — name the papers.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475488" y="2414217"/>
            <a:ext cx="3840480" cy="1005840"/>
          </a:xfrm>
          <a:prstGeom prst="rect">
            <a:avLst/>
          </a:prstGeom>
          <a:noFill/>
          <a:ln/>
        </p:spPr>
        <p:txBody>
          <a:bodyPr wrap="square" lIns="0" tIns="0" rIns="0" bIns="0" rtlCol="0" anchor="t"/>
          <a:lstStyle/>
          <a:p>
            <a:pPr lvl="0">
              <a:defRPr/>
            </a:pPr>
            <a:r>
              <a:rPr lang="en-US" sz="1200" dirty="0"/>
              <a:t>These papers show how easily an attacker can mess up the embedding space that AI uses to recognize people and map them out. </a:t>
            </a:r>
            <a:r>
              <a:rPr lang="en-US" sz="1200" i="1" dirty="0" err="1"/>
              <a:t>DiffPhysBA</a:t>
            </a:r>
            <a:r>
              <a:rPr lang="en-US" sz="1200" dirty="0"/>
              <a:t> and </a:t>
            </a:r>
            <a:r>
              <a:rPr lang="en-US" sz="1200" i="1" dirty="0"/>
              <a:t>IBA</a:t>
            </a:r>
            <a:r>
              <a:rPr lang="en-US" sz="1200" dirty="0"/>
              <a:t> prove that hackers can hide traps inside this memory using fake clothes or invisible watermarks. </a:t>
            </a:r>
            <a:r>
              <a:rPr lang="en-US" sz="1200" i="1" dirty="0"/>
              <a:t>See No Evil</a:t>
            </a:r>
            <a:r>
              <a:rPr lang="en-US" sz="1200" dirty="0"/>
              <a:t> takes it a step further, showing that when the AI's memory gets confused by these tricks, the security cameras instantly lose track of the person they are watching.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709160" y="1627632"/>
            <a:ext cx="4069080" cy="329184"/>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p:nvPr/>
        </p:nvSpPr>
        <p:spPr>
          <a:xfrm>
            <a:off x="4818888" y="1627632"/>
            <a:ext cx="3840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How these papers connect to ALL prior reading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4709160" y="1956816"/>
            <a:ext cx="4069080" cy="2011680"/>
          </a:xfrm>
          <a:prstGeom prst="rect">
            <a:avLst/>
          </a:prstGeom>
          <a:solidFill>
            <a:srgbClr val="D6E4F0"/>
          </a:solidFill>
          <a:ln w="12700">
            <a:solidFill>
              <a:srgbClr val="BBCC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4818888" y="2039112"/>
            <a:ext cx="3840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A3A5C"/>
                </a:solidFill>
                <a:effectLst/>
                <a:uLnTx/>
                <a:uFillTx/>
                <a:latin typeface="Calibri" pitchFamily="34" charset="0"/>
                <a:ea typeface="Calibri" pitchFamily="34" charset="-122"/>
                <a:cs typeface="Calibri" pitchFamily="34" charset="-120"/>
              </a:rPr>
              <a:t>Do these papers agree with, contradict, or extend what you read in earlier weeks? Name specific prior papers.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4828032" y="2363724"/>
            <a:ext cx="3840480" cy="1005840"/>
          </a:xfrm>
          <a:prstGeom prst="rect">
            <a:avLst/>
          </a:prstGeom>
          <a:noFill/>
          <a:ln/>
        </p:spPr>
        <p:txBody>
          <a:bodyPr wrap="square" lIns="0" tIns="0" rIns="0" bIns="0" rtlCol="0" anchor="t"/>
          <a:lstStyle/>
          <a:p>
            <a:pPr lvl="0">
              <a:defRPr/>
            </a:pPr>
            <a:r>
              <a:rPr lang="en-US" sz="1200" dirty="0"/>
              <a:t>Older papers established that AI memory is vulnerable and warned that hiding things in images is a losing battle (because engineers have Programs that sniff out the obviously edited photos, frames, and video feeds.) These new papers prove the hackers are winning that battle. They are no longer using obvious digital glitches; instead, they use smart AI to create traps that look like everyday clothing or are completely invisible to human eyes (e.g., via pixel-level or adversarial attacks).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4096512"/>
            <a:ext cx="8412480" cy="310896"/>
          </a:xfrm>
          <a:prstGeom prst="rect">
            <a:avLst/>
          </a:prstGeom>
          <a:solidFill>
            <a:srgbClr val="0D9488"/>
          </a:solidFill>
          <a:ln w="127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75488" y="4096512"/>
            <a:ext cx="819302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is still missing across everything you have read?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365760" y="4407408"/>
            <a:ext cx="8412480" cy="475488"/>
          </a:xfrm>
          <a:prstGeom prst="rect">
            <a:avLst/>
          </a:prstGeom>
          <a:solidFill>
            <a:srgbClr val="E8F5E9"/>
          </a:solidFill>
          <a:ln w="12700">
            <a:solidFill>
              <a:srgbClr val="A5D6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75488" y="4434840"/>
            <a:ext cx="8193024" cy="420624"/>
          </a:xfrm>
          <a:prstGeom prst="rect">
            <a:avLst/>
          </a:prstGeom>
          <a:noFill/>
          <a:ln/>
        </p:spPr>
        <p:txBody>
          <a:bodyPr wrap="square" lIns="0" tIns="0" rIns="0" bIns="0" rtlCol="0" anchor="ctr"/>
          <a:lstStyle/>
          <a:p>
            <a:pPr lvl="0">
              <a:defRPr/>
            </a:pPr>
            <a:r>
              <a:rPr lang="en-US" sz="1100" dirty="0"/>
              <a:t>I haven’t studied what happens if an attacker only poisons one or two cameras in a massive city network instead of the whole system. I’d like to know whether even one camera is affecting identification and Re-ID databases as much as if multiple cameras had been backdoored or had their data poisoned..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P.R.I.M.E. · blindspot-summer-2026 · Paper Presentation</a:t>
            </a:r>
            <a:endParaRPr lang="en-US" sz="1100" dirty="0"/>
          </a:p>
        </p:txBody>
      </p:sp>
      <p:sp>
        <p:nvSpPr>
          <p:cNvPr id="5" name="Shape 2"/>
          <p:cNvSpPr/>
          <p:nvPr/>
        </p:nvSpPr>
        <p:spPr>
          <a:xfrm>
            <a:off x="365760" y="640080"/>
            <a:ext cx="457200" cy="457200"/>
          </a:xfrm>
          <a:prstGeom prst="rect">
            <a:avLst/>
          </a:prstGeom>
          <a:solidFill>
            <a:srgbClr val="2B2B2B"/>
          </a:solidFill>
          <a:ln w="12700">
            <a:solidFill>
              <a:srgbClr val="2B2B2B"/>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Synthesis: Connecting the Papers</a:t>
            </a:r>
            <a:endParaRPr lang="en-US" sz="2600" dirty="0"/>
          </a:p>
        </p:txBody>
      </p:sp>
      <p:sp>
        <p:nvSpPr>
          <p:cNvPr id="8" name="Text 5"/>
          <p:cNvSpPr/>
          <p:nvPr/>
        </p:nvSpPr>
        <p:spPr>
          <a:xfrm>
            <a:off x="365760" y="1234440"/>
            <a:ext cx="8412480" cy="292608"/>
          </a:xfrm>
          <a:prstGeom prst="rect">
            <a:avLst/>
          </a:prstGeom>
          <a:noFill/>
          <a:ln/>
        </p:spPr>
        <p:txBody>
          <a:bodyPr wrap="square" lIns="0" tIns="0" rIns="0" bIns="0" rtlCol="0" anchor="ctr"/>
          <a:lstStyle/>
          <a:p>
            <a:pPr marL="0" indent="0" algn="l">
              <a:buNone/>
            </a:pPr>
            <a:endParaRPr lang="en-US" sz="1100" dirty="0"/>
          </a:p>
        </p:txBody>
      </p:sp>
      <p:sp>
        <p:nvSpPr>
          <p:cNvPr id="9" name="Shape 6"/>
          <p:cNvSpPr/>
          <p:nvPr/>
        </p:nvSpPr>
        <p:spPr>
          <a:xfrm>
            <a:off x="365760" y="1627632"/>
            <a:ext cx="2651760" cy="384048"/>
          </a:xfrm>
          <a:prstGeom prst="rect">
            <a:avLst/>
          </a:prstGeom>
          <a:solidFill>
            <a:srgbClr val="2B2B2B"/>
          </a:solidFill>
          <a:ln w="12700">
            <a:solidFill>
              <a:srgbClr val="2B2B2B"/>
            </a:solidFill>
            <a:prstDash val="solid"/>
          </a:ln>
        </p:spPr>
        <p:txBody>
          <a:bodyPr/>
          <a:lstStyle/>
          <a:p>
            <a:endParaRPr lang="en-US"/>
          </a:p>
        </p:txBody>
      </p:sp>
      <p:sp>
        <p:nvSpPr>
          <p:cNvPr id="10" name="Shape 7"/>
          <p:cNvSpPr/>
          <p:nvPr/>
        </p:nvSpPr>
        <p:spPr>
          <a:xfrm>
            <a:off x="365760" y="1627632"/>
            <a:ext cx="320040" cy="384048"/>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365760" y="1627632"/>
            <a:ext cx="320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9"/>
          <p:cNvSpPr/>
          <p:nvPr/>
        </p:nvSpPr>
        <p:spPr>
          <a:xfrm>
            <a:off x="749808" y="1627632"/>
            <a:ext cx="2212848" cy="384048"/>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What pattern connects the papers?</a:t>
            </a:r>
            <a:endParaRPr lang="en-US" sz="1100" dirty="0"/>
          </a:p>
        </p:txBody>
      </p:sp>
      <p:sp>
        <p:nvSpPr>
          <p:cNvPr id="13" name="Shape 10"/>
          <p:cNvSpPr/>
          <p:nvPr/>
        </p:nvSpPr>
        <p:spPr>
          <a:xfrm>
            <a:off x="365760" y="2011680"/>
            <a:ext cx="2651760" cy="2377440"/>
          </a:xfrm>
          <a:prstGeom prst="rect">
            <a:avLst/>
          </a:prstGeom>
          <a:solidFill>
            <a:srgbClr val="D6E4F0"/>
          </a:solidFill>
          <a:ln w="12700">
            <a:solidFill>
              <a:srgbClr val="BBCCDD"/>
            </a:solidFill>
            <a:prstDash val="solid"/>
          </a:ln>
        </p:spPr>
        <p:txBody>
          <a:bodyPr/>
          <a:lstStyle/>
          <a:p>
            <a:endParaRPr lang="en-US" sz="1200" dirty="0"/>
          </a:p>
          <a:p>
            <a:endParaRPr lang="en-US" sz="1200" dirty="0"/>
          </a:p>
          <a:p>
            <a:endParaRPr lang="en-US" sz="1200" dirty="0"/>
          </a:p>
          <a:p>
            <a:r>
              <a:rPr lang="en-US" sz="1100" dirty="0"/>
              <a:t>AI tracking completely relies on the idea that a person's mathematical signature stays stable as they move. All three papers exploit this one weakness: if you can subtly warp that signature using clever tricks (like a fake backpack or an invisible watermark), the tracking system instantly panics, swaps their identity with a stranger, or stops tracking them entirely.</a:t>
            </a:r>
          </a:p>
        </p:txBody>
      </p:sp>
      <p:sp>
        <p:nvSpPr>
          <p:cNvPr id="14" name="Text 11"/>
          <p:cNvSpPr/>
          <p:nvPr/>
        </p:nvSpPr>
        <p:spPr>
          <a:xfrm>
            <a:off x="475488" y="2103120"/>
            <a:ext cx="2432304" cy="822960"/>
          </a:xfrm>
          <a:prstGeom prst="rect">
            <a:avLst/>
          </a:prstGeom>
          <a:noFill/>
          <a:ln/>
        </p:spPr>
        <p:txBody>
          <a:bodyPr wrap="square" lIns="0" tIns="0" rIns="0" bIns="0" rtlCol="0" anchor="t"/>
          <a:lstStyle/>
          <a:p>
            <a:pPr marL="0" indent="0" algn="l">
              <a:buNone/>
            </a:pPr>
            <a:r>
              <a:rPr lang="en-US" sz="1100" i="1" dirty="0">
                <a:solidFill>
                  <a:srgbClr val="1A3A5C"/>
                </a:solidFill>
                <a:latin typeface="Calibri" pitchFamily="34" charset="0"/>
                <a:ea typeface="Calibri" pitchFamily="34" charset="-122"/>
                <a:cs typeface="Calibri" pitchFamily="34" charset="-120"/>
              </a:rPr>
              <a:t>What theme, idea, or approach shows up across multiple papers you have read? Name at least two papers in your answer.</a:t>
            </a:r>
            <a:endParaRPr lang="en-US" sz="1100" dirty="0"/>
          </a:p>
        </p:txBody>
      </p:sp>
      <p:sp>
        <p:nvSpPr>
          <p:cNvPr id="15" name="Text 12"/>
          <p:cNvSpPr/>
          <p:nvPr/>
        </p:nvSpPr>
        <p:spPr>
          <a:xfrm>
            <a:off x="475488" y="3044952"/>
            <a:ext cx="2432304" cy="1280160"/>
          </a:xfrm>
          <a:prstGeom prst="rect">
            <a:avLst/>
          </a:prstGeom>
          <a:noFill/>
          <a:ln/>
        </p:spPr>
        <p:txBody>
          <a:bodyPr wrap="square" lIns="0" tIns="0" rIns="0" bIns="0" rtlCol="0" anchor="t"/>
          <a:lstStyle/>
          <a:p>
            <a:pPr marL="0" indent="0" algn="l">
              <a:buNone/>
            </a:pPr>
            <a:endParaRPr lang="en-US" sz="1100" dirty="0"/>
          </a:p>
        </p:txBody>
      </p:sp>
      <p:sp>
        <p:nvSpPr>
          <p:cNvPr id="16" name="Shape 13"/>
          <p:cNvSpPr/>
          <p:nvPr/>
        </p:nvSpPr>
        <p:spPr>
          <a:xfrm>
            <a:off x="3172968" y="1627632"/>
            <a:ext cx="2651760" cy="384048"/>
          </a:xfrm>
          <a:prstGeom prst="rect">
            <a:avLst/>
          </a:prstGeom>
          <a:solidFill>
            <a:srgbClr val="2B2B2B"/>
          </a:solidFill>
          <a:ln w="12700">
            <a:solidFill>
              <a:srgbClr val="2B2B2B"/>
            </a:solidFill>
            <a:prstDash val="solid"/>
          </a:ln>
        </p:spPr>
        <p:txBody>
          <a:bodyPr/>
          <a:lstStyle/>
          <a:p>
            <a:endParaRPr lang="en-US"/>
          </a:p>
        </p:txBody>
      </p:sp>
      <p:sp>
        <p:nvSpPr>
          <p:cNvPr id="17" name="Shape 14"/>
          <p:cNvSpPr/>
          <p:nvPr/>
        </p:nvSpPr>
        <p:spPr>
          <a:xfrm>
            <a:off x="3172968" y="1627632"/>
            <a:ext cx="320040" cy="384048"/>
          </a:xfrm>
          <a:prstGeom prst="rect">
            <a:avLst/>
          </a:prstGeom>
          <a:solidFill>
            <a:srgbClr val="C8102E"/>
          </a:solidFill>
          <a:ln w="12700">
            <a:solidFill>
              <a:srgbClr val="C8102E"/>
            </a:solidFill>
            <a:prstDash val="solid"/>
          </a:ln>
        </p:spPr>
        <p:txBody>
          <a:bodyPr/>
          <a:lstStyle/>
          <a:p>
            <a:endParaRPr lang="en-US"/>
          </a:p>
        </p:txBody>
      </p:sp>
      <p:sp>
        <p:nvSpPr>
          <p:cNvPr id="18" name="Text 15"/>
          <p:cNvSpPr/>
          <p:nvPr/>
        </p:nvSpPr>
        <p:spPr>
          <a:xfrm>
            <a:off x="3172968" y="1627632"/>
            <a:ext cx="320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Text 16"/>
          <p:cNvSpPr/>
          <p:nvPr/>
        </p:nvSpPr>
        <p:spPr>
          <a:xfrm>
            <a:off x="3557016" y="1627632"/>
            <a:ext cx="2212848" cy="384048"/>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Where is the gap?</a:t>
            </a:r>
            <a:endParaRPr lang="en-US" sz="1100" dirty="0"/>
          </a:p>
        </p:txBody>
      </p:sp>
      <p:sp>
        <p:nvSpPr>
          <p:cNvPr id="20" name="Shape 17"/>
          <p:cNvSpPr/>
          <p:nvPr/>
        </p:nvSpPr>
        <p:spPr>
          <a:xfrm>
            <a:off x="3172968" y="2011680"/>
            <a:ext cx="2651760" cy="2377440"/>
          </a:xfrm>
          <a:prstGeom prst="rect">
            <a:avLst/>
          </a:prstGeom>
          <a:solidFill>
            <a:srgbClr val="FFF8E1"/>
          </a:solidFill>
          <a:ln w="12700">
            <a:solidFill>
              <a:srgbClr val="FFD54F"/>
            </a:solidFill>
            <a:prstDash val="solid"/>
          </a:ln>
        </p:spPr>
        <p:txBody>
          <a:bodyPr/>
          <a:lstStyle/>
          <a:p>
            <a:endParaRPr lang="en-US"/>
          </a:p>
        </p:txBody>
      </p:sp>
      <p:sp>
        <p:nvSpPr>
          <p:cNvPr id="21" name="Text 18"/>
          <p:cNvSpPr/>
          <p:nvPr/>
        </p:nvSpPr>
        <p:spPr>
          <a:xfrm>
            <a:off x="3282696" y="2103120"/>
            <a:ext cx="2432304" cy="822960"/>
          </a:xfrm>
          <a:prstGeom prst="rect">
            <a:avLst/>
          </a:prstGeom>
          <a:noFill/>
          <a:ln/>
        </p:spPr>
        <p:txBody>
          <a:bodyPr wrap="square" lIns="0" tIns="0" rIns="0" bIns="0" rtlCol="0" anchor="t"/>
          <a:lstStyle/>
          <a:p>
            <a:pPr marL="0" indent="0" algn="l">
              <a:buNone/>
            </a:pPr>
            <a:r>
              <a:rPr lang="en-US" sz="1100" i="1" dirty="0">
                <a:solidFill>
                  <a:srgbClr val="5D4037"/>
                </a:solidFill>
                <a:latin typeface="Calibri" pitchFamily="34" charset="0"/>
                <a:ea typeface="Calibri" pitchFamily="34" charset="-122"/>
                <a:cs typeface="Calibri" pitchFamily="34" charset="-120"/>
              </a:rPr>
              <a:t>What has NOT been done yet across all the papers you have read? How does PHANTOM fill that gap?</a:t>
            </a:r>
            <a:endParaRPr lang="en-US" sz="1100" dirty="0"/>
          </a:p>
        </p:txBody>
      </p:sp>
      <p:sp>
        <p:nvSpPr>
          <p:cNvPr id="22" name="Text 19"/>
          <p:cNvSpPr/>
          <p:nvPr/>
        </p:nvSpPr>
        <p:spPr>
          <a:xfrm>
            <a:off x="3282696" y="2654222"/>
            <a:ext cx="2432304" cy="1280160"/>
          </a:xfrm>
          <a:prstGeom prst="rect">
            <a:avLst/>
          </a:prstGeom>
          <a:noFill/>
          <a:ln/>
        </p:spPr>
        <p:txBody>
          <a:bodyPr wrap="square" lIns="0" tIns="0" rIns="0" bIns="0" rtlCol="0" anchor="t"/>
          <a:lstStyle/>
          <a:p>
            <a:r>
              <a:rPr lang="en-US" sz="1100" dirty="0"/>
              <a:t>Current security systems blindly trust the AI's visual memory. If the math matches, they believe it. They completely fail to double-check whether the person's movement makes physical sense. PHANTOM hopes to help this by checking if the person’s or objects movements actually make sense.</a:t>
            </a:r>
          </a:p>
        </p:txBody>
      </p:sp>
      <p:sp>
        <p:nvSpPr>
          <p:cNvPr id="23" name="Shape 20"/>
          <p:cNvSpPr/>
          <p:nvPr/>
        </p:nvSpPr>
        <p:spPr>
          <a:xfrm>
            <a:off x="5980176" y="1627632"/>
            <a:ext cx="2651760" cy="384048"/>
          </a:xfrm>
          <a:prstGeom prst="rect">
            <a:avLst/>
          </a:prstGeom>
          <a:solidFill>
            <a:srgbClr val="2B2B2B"/>
          </a:solidFill>
          <a:ln w="12700">
            <a:solidFill>
              <a:srgbClr val="2B2B2B"/>
            </a:solidFill>
            <a:prstDash val="solid"/>
          </a:ln>
        </p:spPr>
        <p:txBody>
          <a:bodyPr/>
          <a:lstStyle/>
          <a:p>
            <a:endParaRPr lang="en-US"/>
          </a:p>
        </p:txBody>
      </p:sp>
      <p:sp>
        <p:nvSpPr>
          <p:cNvPr id="24" name="Shape 21"/>
          <p:cNvSpPr/>
          <p:nvPr/>
        </p:nvSpPr>
        <p:spPr>
          <a:xfrm>
            <a:off x="5980176" y="1627632"/>
            <a:ext cx="320040" cy="384048"/>
          </a:xfrm>
          <a:prstGeom prst="rect">
            <a:avLst/>
          </a:prstGeom>
          <a:solidFill>
            <a:srgbClr val="C8102E"/>
          </a:solidFill>
          <a:ln w="12700">
            <a:solidFill>
              <a:srgbClr val="C8102E"/>
            </a:solidFill>
            <a:prstDash val="solid"/>
          </a:ln>
        </p:spPr>
        <p:txBody>
          <a:bodyPr/>
          <a:lstStyle/>
          <a:p>
            <a:endParaRPr lang="en-US"/>
          </a:p>
        </p:txBody>
      </p:sp>
      <p:sp>
        <p:nvSpPr>
          <p:cNvPr id="25" name="Text 22"/>
          <p:cNvSpPr/>
          <p:nvPr/>
        </p:nvSpPr>
        <p:spPr>
          <a:xfrm>
            <a:off x="5980176" y="1627632"/>
            <a:ext cx="320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6" name="Text 23"/>
          <p:cNvSpPr/>
          <p:nvPr/>
        </p:nvSpPr>
        <p:spPr>
          <a:xfrm>
            <a:off x="6364224" y="1627632"/>
            <a:ext cx="2212848" cy="384048"/>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Which paper surprised you most and why?</a:t>
            </a:r>
            <a:endParaRPr lang="en-US" sz="1100" dirty="0"/>
          </a:p>
        </p:txBody>
      </p:sp>
      <p:sp>
        <p:nvSpPr>
          <p:cNvPr id="27" name="Shape 24"/>
          <p:cNvSpPr/>
          <p:nvPr/>
        </p:nvSpPr>
        <p:spPr>
          <a:xfrm>
            <a:off x="5980176" y="2011680"/>
            <a:ext cx="2651760" cy="2377440"/>
          </a:xfrm>
          <a:prstGeom prst="rect">
            <a:avLst/>
          </a:prstGeom>
          <a:solidFill>
            <a:srgbClr val="E8F5E9"/>
          </a:solidFill>
          <a:ln w="12700">
            <a:solidFill>
              <a:srgbClr val="A5D6A7"/>
            </a:solidFill>
            <a:prstDash val="solid"/>
          </a:ln>
        </p:spPr>
        <p:txBody>
          <a:bodyPr/>
          <a:lstStyle/>
          <a:p>
            <a:endParaRPr lang="en-US"/>
          </a:p>
        </p:txBody>
      </p:sp>
      <p:sp>
        <p:nvSpPr>
          <p:cNvPr id="28" name="Text 25"/>
          <p:cNvSpPr/>
          <p:nvPr/>
        </p:nvSpPr>
        <p:spPr>
          <a:xfrm>
            <a:off x="6089904" y="2103120"/>
            <a:ext cx="2432304" cy="822960"/>
          </a:xfrm>
          <a:prstGeom prst="rect">
            <a:avLst/>
          </a:prstGeom>
          <a:noFill/>
          <a:ln/>
        </p:spPr>
        <p:txBody>
          <a:bodyPr wrap="square" lIns="0" tIns="0" rIns="0" bIns="0" rtlCol="0" anchor="t"/>
          <a:lstStyle/>
          <a:p>
            <a:pPr marL="0" indent="0" algn="l">
              <a:buNone/>
            </a:pPr>
            <a:r>
              <a:rPr lang="en-US" sz="1100" i="1" dirty="0">
                <a:solidFill>
                  <a:srgbClr val="1B5E20"/>
                </a:solidFill>
                <a:latin typeface="Calibri" pitchFamily="34" charset="0"/>
                <a:ea typeface="Calibri" pitchFamily="34" charset="-122"/>
                <a:cs typeface="Calibri" pitchFamily="34" charset="-120"/>
              </a:rPr>
              <a:t>Pick one paper from any week. What did it say that you did not expect — and did it change how you think about the project?</a:t>
            </a:r>
            <a:endParaRPr lang="en-US" sz="1100" dirty="0"/>
          </a:p>
        </p:txBody>
      </p:sp>
      <p:sp>
        <p:nvSpPr>
          <p:cNvPr id="29" name="Text 26"/>
          <p:cNvSpPr/>
          <p:nvPr/>
        </p:nvSpPr>
        <p:spPr>
          <a:xfrm>
            <a:off x="6089904" y="2738628"/>
            <a:ext cx="2432304" cy="1280160"/>
          </a:xfrm>
          <a:prstGeom prst="rect">
            <a:avLst/>
          </a:prstGeom>
          <a:noFill/>
          <a:ln/>
        </p:spPr>
        <p:txBody>
          <a:bodyPr wrap="square" lIns="0" tIns="0" rIns="0" bIns="0" rtlCol="0" anchor="t"/>
          <a:lstStyle/>
          <a:p>
            <a:r>
              <a:rPr lang="en-US" sz="1100" i="1" dirty="0"/>
              <a:t>IBA</a:t>
            </a:r>
            <a:r>
              <a:rPr lang="en-US" sz="1100" dirty="0"/>
              <a:t> was shocking because most experts thought AI tracking was naturally safe against data traps when watching random strangers in public. Finding out that hackers can build a smart tool to generate </a:t>
            </a:r>
            <a:r>
              <a:rPr lang="en-US" sz="1100" i="1" dirty="0"/>
              <a:t>custom, invisible traps on the fly(pixels)</a:t>
            </a:r>
            <a:r>
              <a:rPr lang="en-US" sz="1100" dirty="0"/>
              <a:t> for people the AI has never even seen before, completely changes how we have to go about data poisoning.</a:t>
            </a:r>
          </a:p>
        </p:txBody>
      </p:sp>
      <p:sp>
        <p:nvSpPr>
          <p:cNvPr id="31" name="Text 28"/>
          <p:cNvSpPr/>
          <p:nvPr/>
        </p:nvSpPr>
        <p:spPr>
          <a:xfrm>
            <a:off x="548640" y="5852160"/>
            <a:ext cx="8046720" cy="53035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This slide is pre-writing your Week 8 literature review. The patterns you identify here become the themes that organize the paper.</a:t>
            </a:r>
            <a:endParaRPr lang="en-US" sz="1200" dirty="0"/>
          </a:p>
        </p:txBody>
      </p:sp>
      <p:sp>
        <p:nvSpPr>
          <p:cNvPr id="32" name="Shape 29"/>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33" name="Text 30"/>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34" name="Text 31"/>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6/ 7</a:t>
            </a:r>
            <a:endParaRPr lang="en-US" sz="900" dirty="0"/>
          </a:p>
        </p:txBody>
      </p:sp>
      <p:sp>
        <p:nvSpPr>
          <p:cNvPr id="35" name="TextBox 34">
            <a:extLst>
              <a:ext uri="{FF2B5EF4-FFF2-40B4-BE49-F238E27FC236}">
                <a16:creationId xmlns:a16="http://schemas.microsoft.com/office/drawing/2014/main" id="{19D78837-B84F-1F07-D61B-6C598B53A678}"/>
              </a:ext>
            </a:extLst>
          </p:cNvPr>
          <p:cNvSpPr txBox="1"/>
          <p:nvPr/>
        </p:nvSpPr>
        <p:spPr>
          <a:xfrm>
            <a:off x="8686800" y="3279124"/>
            <a:ext cx="1886414" cy="369332"/>
          </a:xfrm>
          <a:prstGeom prst="rect">
            <a:avLst/>
          </a:prstGeom>
          <a:noFill/>
        </p:spPr>
        <p:txBody>
          <a:bodyPr wrap="none" rtlCol="0">
            <a:spAutoFit/>
          </a:bodyPr>
          <a:lstStyle/>
          <a:p>
            <a:r>
              <a:rPr lang="en-US" dirty="0"/>
              <a:t>(diffusion models)</a:t>
            </a:r>
          </a:p>
        </p:txBody>
      </p:sp>
      <p:sp>
        <p:nvSpPr>
          <p:cNvPr id="36" name="TextBox 35">
            <a:extLst>
              <a:ext uri="{FF2B5EF4-FFF2-40B4-BE49-F238E27FC236}">
                <a16:creationId xmlns:a16="http://schemas.microsoft.com/office/drawing/2014/main" id="{B6DB1183-D1E4-E2AA-1817-27BE2007C886}"/>
              </a:ext>
            </a:extLst>
          </p:cNvPr>
          <p:cNvSpPr txBox="1"/>
          <p:nvPr/>
        </p:nvSpPr>
        <p:spPr>
          <a:xfrm>
            <a:off x="178619" y="4678602"/>
            <a:ext cx="11603113" cy="646331"/>
          </a:xfrm>
          <a:prstGeom prst="rect">
            <a:avLst/>
          </a:prstGeom>
          <a:noFill/>
        </p:spPr>
        <p:txBody>
          <a:bodyPr wrap="none" rtlCol="0">
            <a:spAutoFit/>
          </a:bodyPr>
          <a:lstStyle/>
          <a:p>
            <a:r>
              <a:rPr lang="en-US" sz="1200" dirty="0"/>
              <a:t>The database compares the new string of numbers against all the strings it recently saved. If the math distance between the new string and an older string is incredibly close, </a:t>
            </a:r>
          </a:p>
          <a:p>
            <a:r>
              <a:rPr lang="en-US" sz="1200" dirty="0"/>
              <a:t>the database says, </a:t>
            </a:r>
            <a:r>
              <a:rPr lang="en-US" sz="1200" i="1" dirty="0"/>
              <a:t>"</a:t>
            </a:r>
            <a:r>
              <a:rPr lang="en-US" sz="1200" dirty="0"/>
              <a:t>Hey, these numbers match!</a:t>
            </a:r>
            <a:r>
              <a:rPr lang="en-US" sz="1200" i="1" dirty="0"/>
              <a:t>"</a:t>
            </a:r>
            <a:r>
              <a:rPr lang="en-US" sz="1200" dirty="0"/>
              <a:t> It updates the database, links the two spots together on a map, and continues drawing the person's path. If a hacker poisons the data, </a:t>
            </a:r>
          </a:p>
          <a:p>
            <a:r>
              <a:rPr lang="en-US" sz="1200" dirty="0"/>
              <a:t>they warp that string of numbers so the database fails to find a match, creating the </a:t>
            </a:r>
            <a:r>
              <a:rPr lang="en-US" sz="1200" b="1" dirty="0" err="1"/>
              <a:t>blindspot</a:t>
            </a:r>
            <a:r>
              <a:rPr lang="en-US" sz="1200" dirty="0"/>
              <a:t>(trademark) where the system forgets it's watching the same person.</a:t>
            </a:r>
          </a:p>
        </p:txBody>
      </p:sp>
      <p:sp>
        <p:nvSpPr>
          <p:cNvPr id="37" name="TextBox 36">
            <a:extLst>
              <a:ext uri="{FF2B5EF4-FFF2-40B4-BE49-F238E27FC236}">
                <a16:creationId xmlns:a16="http://schemas.microsoft.com/office/drawing/2014/main" id="{4D559EE0-F7DC-9F27-0D39-F0DF7A70C8EF}"/>
              </a:ext>
            </a:extLst>
          </p:cNvPr>
          <p:cNvSpPr txBox="1"/>
          <p:nvPr/>
        </p:nvSpPr>
        <p:spPr>
          <a:xfrm>
            <a:off x="7727183" y="912614"/>
            <a:ext cx="4052520" cy="369332"/>
          </a:xfrm>
          <a:prstGeom prst="rect">
            <a:avLst/>
          </a:prstGeom>
          <a:noFill/>
        </p:spPr>
        <p:txBody>
          <a:bodyPr wrap="none" rtlCol="0">
            <a:spAutoFit/>
          </a:bodyPr>
          <a:lstStyle/>
          <a:p>
            <a:r>
              <a:rPr lang="en-US" dirty="0"/>
              <a:t>Camera &gt; Re-ID Model &gt; Vector Database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One Question for the Group</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61872"/>
            <a:ext cx="84124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65760" y="1719072"/>
            <a:ext cx="8412480" cy="2377440"/>
          </a:xfrm>
          <a:prstGeom prst="rect">
            <a:avLst/>
          </a:prstGeom>
          <a:solidFill>
            <a:srgbClr val="FFFFFF">
              <a:alpha val="8000"/>
            </a:srgbClr>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365760" y="1719072"/>
            <a:ext cx="64008" cy="237744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594360" y="1810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1188720" y="1810512"/>
            <a:ext cx="7406640" cy="2194560"/>
          </a:xfrm>
          <a:prstGeom prst="rect">
            <a:avLst/>
          </a:prstGeom>
          <a:noFill/>
          <a:ln/>
        </p:spPr>
        <p:txBody>
          <a:bodyPr wrap="square" lIns="0" tIns="0" rIns="0" bIns="0" rtlCol="0" anchor="ctr"/>
          <a:lstStyle/>
          <a:p>
            <a:pPr lvl="0">
              <a:defRPr/>
            </a:pPr>
            <a:r>
              <a:rPr lang="en-US" sz="2000" dirty="0">
                <a:solidFill>
                  <a:schemeClr val="bg1"/>
                </a:solidFill>
              </a:rPr>
              <a:t>Since hackers can now use invisible traps to confuse an AI's visual memory even when it's tracking total strangers, how can we hope to make something that catches these traps that only the camera and AI can see and then fix it.</a:t>
            </a:r>
            <a:endParaRPr kumimoji="0" lang="en-US" sz="2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Shape 10"/>
          <p:cNvSpPr/>
          <p:nvPr/>
        </p:nvSpPr>
        <p:spPr>
          <a:xfrm>
            <a:off x="365760" y="4279392"/>
            <a:ext cx="8412480" cy="822960"/>
          </a:xfrm>
          <a:prstGeom prst="rect">
            <a:avLst/>
          </a:prstGeom>
          <a:solidFill>
            <a:srgbClr val="FFFFFF">
              <a:alpha val="6000"/>
            </a:srgbClr>
          </a:solidFill>
          <a:ln w="12700">
            <a:solidFill>
              <a:srgbClr val="4444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548640" y="4306824"/>
            <a:ext cx="804672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4476</TotalTime>
  <Words>2078</Words>
  <Application>Microsoft Macintosh PowerPoint</Application>
  <PresentationFormat>Widescreen</PresentationFormat>
  <Paragraphs>136</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blindspot — Paper Presentation Template</dc:title>
  <dc:subject>PptxGenJS Presentation</dc:subject>
  <dc:creator>PptxGenJS</dc:creator>
  <cp:lastModifiedBy>Dodwell, Floyd L.</cp:lastModifiedBy>
  <cp:revision>8</cp:revision>
  <dcterms:created xsi:type="dcterms:W3CDTF">2026-05-19T13:44:10Z</dcterms:created>
  <dcterms:modified xsi:type="dcterms:W3CDTF">2026-06-14T07:22:40Z</dcterms:modified>
</cp:coreProperties>
</file>