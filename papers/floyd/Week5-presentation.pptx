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3" r:id="rId2"/>
    <p:sldId id="264" r:id="rId3"/>
    <p:sldId id="265" r:id="rId4"/>
    <p:sldId id="267" r:id="rId5"/>
    <p:sldId id="262" r:id="rId6"/>
    <p:sldId id="268"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373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
        <p:cNvGrpSpPr/>
        <p:nvPr/>
      </p:nvGrpSpPr>
      <p:grpSpPr>
        <a:xfrm>
          <a:off x="0" y="0"/>
          <a:ext cx="0" cy="0"/>
          <a:chOff x="0" y="0"/>
          <a:chExt cx="0" cy="0"/>
        </a:xfrm>
      </p:grpSpPr>
      <p:pic>
        <p:nvPicPr>
          <p:cNvPr id="2" name="Image 0" descr="template_img1.png"/>
          <p:cNvPicPr>
            <a:picLocks noChangeAspect="1"/>
          </p:cNvPicPr>
          <p:nvPr/>
        </p:nvPicPr>
        <p:blipFill>
          <a:blip r:embed="rId3"/>
          <a:stretch>
            <a:fillRect/>
          </a:stretch>
        </p:blipFill>
        <p:spPr>
          <a:xfrm>
            <a:off x="6217920" y="182880"/>
            <a:ext cx="2743200" cy="502920"/>
          </a:xfrm>
          <a:prstGeom prst="rect">
            <a:avLst/>
          </a:prstGeom>
        </p:spPr>
      </p:pic>
      <p:sp>
        <p:nvSpPr>
          <p:cNvPr id="3" name="Text 0"/>
          <p:cNvSpPr/>
          <p:nvPr/>
        </p:nvSpPr>
        <p:spPr>
          <a:xfrm>
            <a:off x="365760" y="594360"/>
            <a:ext cx="64008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500" normalizeH="0" baseline="0" noProof="0" dirty="0">
                <a:ln>
                  <a:noFill/>
                </a:ln>
                <a:solidFill>
                  <a:srgbClr val="C8102E"/>
                </a:solidFill>
                <a:effectLst/>
                <a:uLnTx/>
                <a:uFillTx/>
                <a:latin typeface="Calibri" pitchFamily="34" charset="0"/>
                <a:ea typeface="Calibri" pitchFamily="34" charset="-122"/>
                <a:cs typeface="Calibri" pitchFamily="34" charset="-120"/>
              </a:rPr>
              <a:t>PHANTOM</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p:nvPr/>
        </p:nvSpPr>
        <p:spPr>
          <a:xfrm>
            <a:off x="365760" y="1005840"/>
            <a:ext cx="640080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blindspot</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p:nvPr/>
        </p:nvSpPr>
        <p:spPr>
          <a:xfrm>
            <a:off x="365760" y="1920240"/>
            <a:ext cx="64008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detecting what the tracker cannot see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365760" y="2377440"/>
            <a:ext cx="5029200" cy="4572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p:nvPr/>
        </p:nvSpPr>
        <p:spPr>
          <a:xfrm>
            <a:off x="365760" y="2560320"/>
            <a:ext cx="8229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Papers presented this week:</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365760" y="2907792"/>
            <a:ext cx="256032" cy="25603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p:nvPr/>
        </p:nvSpPr>
        <p:spPr>
          <a:xfrm>
            <a:off x="365760" y="2907792"/>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749808" y="2907792"/>
            <a:ext cx="7498080" cy="347472"/>
          </a:xfrm>
          <a:prstGeom prst="rect">
            <a:avLst/>
          </a:prstGeom>
          <a:noFill/>
          <a:ln/>
        </p:spPr>
        <p:txBody>
          <a:bodyPr wrap="square" lIns="0" tIns="0" rIns="0" bIns="0" rtlCol="0" anchor="ctr"/>
          <a:lstStyle/>
          <a:p>
            <a:pPr lvl="0">
              <a:defRPr/>
            </a:pPr>
            <a:r>
              <a:rPr lang="en-US" sz="1400" dirty="0">
                <a:solidFill>
                  <a:schemeClr val="bg1"/>
                </a:solidFill>
              </a:rPr>
              <a:t>Federated Aggregation via Robust and Discriminative Knowledge Selection and Integration for Person Re-identification </a:t>
            </a:r>
            <a:r>
              <a:rPr lang="en-US" sz="1400" i="1" dirty="0">
                <a:solidFill>
                  <a:schemeClr val="bg1"/>
                </a:solidFill>
              </a:rPr>
              <a:t>Xu et al. (2026)</a:t>
            </a:r>
            <a:r>
              <a:rPr lang="en-US" sz="1400" dirty="0">
                <a:solidFill>
                  <a:schemeClr val="bg1"/>
                </a:solidFill>
              </a:rPr>
              <a:t> </a:t>
            </a:r>
            <a:endParaRPr kumimoji="0" lang="en-US" sz="13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1" name="Shape 8"/>
          <p:cNvSpPr/>
          <p:nvPr/>
        </p:nvSpPr>
        <p:spPr>
          <a:xfrm>
            <a:off x="365760" y="3566160"/>
            <a:ext cx="256032" cy="256032"/>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365760" y="3566160"/>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749808" y="3566160"/>
            <a:ext cx="7498080" cy="347472"/>
          </a:xfrm>
          <a:prstGeom prst="rect">
            <a:avLst/>
          </a:prstGeom>
          <a:noFill/>
          <a:ln/>
        </p:spPr>
        <p:txBody>
          <a:bodyPr wrap="square" lIns="0" tIns="0" rIns="0" bIns="0" rtlCol="0" anchor="ctr"/>
          <a:lstStyle/>
          <a:p>
            <a:pPr lvl="0">
              <a:defRPr/>
            </a:pPr>
            <a:r>
              <a:rPr lang="en-US" sz="1400" dirty="0">
                <a:solidFill>
                  <a:schemeClr val="bg1"/>
                </a:solidFill>
              </a:rPr>
              <a:t>How To Backdoor Federated Learning Bagdasaryan et al. (2020)</a:t>
            </a:r>
            <a:endParaRPr kumimoji="0" lang="en-US" sz="13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5" name="Text 12"/>
          <p:cNvSpPr/>
          <p:nvPr/>
        </p:nvSpPr>
        <p:spPr>
          <a:xfrm>
            <a:off x="365760" y="4224528"/>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365760" y="608076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888888"/>
                </a:solidFill>
                <a:latin typeface="Calibri" pitchFamily="34" charset="0"/>
                <a:ea typeface="Calibri" pitchFamily="34" charset="-122"/>
                <a:cs typeface="Calibri" pitchFamily="34" charset="-120"/>
              </a:rPr>
              <a:t>Floyd  * Week 5 </a:t>
            </a:r>
            <a:r>
              <a:rPr kumimoji="0" lang="en-US" sz="1100" b="0" i="0" u="none" strike="noStrike" kern="1200" cap="none" spc="0" normalizeH="0" baseline="0" noProof="0">
                <a:ln>
                  <a:noFill/>
                </a:ln>
                <a:solidFill>
                  <a:srgbClr val="888888"/>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P.R.I.M.E. Summer 2026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2B2B2B"/>
                </a:solidFill>
                <a:effectLst/>
                <a:uLnTx/>
                <a:uFillTx/>
                <a:latin typeface="Calibri" pitchFamily="34" charset="0"/>
                <a:ea typeface="Calibri" pitchFamily="34" charset="-122"/>
                <a:cs typeface="Calibri" pitchFamily="34" charset="-120"/>
              </a:rPr>
              <a:t>Paper 1</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365760" y="1234440"/>
            <a:ext cx="84124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Cover all four fields: argument, method, key finding, and your reaction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365760" y="162763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754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Main argument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956816"/>
            <a:ext cx="4069080" cy="1042416"/>
          </a:xfrm>
          <a:prstGeom prst="rect">
            <a:avLst/>
          </a:prstGeom>
          <a:solidFill>
            <a:srgbClr val="2B2B2B"/>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475488" y="2029968"/>
            <a:ext cx="3959352" cy="896112"/>
          </a:xfrm>
          <a:prstGeom prst="rect">
            <a:avLst/>
          </a:prstGeom>
          <a:noFill/>
          <a:ln/>
        </p:spPr>
        <p:txBody>
          <a:bodyPr wrap="square" lIns="0" tIns="0" rIns="0" bIns="0" rtlCol="0" anchor="t"/>
          <a:lstStyle/>
          <a:p>
            <a:pPr lvl="0">
              <a:defRPr/>
            </a:pPr>
            <a:r>
              <a:rPr lang="en-US" sz="1200" dirty="0">
                <a:solidFill>
                  <a:schemeClr val="bg1"/>
                </a:solidFill>
              </a:rPr>
              <a:t>This paper shows how to train a tracking AI across entirely separate camera systems by sharing numeric math insights rather than private video files. </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3" name="Shape 10"/>
          <p:cNvSpPr/>
          <p:nvPr/>
        </p:nvSpPr>
        <p:spPr>
          <a:xfrm>
            <a:off x="4709160" y="162763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8188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 or evidence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4709160" y="1956816"/>
            <a:ext cx="4069080" cy="1042416"/>
          </a:xfrm>
          <a:prstGeom prst="rect">
            <a:avLst/>
          </a:prstGeom>
          <a:solidFill>
            <a:srgbClr val="D6E4F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4818888" y="2029968"/>
            <a:ext cx="3849624" cy="896112"/>
          </a:xfrm>
          <a:prstGeom prst="rect">
            <a:avLst/>
          </a:prstGeom>
          <a:noFill/>
          <a:ln/>
        </p:spPr>
        <p:txBody>
          <a:bodyPr wrap="square" lIns="0" tIns="0" rIns="0" bIns="0" rtlCol="0" anchor="t"/>
          <a:lstStyle/>
          <a:p>
            <a:pPr lvl="0">
              <a:defRPr/>
            </a:pPr>
            <a:r>
              <a:rPr lang="en-US" sz="1200" dirty="0"/>
              <a:t>The authors designed a two-part strategy. First, each separate camera location extracts both full-body data and smaller, cut-out sections of specific body parts. And then the central server assigns a higher mathematical importance score to the locations that are best at finding universal human details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365760" y="313639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4754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finding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3465576"/>
            <a:ext cx="4069080" cy="1042416"/>
          </a:xfrm>
          <a:prstGeom prst="rect">
            <a:avLst/>
          </a:prstGeom>
          <a:solidFill>
            <a:srgbClr val="FFF3E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475488" y="3538728"/>
            <a:ext cx="3849624" cy="896112"/>
          </a:xfrm>
          <a:prstGeom prst="rect">
            <a:avLst/>
          </a:prstGeom>
          <a:noFill/>
          <a:ln/>
        </p:spPr>
        <p:txBody>
          <a:bodyPr wrap="square" lIns="0" tIns="0" rIns="0" bIns="0" rtlCol="0" anchor="t"/>
          <a:lstStyle/>
          <a:p>
            <a:pPr lvl="0">
              <a:defRPr/>
            </a:pPr>
            <a:r>
              <a:rPr lang="en-US" sz="1200" dirty="0"/>
              <a:t>The system achieved a new peak in tracking accuracy across entirely fresh camera networks, proving that isolating specific body-part details makes the shared system much more robust.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4709160" y="3136392"/>
            <a:ext cx="4069080" cy="329184"/>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48188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Your reaction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4709160" y="3465576"/>
            <a:ext cx="4069080" cy="1042416"/>
          </a:xfrm>
          <a:prstGeom prst="rect">
            <a:avLst/>
          </a:prstGeom>
          <a:solidFill>
            <a:srgbClr val="E8F5E9"/>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4818888" y="3538728"/>
            <a:ext cx="3849624" cy="896112"/>
          </a:xfrm>
          <a:prstGeom prst="rect">
            <a:avLst/>
          </a:prstGeom>
          <a:noFill/>
          <a:ln/>
        </p:spPr>
        <p:txBody>
          <a:bodyPr wrap="square" lIns="0" tIns="0" rIns="0" bIns="0" rtlCol="0" anchor="t"/>
          <a:lstStyle/>
          <a:p>
            <a:pPr lvl="0">
              <a:defRPr/>
            </a:pPr>
            <a:r>
              <a:rPr lang="en-US" sz="1200" dirty="0">
                <a:latin typeface="Calibri" pitchFamily="34" charset="0"/>
                <a:cs typeface="Calibri" pitchFamily="34" charset="-120"/>
              </a:rPr>
              <a:t>I didn’t know a </a:t>
            </a:r>
            <a:r>
              <a:rPr lang="en-US" sz="1200" dirty="0"/>
              <a:t>central server can automatically figure out which camera network's math updates are the most universally reliable without ever actually looking at a single piece of the video data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365760" y="4617720"/>
            <a:ext cx="8412480" cy="292608"/>
          </a:xfrm>
          <a:prstGeom prst="rect">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475488" y="4617720"/>
            <a:ext cx="1371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B2B"/>
                </a:solidFill>
                <a:effectLst/>
                <a:uLnTx/>
                <a:uFillTx/>
                <a:latin typeface="Calibri" pitchFamily="34" charset="0"/>
                <a:ea typeface="Calibri" pitchFamily="34" charset="-122"/>
                <a:cs typeface="Calibri" pitchFamily="34" charset="-120"/>
              </a:rPr>
              <a:t>Link / Citation: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1874520" y="4617720"/>
            <a:ext cx="6858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[arxiv.org/abs/... or DOI — Author(s) · Venue · Year]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5"/>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2B2B2B"/>
                </a:solidFill>
                <a:effectLst/>
                <a:uLnTx/>
                <a:uFillTx/>
                <a:latin typeface="Calibri" pitchFamily="34" charset="0"/>
                <a:ea typeface="Calibri" pitchFamily="34" charset="-122"/>
                <a:cs typeface="Calibri" pitchFamily="34" charset="-120"/>
              </a:rPr>
              <a:t>Paper 2</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365760" y="1234440"/>
            <a:ext cx="8412480" cy="256032"/>
          </a:xfrm>
          <a:prstGeom prst="rect">
            <a:avLst/>
          </a:prstGeom>
          <a:noFill/>
          <a:ln/>
        </p:spPr>
        <p:txBody>
          <a:bodyPr wrap="square" lIns="0" tIns="0" rIns="0" bIns="0" rtlCol="0" anchor="ctr"/>
          <a:lstStyle/>
          <a:p>
            <a:pPr lvl="0">
              <a:defRPr/>
            </a:pPr>
            <a:r>
              <a:rPr lang="en-US" sz="1100" i="1" dirty="0">
                <a:solidFill>
                  <a:srgbClr val="888888"/>
                </a:solidFill>
                <a:latin typeface="Calibri" pitchFamily="34" charset="0"/>
                <a:ea typeface="Calibri" pitchFamily="34" charset="-122"/>
                <a:cs typeface="Calibri" pitchFamily="34" charset="-120"/>
              </a:rPr>
              <a:t>Cover all four fields: argument, method, key finding, and your reaction</a:t>
            </a:r>
            <a:endParaRPr lang="en-US" sz="1100" dirty="0">
              <a:solidFill>
                <a:prstClr val="black"/>
              </a:solidFill>
            </a:endParaRPr>
          </a:p>
        </p:txBody>
      </p:sp>
      <p:sp>
        <p:nvSpPr>
          <p:cNvPr id="9" name="Shape 6"/>
          <p:cNvSpPr/>
          <p:nvPr/>
        </p:nvSpPr>
        <p:spPr>
          <a:xfrm>
            <a:off x="365760" y="162763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754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Main argument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956816"/>
            <a:ext cx="4069080" cy="1042416"/>
          </a:xfrm>
          <a:prstGeom prst="rect">
            <a:avLst/>
          </a:prstGeom>
          <a:solidFill>
            <a:srgbClr val="2B2B2B"/>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475488" y="2029968"/>
            <a:ext cx="3849624" cy="896112"/>
          </a:xfrm>
          <a:prstGeom prst="rect">
            <a:avLst/>
          </a:prstGeom>
          <a:noFill/>
          <a:ln/>
        </p:spPr>
        <p:txBody>
          <a:bodyPr wrap="square" lIns="0" tIns="0" rIns="0" bIns="0" rtlCol="0" anchor="t"/>
          <a:lstStyle/>
          <a:p>
            <a:pPr lvl="0">
              <a:defRPr/>
            </a:pPr>
            <a:r>
              <a:rPr lang="en-US" sz="1200" dirty="0">
                <a:solidFill>
                  <a:schemeClr val="bg1"/>
                </a:solidFill>
              </a:rPr>
              <a:t>This paper proves that when multiple independent devices work together to train a shared AI brain by only sending numeric updates, the system becomes incredibly easy to sabotage.</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3" name="Shape 10"/>
          <p:cNvSpPr/>
          <p:nvPr/>
        </p:nvSpPr>
        <p:spPr>
          <a:xfrm>
            <a:off x="4709160" y="162763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4818888" y="162763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 or evidence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4709160" y="1956816"/>
            <a:ext cx="4069080" cy="1042416"/>
          </a:xfrm>
          <a:prstGeom prst="rect">
            <a:avLst/>
          </a:prstGeom>
          <a:solidFill>
            <a:srgbClr val="D6E4F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4818888" y="2029968"/>
            <a:ext cx="3849624" cy="896112"/>
          </a:xfrm>
          <a:prstGeom prst="rect">
            <a:avLst/>
          </a:prstGeom>
          <a:noFill/>
          <a:ln/>
        </p:spPr>
        <p:txBody>
          <a:bodyPr wrap="square" lIns="0" tIns="0" rIns="0" bIns="0" rtlCol="0" anchor="t"/>
          <a:lstStyle/>
          <a:p>
            <a:pPr lvl="0">
              <a:defRPr/>
            </a:pPr>
            <a:r>
              <a:rPr lang="en-US" sz="1200" dirty="0"/>
              <a:t>The authors designed a model replacement strategy where the attacker multiplies the scale of their poisoned update so it overrides all the clean data from honest users. </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365760" y="313639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p:nvPr/>
        </p:nvSpPr>
        <p:spPr>
          <a:xfrm>
            <a:off x="4754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finding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3465576"/>
            <a:ext cx="4069080" cy="1042416"/>
          </a:xfrm>
          <a:prstGeom prst="rect">
            <a:avLst/>
          </a:prstGeom>
          <a:solidFill>
            <a:srgbClr val="FFF3E0"/>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475488" y="3538728"/>
            <a:ext cx="3849624" cy="896112"/>
          </a:xfrm>
          <a:prstGeom prst="rect">
            <a:avLst/>
          </a:prstGeom>
          <a:noFill/>
          <a:ln/>
        </p:spPr>
        <p:txBody>
          <a:bodyPr wrap="square" lIns="0" tIns="0" rIns="0" bIns="0" rtlCol="0" anchor="t"/>
          <a:lstStyle/>
          <a:p>
            <a:pPr lvl="0">
              <a:defRPr/>
            </a:pPr>
            <a:r>
              <a:rPr lang="en-US" sz="1200" dirty="0"/>
              <a:t>Even when the central system used advanced security filters to look for anomalies, the attacker's scaled-up update successfully slipped through.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4709160" y="3136392"/>
            <a:ext cx="4069080" cy="329184"/>
          </a:xfrm>
          <a:prstGeom prst="rect">
            <a:avLst/>
          </a:prstGeom>
          <a:solidFill>
            <a:srgbClr val="1A3A5C"/>
          </a:solidFill>
          <a:ln w="12700">
            <a:solidFill>
              <a:srgbClr val="1A3A5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4818888" y="3136392"/>
            <a:ext cx="3849624"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Your reaction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4709160" y="3465576"/>
            <a:ext cx="4069080" cy="1042416"/>
          </a:xfrm>
          <a:prstGeom prst="rect">
            <a:avLst/>
          </a:prstGeom>
          <a:solidFill>
            <a:srgbClr val="E8F5E9"/>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4818888" y="3538728"/>
            <a:ext cx="3849624" cy="8961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Its cool that if one attack on a single camera network is strong enough it can destroy a network entirely and install itself to mess with everything.</a:t>
            </a:r>
          </a:p>
        </p:txBody>
      </p:sp>
      <p:sp>
        <p:nvSpPr>
          <p:cNvPr id="25" name="Shape 22"/>
          <p:cNvSpPr/>
          <p:nvPr/>
        </p:nvSpPr>
        <p:spPr>
          <a:xfrm>
            <a:off x="365760" y="4617720"/>
            <a:ext cx="8412480" cy="292608"/>
          </a:xfrm>
          <a:prstGeom prst="rect">
            <a:avLst/>
          </a:prstGeom>
          <a:solidFill>
            <a:srgbClr val="E8E8E8"/>
          </a:solidFill>
          <a:ln w="12700">
            <a:solidFill>
              <a:srgbClr val="E8E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p:nvPr/>
        </p:nvSpPr>
        <p:spPr>
          <a:xfrm>
            <a:off x="475488" y="4617720"/>
            <a:ext cx="1371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B2B2B"/>
                </a:solidFill>
                <a:effectLst/>
                <a:uLnTx/>
                <a:uFillTx/>
                <a:latin typeface="Calibri" pitchFamily="34" charset="0"/>
                <a:ea typeface="Calibri" pitchFamily="34" charset="-122"/>
                <a:cs typeface="Calibri" pitchFamily="34" charset="-120"/>
              </a:rPr>
              <a:t>Link / Citation: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1874520" y="4617720"/>
            <a:ext cx="6858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[arxiv.org/abs/... or DOI — Author(s) · Venue · Year]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5"/>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7B1FA2"/>
          </a:solidFill>
          <a:ln w="12700">
            <a:solidFill>
              <a:srgbClr val="7B1FA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2B2B2B"/>
                </a:solidFill>
                <a:effectLst/>
                <a:uLnTx/>
                <a:uFillTx/>
                <a:latin typeface="Calibri" pitchFamily="34" charset="0"/>
                <a:ea typeface="Calibri" pitchFamily="34" charset="-122"/>
                <a:cs typeface="Calibri" pitchFamily="34" charset="-120"/>
              </a:rPr>
              <a:t>What Connects These Papers?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365760" y="1234440"/>
            <a:ext cx="84124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888888"/>
                </a:solidFill>
                <a:effectLst/>
                <a:uLnTx/>
                <a:uFillTx/>
                <a:latin typeface="Calibri" pitchFamily="34" charset="0"/>
                <a:ea typeface="Calibri" pitchFamily="34" charset="-122"/>
                <a:cs typeface="Calibri" pitchFamily="34" charset="-120"/>
              </a:rPr>
              <a:t>Look across all the papers you presented this week, what do they have in common?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365760" y="1627632"/>
            <a:ext cx="4069080" cy="329184"/>
          </a:xfrm>
          <a:prstGeom prst="rect">
            <a:avLst/>
          </a:prstGeom>
          <a:solidFill>
            <a:srgbClr val="7B1FA2"/>
          </a:solidFill>
          <a:ln w="12700">
            <a:solidFill>
              <a:srgbClr val="7B1FA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475488" y="1627632"/>
            <a:ext cx="38404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Theme or pattern across this week's papers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365760" y="1956816"/>
            <a:ext cx="4069080" cy="2011680"/>
          </a:xfrm>
          <a:prstGeom prst="rect">
            <a:avLst/>
          </a:prstGeom>
          <a:solidFill>
            <a:srgbClr val="F3E8FF"/>
          </a:solidFill>
          <a:ln w="12700">
            <a:solidFill>
              <a:srgbClr val="D1A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p:nvPr/>
        </p:nvSpPr>
        <p:spPr>
          <a:xfrm>
            <a:off x="475488" y="2039112"/>
            <a:ext cx="3840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4A148C"/>
                </a:solidFill>
                <a:effectLst/>
                <a:uLnTx/>
                <a:uFillTx/>
                <a:latin typeface="Calibri" pitchFamily="34" charset="0"/>
                <a:ea typeface="Calibri" pitchFamily="34" charset="-122"/>
                <a:cs typeface="Calibri" pitchFamily="34" charset="-120"/>
              </a:rPr>
              <a:t>What idea, method, or approach shows up in more than one of the papers you read this week? Be specific — name the papers.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475488" y="2862072"/>
            <a:ext cx="3840480" cy="1005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The theme between these 2 is that, whether </a:t>
            </a:r>
            <a:r>
              <a:rPr lang="en-US" sz="1200" dirty="0">
                <a:solidFill>
                  <a:prstClr val="black"/>
                </a:solidFill>
                <a:latin typeface="Calibri" panose="020F0502020204030204"/>
              </a:rPr>
              <a:t>its one camera, or a camera using importance scores to predict where someone will be, they are both vulnerable to attacks and both papers demonstrate how a hacker can get into a system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709160" y="1627632"/>
            <a:ext cx="4069080" cy="329184"/>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p:nvPr/>
        </p:nvSpPr>
        <p:spPr>
          <a:xfrm>
            <a:off x="4818888" y="1627632"/>
            <a:ext cx="3840480"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How these papers connect to ALL prior reading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4709160" y="1956816"/>
            <a:ext cx="4069080" cy="2011680"/>
          </a:xfrm>
          <a:prstGeom prst="rect">
            <a:avLst/>
          </a:prstGeom>
          <a:solidFill>
            <a:srgbClr val="D6E4F0"/>
          </a:solidFill>
          <a:ln w="12700">
            <a:solidFill>
              <a:srgbClr val="BBCCD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p:nvPr/>
        </p:nvSpPr>
        <p:spPr>
          <a:xfrm>
            <a:off x="4818888" y="2039112"/>
            <a:ext cx="3840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1A3A5C"/>
                </a:solidFill>
                <a:effectLst/>
                <a:uLnTx/>
                <a:uFillTx/>
                <a:latin typeface="Calibri" pitchFamily="34" charset="0"/>
                <a:ea typeface="Calibri" pitchFamily="34" charset="-122"/>
                <a:cs typeface="Calibri" pitchFamily="34" charset="-120"/>
              </a:rPr>
              <a:t>Do these papers agree with, contradict, or extend what you read in earlier weeks? Name specific prior papers.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4818888" y="2862072"/>
            <a:ext cx="3840480" cy="1005840"/>
          </a:xfrm>
          <a:prstGeom prst="rect">
            <a:avLst/>
          </a:prstGeom>
          <a:noFill/>
          <a:ln/>
        </p:spPr>
        <p:txBody>
          <a:bodyPr wrap="square" lIns="0" tIns="0" rIns="0" bIns="0" rtlCol="0" anchor="t"/>
          <a:lstStyle/>
          <a:p>
            <a:pPr lvl="0">
              <a:defRPr/>
            </a:pPr>
            <a:r>
              <a:rPr lang="en-US" sz="1200" dirty="0"/>
              <a:t>These papers take the basic idea that AI can be confused and prove it works in real-world security settings, even when we try to keep data private. They show that as our defenses get better, attackers are simply moving from obvious digital glitches to invisible or natural-looking traps that are much harder to catch.</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365760" y="4096512"/>
            <a:ext cx="8412480" cy="310896"/>
          </a:xfrm>
          <a:prstGeom prst="rect">
            <a:avLst/>
          </a:prstGeom>
          <a:solidFill>
            <a:srgbClr val="0D9488"/>
          </a:solidFill>
          <a:ln w="1270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475488" y="4096512"/>
            <a:ext cx="8193024"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is still missing across everything you have read?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365760" y="4407408"/>
            <a:ext cx="8412480" cy="475488"/>
          </a:xfrm>
          <a:prstGeom prst="rect">
            <a:avLst/>
          </a:prstGeom>
          <a:solidFill>
            <a:srgbClr val="E8F5E9"/>
          </a:solidFill>
          <a:ln w="12700">
            <a:solidFill>
              <a:srgbClr val="A5D6A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p:nvPr/>
        </p:nvSpPr>
        <p:spPr>
          <a:xfrm>
            <a:off x="475488" y="4434840"/>
            <a:ext cx="8193024"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I don’t know you could try and use heat sensing cameras to try and fix the problem of adversarial attacks on human beings</a:t>
            </a:r>
          </a:p>
        </p:txBody>
      </p:sp>
      <p:sp>
        <p:nvSpPr>
          <p:cNvPr id="23" name="Shape 20"/>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1"/>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indent="0" algn="l">
              <a:buNone/>
            </a:pPr>
            <a:r>
              <a:rPr lang="en-US" sz="1100" dirty="0">
                <a:solidFill>
                  <a:srgbClr val="CCCCCC"/>
                </a:solidFill>
                <a:latin typeface="Calibri" pitchFamily="34" charset="0"/>
                <a:ea typeface="Calibri" pitchFamily="34" charset="-122"/>
                <a:cs typeface="Calibri" pitchFamily="34" charset="-120"/>
              </a:rPr>
              <a:t>P.R.I.M.E. · blindspot-summer-2026 · Paper Presentation</a:t>
            </a:r>
            <a:endParaRPr lang="en-US" sz="1100" dirty="0"/>
          </a:p>
        </p:txBody>
      </p:sp>
      <p:sp>
        <p:nvSpPr>
          <p:cNvPr id="5" name="Shape 2"/>
          <p:cNvSpPr/>
          <p:nvPr/>
        </p:nvSpPr>
        <p:spPr>
          <a:xfrm>
            <a:off x="365760" y="640080"/>
            <a:ext cx="457200" cy="457200"/>
          </a:xfrm>
          <a:prstGeom prst="rect">
            <a:avLst/>
          </a:prstGeom>
          <a:solidFill>
            <a:srgbClr val="2B2B2B"/>
          </a:solidFill>
          <a:ln w="12700">
            <a:solidFill>
              <a:srgbClr val="2B2B2B"/>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Synthesis: Connecting the Papers</a:t>
            </a:r>
            <a:endParaRPr lang="en-US" sz="2600" dirty="0"/>
          </a:p>
        </p:txBody>
      </p:sp>
      <p:sp>
        <p:nvSpPr>
          <p:cNvPr id="8" name="Text 5"/>
          <p:cNvSpPr/>
          <p:nvPr/>
        </p:nvSpPr>
        <p:spPr>
          <a:xfrm>
            <a:off x="365760" y="1234440"/>
            <a:ext cx="8412480" cy="292608"/>
          </a:xfrm>
          <a:prstGeom prst="rect">
            <a:avLst/>
          </a:prstGeom>
          <a:noFill/>
          <a:ln/>
        </p:spPr>
        <p:txBody>
          <a:bodyPr wrap="square" lIns="0" tIns="0" rIns="0" bIns="0" rtlCol="0" anchor="ctr"/>
          <a:lstStyle/>
          <a:p>
            <a:pPr marL="0" indent="0" algn="l">
              <a:buNone/>
            </a:pPr>
            <a:r>
              <a:rPr lang="en-US" sz="1100" i="1" dirty="0">
                <a:solidFill>
                  <a:srgbClr val="666666"/>
                </a:solidFill>
                <a:latin typeface="Calibri" pitchFamily="34" charset="0"/>
                <a:ea typeface="Calibri" pitchFamily="34" charset="-122"/>
                <a:cs typeface="Calibri" pitchFamily="34" charset="-120"/>
              </a:rPr>
              <a:t>Starting from week 3, use this slide to connect ALL the papers you have read </a:t>
            </a:r>
            <a:r>
              <a:rPr lang="en-US" sz="1100" i="1">
                <a:solidFill>
                  <a:srgbClr val="666666"/>
                </a:solidFill>
                <a:latin typeface="Calibri" pitchFamily="34" charset="0"/>
                <a:ea typeface="Calibri" pitchFamily="34" charset="-122"/>
                <a:cs typeface="Calibri" pitchFamily="34" charset="-120"/>
              </a:rPr>
              <a:t>so far, not </a:t>
            </a:r>
            <a:r>
              <a:rPr lang="en-US" sz="1100" i="1" dirty="0">
                <a:solidFill>
                  <a:srgbClr val="666666"/>
                </a:solidFill>
                <a:latin typeface="Calibri" pitchFamily="34" charset="0"/>
                <a:ea typeface="Calibri" pitchFamily="34" charset="-122"/>
                <a:cs typeface="Calibri" pitchFamily="34" charset="-120"/>
              </a:rPr>
              <a:t>just this week's paper.</a:t>
            </a:r>
            <a:endParaRPr lang="en-US" sz="1100" dirty="0"/>
          </a:p>
        </p:txBody>
      </p:sp>
      <p:sp>
        <p:nvSpPr>
          <p:cNvPr id="9" name="Shape 6"/>
          <p:cNvSpPr/>
          <p:nvPr/>
        </p:nvSpPr>
        <p:spPr>
          <a:xfrm>
            <a:off x="365760" y="1627632"/>
            <a:ext cx="2651760" cy="384048"/>
          </a:xfrm>
          <a:prstGeom prst="rect">
            <a:avLst/>
          </a:prstGeom>
          <a:solidFill>
            <a:srgbClr val="2B2B2B"/>
          </a:solidFill>
          <a:ln w="12700">
            <a:solidFill>
              <a:srgbClr val="2B2B2B"/>
            </a:solidFill>
            <a:prstDash val="solid"/>
          </a:ln>
        </p:spPr>
        <p:txBody>
          <a:bodyPr/>
          <a:lstStyle/>
          <a:p>
            <a:endParaRPr lang="en-US"/>
          </a:p>
        </p:txBody>
      </p:sp>
      <p:sp>
        <p:nvSpPr>
          <p:cNvPr id="10" name="Shape 7"/>
          <p:cNvSpPr/>
          <p:nvPr/>
        </p:nvSpPr>
        <p:spPr>
          <a:xfrm>
            <a:off x="365760" y="1627632"/>
            <a:ext cx="320040" cy="384048"/>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365760" y="1627632"/>
            <a:ext cx="320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Text 9"/>
          <p:cNvSpPr/>
          <p:nvPr/>
        </p:nvSpPr>
        <p:spPr>
          <a:xfrm>
            <a:off x="749808" y="1627632"/>
            <a:ext cx="2212848" cy="384048"/>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What pattern connects the papers?</a:t>
            </a:r>
            <a:endParaRPr lang="en-US" sz="1100" dirty="0"/>
          </a:p>
        </p:txBody>
      </p:sp>
      <p:sp>
        <p:nvSpPr>
          <p:cNvPr id="13" name="Shape 10"/>
          <p:cNvSpPr/>
          <p:nvPr/>
        </p:nvSpPr>
        <p:spPr>
          <a:xfrm>
            <a:off x="365760" y="2011680"/>
            <a:ext cx="2651760" cy="2377440"/>
          </a:xfrm>
          <a:prstGeom prst="rect">
            <a:avLst/>
          </a:prstGeom>
          <a:solidFill>
            <a:srgbClr val="D6E4F0"/>
          </a:solidFill>
          <a:ln w="12700">
            <a:solidFill>
              <a:srgbClr val="BBCCDD"/>
            </a:solidFill>
            <a:prstDash val="solid"/>
          </a:ln>
        </p:spPr>
        <p:txBody>
          <a:bodyPr/>
          <a:lstStyle/>
          <a:p>
            <a:endParaRPr lang="en-US"/>
          </a:p>
        </p:txBody>
      </p:sp>
      <p:sp>
        <p:nvSpPr>
          <p:cNvPr id="14" name="Text 11"/>
          <p:cNvSpPr/>
          <p:nvPr/>
        </p:nvSpPr>
        <p:spPr>
          <a:xfrm>
            <a:off x="475488" y="2103120"/>
            <a:ext cx="2432304" cy="822960"/>
          </a:xfrm>
          <a:prstGeom prst="rect">
            <a:avLst/>
          </a:prstGeom>
          <a:noFill/>
          <a:ln/>
        </p:spPr>
        <p:txBody>
          <a:bodyPr wrap="square" lIns="0" tIns="0" rIns="0" bIns="0" rtlCol="0" anchor="t"/>
          <a:lstStyle/>
          <a:p>
            <a:pPr marL="0" indent="0" algn="l">
              <a:buNone/>
            </a:pPr>
            <a:r>
              <a:rPr lang="en-US" sz="1100" i="1" dirty="0">
                <a:solidFill>
                  <a:srgbClr val="1A3A5C"/>
                </a:solidFill>
                <a:latin typeface="Calibri" pitchFamily="34" charset="0"/>
                <a:ea typeface="Calibri" pitchFamily="34" charset="-122"/>
                <a:cs typeface="Calibri" pitchFamily="34" charset="-120"/>
              </a:rPr>
              <a:t>What theme, idea, or approach shows up across multiple papers you have read? Name at least two papers in your answer.</a:t>
            </a:r>
            <a:endParaRPr lang="en-US" sz="1100" dirty="0"/>
          </a:p>
        </p:txBody>
      </p:sp>
      <p:sp>
        <p:nvSpPr>
          <p:cNvPr id="15" name="Text 12"/>
          <p:cNvSpPr/>
          <p:nvPr/>
        </p:nvSpPr>
        <p:spPr>
          <a:xfrm>
            <a:off x="475488" y="3044952"/>
            <a:ext cx="2432304" cy="1280160"/>
          </a:xfrm>
          <a:prstGeom prst="rect">
            <a:avLst/>
          </a:prstGeom>
          <a:noFill/>
          <a:ln/>
        </p:spPr>
        <p:txBody>
          <a:bodyPr wrap="square" lIns="0" tIns="0" rIns="0" bIns="0" rtlCol="0" anchor="t"/>
          <a:lstStyle/>
          <a:p>
            <a:pPr marL="0" indent="0" algn="l">
              <a:buNone/>
            </a:pPr>
            <a:r>
              <a:rPr lang="en-US" sz="1100" dirty="0"/>
              <a:t>Over all the papers I’ve read, a lot of the camera systems used, generally rely on </a:t>
            </a:r>
            <a:r>
              <a:rPr lang="en-US" sz="1100" dirty="0" err="1"/>
              <a:t>tracklet</a:t>
            </a:r>
            <a:r>
              <a:rPr lang="en-US" sz="1100" dirty="0"/>
              <a:t> interpolation and the math that is used to pick up someone where they left on the other camera</a:t>
            </a:r>
          </a:p>
        </p:txBody>
      </p:sp>
      <p:sp>
        <p:nvSpPr>
          <p:cNvPr id="16" name="Shape 13"/>
          <p:cNvSpPr/>
          <p:nvPr/>
        </p:nvSpPr>
        <p:spPr>
          <a:xfrm>
            <a:off x="3172968" y="1627632"/>
            <a:ext cx="2651760" cy="384048"/>
          </a:xfrm>
          <a:prstGeom prst="rect">
            <a:avLst/>
          </a:prstGeom>
          <a:solidFill>
            <a:srgbClr val="2B2B2B"/>
          </a:solidFill>
          <a:ln w="12700">
            <a:solidFill>
              <a:srgbClr val="2B2B2B"/>
            </a:solidFill>
            <a:prstDash val="solid"/>
          </a:ln>
        </p:spPr>
        <p:txBody>
          <a:bodyPr/>
          <a:lstStyle/>
          <a:p>
            <a:endParaRPr lang="en-US"/>
          </a:p>
        </p:txBody>
      </p:sp>
      <p:sp>
        <p:nvSpPr>
          <p:cNvPr id="17" name="Shape 14"/>
          <p:cNvSpPr/>
          <p:nvPr/>
        </p:nvSpPr>
        <p:spPr>
          <a:xfrm>
            <a:off x="3172968" y="1627632"/>
            <a:ext cx="320040" cy="384048"/>
          </a:xfrm>
          <a:prstGeom prst="rect">
            <a:avLst/>
          </a:prstGeom>
          <a:solidFill>
            <a:srgbClr val="C8102E"/>
          </a:solidFill>
          <a:ln w="12700">
            <a:solidFill>
              <a:srgbClr val="C8102E"/>
            </a:solidFill>
            <a:prstDash val="solid"/>
          </a:ln>
        </p:spPr>
        <p:txBody>
          <a:bodyPr/>
          <a:lstStyle/>
          <a:p>
            <a:endParaRPr lang="en-US"/>
          </a:p>
        </p:txBody>
      </p:sp>
      <p:sp>
        <p:nvSpPr>
          <p:cNvPr id="18" name="Text 15"/>
          <p:cNvSpPr/>
          <p:nvPr/>
        </p:nvSpPr>
        <p:spPr>
          <a:xfrm>
            <a:off x="3172968" y="1627632"/>
            <a:ext cx="320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9" name="Text 16"/>
          <p:cNvSpPr/>
          <p:nvPr/>
        </p:nvSpPr>
        <p:spPr>
          <a:xfrm>
            <a:off x="3557016" y="1627632"/>
            <a:ext cx="2212848" cy="384048"/>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Where is the gap?</a:t>
            </a:r>
            <a:endParaRPr lang="en-US" sz="1100" dirty="0"/>
          </a:p>
        </p:txBody>
      </p:sp>
      <p:sp>
        <p:nvSpPr>
          <p:cNvPr id="20" name="Shape 17"/>
          <p:cNvSpPr/>
          <p:nvPr/>
        </p:nvSpPr>
        <p:spPr>
          <a:xfrm>
            <a:off x="3172968" y="2011680"/>
            <a:ext cx="2651760" cy="2377440"/>
          </a:xfrm>
          <a:prstGeom prst="rect">
            <a:avLst/>
          </a:prstGeom>
          <a:solidFill>
            <a:srgbClr val="FFF8E1"/>
          </a:solidFill>
          <a:ln w="12700">
            <a:solidFill>
              <a:srgbClr val="FFD54F"/>
            </a:solidFill>
            <a:prstDash val="solid"/>
          </a:ln>
        </p:spPr>
        <p:txBody>
          <a:bodyPr/>
          <a:lstStyle/>
          <a:p>
            <a:endParaRPr lang="en-US" dirty="0"/>
          </a:p>
        </p:txBody>
      </p:sp>
      <p:sp>
        <p:nvSpPr>
          <p:cNvPr id="21" name="Text 18"/>
          <p:cNvSpPr/>
          <p:nvPr/>
        </p:nvSpPr>
        <p:spPr>
          <a:xfrm>
            <a:off x="3282696" y="2103120"/>
            <a:ext cx="2432304" cy="822960"/>
          </a:xfrm>
          <a:prstGeom prst="rect">
            <a:avLst/>
          </a:prstGeom>
          <a:noFill/>
          <a:ln/>
        </p:spPr>
        <p:txBody>
          <a:bodyPr wrap="square" lIns="0" tIns="0" rIns="0" bIns="0" rtlCol="0" anchor="t"/>
          <a:lstStyle/>
          <a:p>
            <a:pPr marL="0" indent="0" algn="l">
              <a:buNone/>
            </a:pPr>
            <a:r>
              <a:rPr lang="en-US" sz="1100" i="1" dirty="0">
                <a:solidFill>
                  <a:srgbClr val="5D4037"/>
                </a:solidFill>
                <a:latin typeface="Calibri" pitchFamily="34" charset="0"/>
                <a:ea typeface="Calibri" pitchFamily="34" charset="-122"/>
                <a:cs typeface="Calibri" pitchFamily="34" charset="-120"/>
              </a:rPr>
              <a:t>What has NOT been done yet across all the papers you have read? How does PHANTOM fill that gap?</a:t>
            </a:r>
            <a:endParaRPr lang="en-US" sz="1100" dirty="0"/>
          </a:p>
        </p:txBody>
      </p:sp>
      <p:sp>
        <p:nvSpPr>
          <p:cNvPr id="22" name="Text 19"/>
          <p:cNvSpPr/>
          <p:nvPr/>
        </p:nvSpPr>
        <p:spPr>
          <a:xfrm>
            <a:off x="3282696" y="3044952"/>
            <a:ext cx="2432304" cy="1280160"/>
          </a:xfrm>
          <a:prstGeom prst="rect">
            <a:avLst/>
          </a:prstGeom>
          <a:noFill/>
          <a:ln/>
        </p:spPr>
        <p:txBody>
          <a:bodyPr wrap="square" lIns="0" tIns="0" rIns="0" bIns="0" rtlCol="0" anchor="t"/>
          <a:lstStyle/>
          <a:p>
            <a:r>
              <a:rPr lang="en-US" sz="1100" dirty="0"/>
              <a:t>The gap is a defense system that doesn't just look at photos, but also checks if a person’s movement follows the laws of physics and the building's layout.</a:t>
            </a:r>
          </a:p>
        </p:txBody>
      </p:sp>
      <p:sp>
        <p:nvSpPr>
          <p:cNvPr id="23" name="Shape 20"/>
          <p:cNvSpPr/>
          <p:nvPr/>
        </p:nvSpPr>
        <p:spPr>
          <a:xfrm>
            <a:off x="5980176" y="1627632"/>
            <a:ext cx="2651760" cy="384048"/>
          </a:xfrm>
          <a:prstGeom prst="rect">
            <a:avLst/>
          </a:prstGeom>
          <a:solidFill>
            <a:srgbClr val="2B2B2B"/>
          </a:solidFill>
          <a:ln w="12700">
            <a:solidFill>
              <a:srgbClr val="2B2B2B"/>
            </a:solidFill>
            <a:prstDash val="solid"/>
          </a:ln>
        </p:spPr>
        <p:txBody>
          <a:bodyPr/>
          <a:lstStyle/>
          <a:p>
            <a:endParaRPr lang="en-US"/>
          </a:p>
        </p:txBody>
      </p:sp>
      <p:sp>
        <p:nvSpPr>
          <p:cNvPr id="24" name="Shape 21"/>
          <p:cNvSpPr/>
          <p:nvPr/>
        </p:nvSpPr>
        <p:spPr>
          <a:xfrm>
            <a:off x="5980176" y="1627632"/>
            <a:ext cx="320040" cy="384048"/>
          </a:xfrm>
          <a:prstGeom prst="rect">
            <a:avLst/>
          </a:prstGeom>
          <a:solidFill>
            <a:srgbClr val="C8102E"/>
          </a:solidFill>
          <a:ln w="12700">
            <a:solidFill>
              <a:srgbClr val="C8102E"/>
            </a:solidFill>
            <a:prstDash val="solid"/>
          </a:ln>
        </p:spPr>
        <p:txBody>
          <a:bodyPr/>
          <a:lstStyle/>
          <a:p>
            <a:endParaRPr lang="en-US"/>
          </a:p>
        </p:txBody>
      </p:sp>
      <p:sp>
        <p:nvSpPr>
          <p:cNvPr id="25" name="Text 22"/>
          <p:cNvSpPr/>
          <p:nvPr/>
        </p:nvSpPr>
        <p:spPr>
          <a:xfrm>
            <a:off x="5980176" y="1627632"/>
            <a:ext cx="32004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6" name="Text 23"/>
          <p:cNvSpPr/>
          <p:nvPr/>
        </p:nvSpPr>
        <p:spPr>
          <a:xfrm>
            <a:off x="6364224" y="1627632"/>
            <a:ext cx="2212848" cy="384048"/>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Which paper surprised you most and why?</a:t>
            </a:r>
            <a:endParaRPr lang="en-US" sz="1100" dirty="0"/>
          </a:p>
        </p:txBody>
      </p:sp>
      <p:sp>
        <p:nvSpPr>
          <p:cNvPr id="27" name="Shape 24"/>
          <p:cNvSpPr/>
          <p:nvPr/>
        </p:nvSpPr>
        <p:spPr>
          <a:xfrm>
            <a:off x="5980176" y="2011680"/>
            <a:ext cx="2651760" cy="2377440"/>
          </a:xfrm>
          <a:prstGeom prst="rect">
            <a:avLst/>
          </a:prstGeom>
          <a:solidFill>
            <a:srgbClr val="E8F5E9"/>
          </a:solidFill>
          <a:ln w="12700">
            <a:solidFill>
              <a:srgbClr val="A5D6A7"/>
            </a:solidFill>
            <a:prstDash val="solid"/>
          </a:ln>
        </p:spPr>
        <p:txBody>
          <a:bodyPr/>
          <a:lstStyle/>
          <a:p>
            <a:endParaRPr lang="en-US"/>
          </a:p>
        </p:txBody>
      </p:sp>
      <p:sp>
        <p:nvSpPr>
          <p:cNvPr id="28" name="Text 25"/>
          <p:cNvSpPr/>
          <p:nvPr/>
        </p:nvSpPr>
        <p:spPr>
          <a:xfrm>
            <a:off x="6089904" y="2103120"/>
            <a:ext cx="2432304" cy="822960"/>
          </a:xfrm>
          <a:prstGeom prst="rect">
            <a:avLst/>
          </a:prstGeom>
          <a:noFill/>
          <a:ln/>
        </p:spPr>
        <p:txBody>
          <a:bodyPr wrap="square" lIns="0" tIns="0" rIns="0" bIns="0" rtlCol="0" anchor="t"/>
          <a:lstStyle/>
          <a:p>
            <a:pPr marL="0" indent="0" algn="l">
              <a:buNone/>
            </a:pPr>
            <a:r>
              <a:rPr lang="en-US" sz="1100" i="1" dirty="0">
                <a:solidFill>
                  <a:srgbClr val="1B5E20"/>
                </a:solidFill>
                <a:latin typeface="Calibri" pitchFamily="34" charset="0"/>
                <a:ea typeface="Calibri" pitchFamily="34" charset="-122"/>
                <a:cs typeface="Calibri" pitchFamily="34" charset="-120"/>
              </a:rPr>
              <a:t>Pick one paper from any week. What did it say that you did not expect — and did it change how you think about the project?</a:t>
            </a:r>
            <a:endParaRPr lang="en-US" sz="1100" dirty="0"/>
          </a:p>
        </p:txBody>
      </p:sp>
      <p:sp>
        <p:nvSpPr>
          <p:cNvPr id="29" name="Text 26"/>
          <p:cNvSpPr/>
          <p:nvPr/>
        </p:nvSpPr>
        <p:spPr>
          <a:xfrm>
            <a:off x="6089904" y="3044952"/>
            <a:ext cx="2432304" cy="1280160"/>
          </a:xfrm>
          <a:prstGeom prst="rect">
            <a:avLst/>
          </a:prstGeom>
          <a:noFill/>
          <a:ln/>
        </p:spPr>
        <p:txBody>
          <a:bodyPr wrap="square" lIns="0" tIns="0" rIns="0" bIns="0" rtlCol="0" anchor="t"/>
          <a:lstStyle/>
          <a:p>
            <a:pPr marL="0" indent="0" algn="l">
              <a:buNone/>
            </a:pPr>
            <a:r>
              <a:rPr lang="en-US" sz="1100" dirty="0"/>
              <a:t>The paper that dealt with federated learning, finally learning about how a city wide camera can get attacked by a single camera was cool to read about, I enjoyed learning that if an attack was strong enough it actually could mess with every camera and the main data storage. </a:t>
            </a:r>
          </a:p>
        </p:txBody>
      </p:sp>
      <p:sp>
        <p:nvSpPr>
          <p:cNvPr id="30" name="Shape 27"/>
          <p:cNvSpPr/>
          <p:nvPr/>
        </p:nvSpPr>
        <p:spPr>
          <a:xfrm>
            <a:off x="365760" y="5852160"/>
            <a:ext cx="8412480" cy="530352"/>
          </a:xfrm>
          <a:prstGeom prst="rect">
            <a:avLst/>
          </a:prstGeom>
          <a:solidFill>
            <a:srgbClr val="2B2B2B"/>
          </a:solidFill>
          <a:ln w="12700">
            <a:solidFill>
              <a:srgbClr val="2B2B2B"/>
            </a:solidFill>
            <a:prstDash val="solid"/>
          </a:ln>
        </p:spPr>
        <p:txBody>
          <a:bodyPr/>
          <a:lstStyle/>
          <a:p>
            <a:endParaRPr lang="en-US"/>
          </a:p>
        </p:txBody>
      </p:sp>
      <p:sp>
        <p:nvSpPr>
          <p:cNvPr id="31" name="Text 28"/>
          <p:cNvSpPr/>
          <p:nvPr/>
        </p:nvSpPr>
        <p:spPr>
          <a:xfrm>
            <a:off x="548640" y="5852160"/>
            <a:ext cx="8046720" cy="53035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This slide is pre-writing your Week 8 literature review. The patterns you identify here become the themes that organize the paper.</a:t>
            </a:r>
            <a:endParaRPr lang="en-US" sz="1200" dirty="0"/>
          </a:p>
        </p:txBody>
      </p:sp>
      <p:sp>
        <p:nvSpPr>
          <p:cNvPr id="32" name="Shape 29"/>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33" name="Text 30"/>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34" name="Text 31"/>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6/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P.R.I.M.E. · blindspot-summer-2026 · Multi-Paper Presentation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365760" y="667512"/>
            <a:ext cx="457200" cy="45720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p:nvPr/>
        </p:nvSpPr>
        <p:spPr>
          <a:xfrm>
            <a:off x="365760" y="667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960120" y="667512"/>
            <a:ext cx="7498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One Question for the Group</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365760" y="1261872"/>
            <a:ext cx="841248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AAAAAA"/>
                </a:solidFill>
                <a:effectLst/>
                <a:uLnTx/>
                <a:uFillTx/>
                <a:latin typeface="Calibri" pitchFamily="34" charset="0"/>
                <a:ea typeface="Calibri" pitchFamily="34" charset="-122"/>
                <a:cs typeface="Calibri" pitchFamily="34" charset="-120"/>
              </a:rPr>
              <a:t>End every presentation with one open question. It should come from the gap you identified, something the group can actually discuss.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365760" y="1719072"/>
            <a:ext cx="8412480" cy="2377440"/>
          </a:xfrm>
          <a:prstGeom prst="rect">
            <a:avLst/>
          </a:prstGeom>
          <a:solidFill>
            <a:srgbClr val="FFFFFF">
              <a:alpha val="8000"/>
            </a:srgbClr>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365760" y="1719072"/>
            <a:ext cx="64008" cy="2377440"/>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594360" y="1810512"/>
            <a:ext cx="45720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C8102E"/>
                </a:solidFill>
                <a:effectLst/>
                <a:uLnTx/>
                <a:uFillTx/>
                <a:latin typeface="Calibri" pitchFamily="34" charset="0"/>
                <a:ea typeface="Calibri" pitchFamily="34" charset="-122"/>
                <a:cs typeface="Calibri" pitchFamily="34" charset="-120"/>
              </a:rPr>
              <a: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1188720" y="1810512"/>
            <a:ext cx="7406640" cy="21945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bg1"/>
                </a:solidFill>
                <a:latin typeface="Calibri" panose="020F0502020204030204"/>
              </a:rPr>
              <a:t>Since hackers can mess with the AI’s math, could we make a mapping AI that runs along with the identification ai that uses logic to help with the math.</a:t>
            </a:r>
            <a:endParaRPr kumimoji="0" lang="en-US" sz="20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3" name="Shape 10"/>
          <p:cNvSpPr/>
          <p:nvPr/>
        </p:nvSpPr>
        <p:spPr>
          <a:xfrm>
            <a:off x="365760" y="4279392"/>
            <a:ext cx="8412480" cy="822960"/>
          </a:xfrm>
          <a:prstGeom prst="rect">
            <a:avLst/>
          </a:prstGeom>
          <a:solidFill>
            <a:srgbClr val="FFFFFF">
              <a:alpha val="6000"/>
            </a:srgbClr>
          </a:solidFill>
          <a:ln w="12700">
            <a:solidFill>
              <a:srgbClr val="44444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548640" y="4306824"/>
            <a:ext cx="804672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CCCCC"/>
                </a:solidFill>
                <a:effectLst/>
                <a:uLnTx/>
                <a:uFillTx/>
                <a:latin typeface="Calibri" pitchFamily="34" charset="0"/>
                <a:ea typeface="Calibri" pitchFamily="34" charset="-122"/>
                <a:cs typeface="Calibri" pitchFamily="34" charset="-120"/>
              </a:rPr>
              <a:t>A good question is one you genuinely do not know the answer to. It should make the group think, not just recap what the papers said.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0" y="6510528"/>
            <a:ext cx="9144000" cy="347472"/>
          </a:xfrm>
          <a:prstGeom prst="rect">
            <a:avLst/>
          </a:prstGeom>
          <a:solidFill>
            <a:srgbClr val="C8102E"/>
          </a:solidFill>
          <a:ln w="12700">
            <a:solidFill>
              <a:srgbClr val="C8102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p:nvPr/>
        </p:nvSpPr>
        <p:spPr>
          <a:xfrm>
            <a:off x="365760" y="6510528"/>
            <a:ext cx="777240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P.R.I.M.E. Research Experience  ·  blindspot-summer-2026  ·  APSU CSIT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8412480" y="6510528"/>
            <a:ext cx="548640" cy="34747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 / 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1191</Words>
  <Application>Microsoft Macintosh PowerPoint</Application>
  <PresentationFormat>Widescreen</PresentationFormat>
  <Paragraphs>91</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blindspot — Paper Presentation Template</dc:title>
  <dc:subject>PptxGenJS Presentation</dc:subject>
  <dc:creator>PptxGenJS</dc:creator>
  <cp:lastModifiedBy>Dodwell, Floyd L.</cp:lastModifiedBy>
  <cp:revision>7</cp:revision>
  <dcterms:created xsi:type="dcterms:W3CDTF">2026-05-19T13:44:10Z</dcterms:created>
  <dcterms:modified xsi:type="dcterms:W3CDTF">2026-06-21T09:35:50Z</dcterms:modified>
</cp:coreProperties>
</file>