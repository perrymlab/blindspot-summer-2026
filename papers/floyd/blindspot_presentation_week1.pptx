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37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google.com/search?q=https://doi.org/10.1007/978-3-031-19815-1_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a:effectLst/>
      </p:bgPr>
    </p:bg>
    <p:spTree>
      <p:nvGrpSpPr>
        <p:cNvPr id="1" name=""/>
        <p:cNvGrpSpPr/>
        <p:nvPr/>
      </p:nvGrpSpPr>
      <p:grpSpPr>
        <a:xfrm>
          <a:off x="0" y="0"/>
          <a:ext cx="0" cy="0"/>
          <a:chOff x="0" y="0"/>
          <a:chExt cx="0" cy="0"/>
        </a:xfrm>
      </p:grpSpPr>
      <p:pic>
        <p:nvPicPr>
          <p:cNvPr id="2" name="Image 0" descr="template_img1.png"/>
          <p:cNvPicPr>
            <a:picLocks noChangeAspect="1"/>
          </p:cNvPicPr>
          <p:nvPr/>
        </p:nvPicPr>
        <p:blipFill>
          <a:blip r:embed="rId3"/>
          <a:stretch>
            <a:fillRect/>
          </a:stretch>
        </p:blipFill>
        <p:spPr>
          <a:xfrm>
            <a:off x="6217920" y="182880"/>
            <a:ext cx="2743200" cy="502920"/>
          </a:xfrm>
          <a:prstGeom prst="rect">
            <a:avLst/>
          </a:prstGeom>
        </p:spPr>
      </p:pic>
      <p:sp>
        <p:nvSpPr>
          <p:cNvPr id="3" name="Text 0"/>
          <p:cNvSpPr/>
          <p:nvPr/>
        </p:nvSpPr>
        <p:spPr>
          <a:xfrm>
            <a:off x="365760" y="822960"/>
            <a:ext cx="5486400" cy="1005840"/>
          </a:xfrm>
          <a:prstGeom prst="rect">
            <a:avLst/>
          </a:prstGeom>
          <a:noFill/>
          <a:ln/>
        </p:spPr>
        <p:txBody>
          <a:bodyPr wrap="square" lIns="0" tIns="0" rIns="0" bIns="0" rtlCol="0" anchor="ctr"/>
          <a:lstStyle/>
          <a:p>
            <a:pPr marL="0" indent="0" algn="l">
              <a:buNone/>
            </a:pPr>
            <a:r>
              <a:rPr lang="en-US" sz="5400" b="1" dirty="0">
                <a:solidFill>
                  <a:srgbClr val="FFFFFF"/>
                </a:solidFill>
                <a:latin typeface="Georgia" pitchFamily="34" charset="0"/>
                <a:ea typeface="Georgia" pitchFamily="34" charset="-122"/>
                <a:cs typeface="Georgia" pitchFamily="34" charset="-120"/>
              </a:rPr>
              <a:t>blindspot</a:t>
            </a:r>
            <a:endParaRPr lang="en-US" sz="5400" dirty="0"/>
          </a:p>
        </p:txBody>
      </p:sp>
      <p:sp>
        <p:nvSpPr>
          <p:cNvPr id="4" name="Text 1"/>
          <p:cNvSpPr/>
          <p:nvPr/>
        </p:nvSpPr>
        <p:spPr>
          <a:xfrm>
            <a:off x="365760" y="1874520"/>
            <a:ext cx="6400800" cy="365760"/>
          </a:xfrm>
          <a:prstGeom prst="rect">
            <a:avLst/>
          </a:prstGeom>
          <a:noFill/>
          <a:ln/>
        </p:spPr>
        <p:txBody>
          <a:bodyPr wrap="square" lIns="0" tIns="0" rIns="0" bIns="0" rtlCol="0" anchor="ctr"/>
          <a:lstStyle/>
          <a:p>
            <a:pPr marL="0" indent="0" algn="l">
              <a:buNone/>
            </a:pPr>
            <a:r>
              <a:rPr lang="en-US" sz="1400" i="1" dirty="0">
                <a:solidFill>
                  <a:srgbClr val="AAAAAA"/>
                </a:solidFill>
                <a:latin typeface="Calibri" pitchFamily="34" charset="0"/>
                <a:ea typeface="Calibri" pitchFamily="34" charset="-122"/>
                <a:cs typeface="Calibri" pitchFamily="34" charset="-120"/>
              </a:rPr>
              <a:t>detecting what the tracker cannot see</a:t>
            </a:r>
            <a:endParaRPr lang="en-US" sz="1400" dirty="0"/>
          </a:p>
        </p:txBody>
      </p:sp>
      <p:sp>
        <p:nvSpPr>
          <p:cNvPr id="5" name="Shape 2"/>
          <p:cNvSpPr/>
          <p:nvPr/>
        </p:nvSpPr>
        <p:spPr>
          <a:xfrm>
            <a:off x="365760" y="2377440"/>
            <a:ext cx="5029200" cy="45720"/>
          </a:xfrm>
          <a:prstGeom prst="rect">
            <a:avLst/>
          </a:prstGeom>
          <a:solidFill>
            <a:srgbClr val="C8102E"/>
          </a:solidFill>
          <a:ln w="12700">
            <a:solidFill>
              <a:srgbClr val="C8102E"/>
            </a:solidFill>
            <a:prstDash val="solid"/>
          </a:ln>
        </p:spPr>
        <p:txBody>
          <a:bodyPr/>
          <a:lstStyle/>
          <a:p>
            <a:endParaRPr lang="en-US"/>
          </a:p>
        </p:txBody>
      </p:sp>
      <p:sp>
        <p:nvSpPr>
          <p:cNvPr id="7" name="Text 4"/>
          <p:cNvSpPr/>
          <p:nvPr/>
        </p:nvSpPr>
        <p:spPr>
          <a:xfrm>
            <a:off x="365760" y="2566952"/>
            <a:ext cx="6858000" cy="411480"/>
          </a:xfrm>
          <a:prstGeom prst="rect">
            <a:avLst/>
          </a:prstGeom>
          <a:noFill/>
          <a:ln/>
        </p:spPr>
        <p:txBody>
          <a:bodyPr wrap="square" lIns="0" tIns="0" rIns="0" bIns="0" rtlCol="0" anchor="ctr"/>
          <a:lstStyle/>
          <a:p>
            <a:r>
              <a:rPr lang="en-US" sz="1200" dirty="0" err="1">
                <a:solidFill>
                  <a:schemeClr val="bg1"/>
                </a:solidFill>
              </a:rPr>
              <a:t>ByteTrack</a:t>
            </a:r>
            <a:r>
              <a:rPr lang="en-US" sz="1200" dirty="0">
                <a:solidFill>
                  <a:schemeClr val="bg1"/>
                </a:solidFill>
              </a:rPr>
              <a:t>: Multi-Object Tracking by Associating Every Detection Box. </a:t>
            </a:r>
          </a:p>
        </p:txBody>
      </p:sp>
      <p:sp>
        <p:nvSpPr>
          <p:cNvPr id="9" name="Text 6"/>
          <p:cNvSpPr/>
          <p:nvPr/>
        </p:nvSpPr>
        <p:spPr>
          <a:xfrm>
            <a:off x="365760" y="2916484"/>
            <a:ext cx="6858000" cy="411480"/>
          </a:xfrm>
          <a:prstGeom prst="rect">
            <a:avLst/>
          </a:prstGeom>
          <a:noFill/>
          <a:ln/>
        </p:spPr>
        <p:txBody>
          <a:bodyPr wrap="square" lIns="0" tIns="0" rIns="0" bIns="0" rtlCol="0" anchor="ctr"/>
          <a:lstStyle/>
          <a:p>
            <a:r>
              <a:rPr lang="en-US" sz="1200" dirty="0">
                <a:solidFill>
                  <a:schemeClr val="bg1"/>
                </a:solidFill>
              </a:rPr>
              <a:t>Zhang, Y., Sun, P., Jiang, N., Yu, Z., Weng, F., Yuan, Z., Luo, D., Liu, W., &amp; Wang, X. </a:t>
            </a:r>
          </a:p>
        </p:txBody>
      </p:sp>
      <p:sp>
        <p:nvSpPr>
          <p:cNvPr id="11" name="Text 8"/>
          <p:cNvSpPr/>
          <p:nvPr/>
        </p:nvSpPr>
        <p:spPr>
          <a:xfrm>
            <a:off x="365760" y="3327964"/>
            <a:ext cx="6858000" cy="411480"/>
          </a:xfrm>
          <a:prstGeom prst="rect">
            <a:avLst/>
          </a:prstGeom>
          <a:noFill/>
          <a:ln/>
        </p:spPr>
        <p:txBody>
          <a:bodyPr wrap="square" lIns="0" tIns="0" rIns="0" bIns="0" rtlCol="0" anchor="ctr"/>
          <a:lstStyle/>
          <a:p>
            <a:r>
              <a:rPr lang="en-US" sz="1200" i="1" dirty="0">
                <a:solidFill>
                  <a:schemeClr val="bg1"/>
                </a:solidFill>
              </a:rPr>
              <a:t>Proceedings of the European Conference on Computer Vision(2022)</a:t>
            </a:r>
            <a:r>
              <a:rPr lang="en-US" sz="1200" dirty="0">
                <a:solidFill>
                  <a:schemeClr val="bg1"/>
                </a:solidFill>
              </a:rPr>
              <a:t> </a:t>
            </a:r>
          </a:p>
        </p:txBody>
      </p:sp>
      <p:sp>
        <p:nvSpPr>
          <p:cNvPr id="13" name="Text 10"/>
          <p:cNvSpPr/>
          <p:nvPr/>
        </p:nvSpPr>
        <p:spPr>
          <a:xfrm>
            <a:off x="365760" y="3785616"/>
            <a:ext cx="6858000" cy="411480"/>
          </a:xfrm>
          <a:prstGeom prst="rect">
            <a:avLst/>
          </a:prstGeom>
          <a:noFill/>
          <a:ln/>
        </p:spPr>
        <p:txBody>
          <a:bodyPr wrap="square" lIns="0" tIns="0" rIns="0" bIns="0" rtlCol="0" anchor="ctr"/>
          <a:lstStyle/>
          <a:p>
            <a:r>
              <a:rPr lang="en-US" sz="1200" u="sng" dirty="0">
                <a:hlinkClick r:id="rId4"/>
              </a:rPr>
              <a:t>https://doi.org/10.1007/978-3-031-19815-1_1</a:t>
            </a:r>
            <a:r>
              <a:rPr lang="en-US" sz="1200" dirty="0"/>
              <a:t> </a:t>
            </a:r>
          </a:p>
        </p:txBody>
      </p:sp>
      <p:sp>
        <p:nvSpPr>
          <p:cNvPr id="14" name="Text 11"/>
          <p:cNvSpPr/>
          <p:nvPr/>
        </p:nvSpPr>
        <p:spPr>
          <a:xfrm>
            <a:off x="365760" y="6035040"/>
            <a:ext cx="7315200" cy="320040"/>
          </a:xfrm>
          <a:prstGeom prst="rect">
            <a:avLst/>
          </a:prstGeom>
          <a:noFill/>
          <a:ln/>
        </p:spPr>
        <p:txBody>
          <a:bodyPr wrap="square" lIns="0" tIns="0" rIns="0" bIns="0" rtlCol="0" anchor="ctr"/>
          <a:lstStyle/>
          <a:p>
            <a:pPr marL="0" indent="0" algn="l">
              <a:buNone/>
            </a:pPr>
            <a:r>
              <a:rPr lang="en-US" sz="1100" dirty="0">
                <a:solidFill>
                  <a:srgbClr val="888888"/>
                </a:solidFill>
                <a:latin typeface="Calibri" pitchFamily="34" charset="0"/>
                <a:ea typeface="Calibri" pitchFamily="34" charset="-122"/>
                <a:cs typeface="Calibri" pitchFamily="34" charset="-120"/>
              </a:rPr>
              <a:t>Floyd Dodwell ·  Week 1 ·  P.R.I.M.E. Summer 2026</a:t>
            </a:r>
            <a:endParaRPr lang="en-US" sz="1100" dirty="0"/>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1 / 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indent="0" algn="l">
              <a:buNone/>
            </a:pPr>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Main Argument</a:t>
            </a:r>
            <a:endParaRPr lang="en-US" sz="2600" dirty="0"/>
          </a:p>
        </p:txBody>
      </p:sp>
      <p:sp>
        <p:nvSpPr>
          <p:cNvPr id="9" name="Shape 6"/>
          <p:cNvSpPr/>
          <p:nvPr/>
        </p:nvSpPr>
        <p:spPr>
          <a:xfrm>
            <a:off x="365760" y="1645920"/>
            <a:ext cx="8412480" cy="2011680"/>
          </a:xfrm>
          <a:prstGeom prst="rect">
            <a:avLst/>
          </a:prstGeom>
          <a:solidFill>
            <a:srgbClr val="2B2B2B"/>
          </a:solidFill>
          <a:ln w="12700">
            <a:solidFill>
              <a:srgbClr val="2B2B2B"/>
            </a:solidFill>
            <a:prstDash val="solid"/>
          </a:ln>
        </p:spPr>
        <p:txBody>
          <a:bodyPr/>
          <a:lstStyle/>
          <a:p>
            <a:endParaRPr lang="en-US"/>
          </a:p>
        </p:txBody>
      </p:sp>
      <p:sp>
        <p:nvSpPr>
          <p:cNvPr id="10" name="Shape 7"/>
          <p:cNvSpPr/>
          <p:nvPr/>
        </p:nvSpPr>
        <p:spPr>
          <a:xfrm>
            <a:off x="365760" y="1645920"/>
            <a:ext cx="73152" cy="201168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45920"/>
            <a:ext cx="8092440" cy="2011680"/>
          </a:xfrm>
          <a:prstGeom prst="rect">
            <a:avLst/>
          </a:prstGeom>
          <a:noFill/>
          <a:ln/>
        </p:spPr>
        <p:txBody>
          <a:bodyPr wrap="square" lIns="203200" tIns="203200" rIns="203200" bIns="203200" rtlCol="0" anchor="ctr"/>
          <a:lstStyle/>
          <a:p>
            <a:pPr marL="0" indent="0" algn="l">
              <a:buNone/>
            </a:pPr>
            <a:r>
              <a:rPr lang="en-US" sz="2000" dirty="0">
                <a:solidFill>
                  <a:schemeClr val="bg1"/>
                </a:solidFill>
              </a:rPr>
              <a:t>The papers main argument is that BYTE and </a:t>
            </a:r>
            <a:r>
              <a:rPr lang="en-US" sz="2000" dirty="0" err="1">
                <a:solidFill>
                  <a:schemeClr val="bg1"/>
                </a:solidFill>
              </a:rPr>
              <a:t>Bytetrack</a:t>
            </a:r>
            <a:r>
              <a:rPr lang="en-US" sz="2000" dirty="0">
                <a:solidFill>
                  <a:schemeClr val="bg1"/>
                </a:solidFill>
              </a:rPr>
              <a:t> are the best data association software's available.   </a:t>
            </a:r>
          </a:p>
        </p:txBody>
      </p:sp>
      <p:sp>
        <p:nvSpPr>
          <p:cNvPr id="12" name="Text 9"/>
          <p:cNvSpPr/>
          <p:nvPr/>
        </p:nvSpPr>
        <p:spPr>
          <a:xfrm>
            <a:off x="365760" y="3840480"/>
            <a:ext cx="8412480" cy="274320"/>
          </a:xfrm>
          <a:prstGeom prst="rect">
            <a:avLst/>
          </a:prstGeom>
          <a:noFill/>
          <a:ln/>
        </p:spPr>
        <p:txBody>
          <a:bodyPr wrap="square" lIns="0" tIns="0" rIns="0" bIns="0" rtlCol="0" anchor="ctr"/>
          <a:lstStyle/>
          <a:p>
            <a:pPr marL="0" indent="0" algn="l">
              <a:buNone/>
            </a:pPr>
            <a:r>
              <a:rPr lang="en-US" sz="1200" b="1" dirty="0">
                <a:solidFill>
                  <a:srgbClr val="0D9488"/>
                </a:solidFill>
                <a:latin typeface="Calibri" pitchFamily="34" charset="0"/>
                <a:ea typeface="Calibri" pitchFamily="34" charset="-122"/>
                <a:cs typeface="Calibri" pitchFamily="34" charset="-120"/>
              </a:rPr>
              <a:t>Why does this matter?</a:t>
            </a:r>
            <a:endParaRPr lang="en-US" sz="1200" dirty="0"/>
          </a:p>
        </p:txBody>
      </p:sp>
      <p:sp>
        <p:nvSpPr>
          <p:cNvPr id="13" name="Shape 10"/>
          <p:cNvSpPr/>
          <p:nvPr/>
        </p:nvSpPr>
        <p:spPr>
          <a:xfrm>
            <a:off x="365760" y="4160520"/>
            <a:ext cx="8412480" cy="685800"/>
          </a:xfrm>
          <a:prstGeom prst="rect">
            <a:avLst/>
          </a:prstGeom>
          <a:solidFill>
            <a:srgbClr val="D6E4F0"/>
          </a:solidFill>
          <a:ln w="12700">
            <a:solidFill>
              <a:srgbClr val="CCDDEE"/>
            </a:solidFill>
            <a:prstDash val="solid"/>
          </a:ln>
        </p:spPr>
        <p:txBody>
          <a:bodyPr/>
          <a:lstStyle/>
          <a:p>
            <a:endParaRPr lang="en-US"/>
          </a:p>
        </p:txBody>
      </p:sp>
      <p:sp>
        <p:nvSpPr>
          <p:cNvPr id="14" name="Text 11"/>
          <p:cNvSpPr/>
          <p:nvPr/>
        </p:nvSpPr>
        <p:spPr>
          <a:xfrm>
            <a:off x="502920" y="4160520"/>
            <a:ext cx="8138160" cy="685800"/>
          </a:xfrm>
          <a:prstGeom prst="rect">
            <a:avLst/>
          </a:prstGeom>
          <a:noFill/>
          <a:ln/>
        </p:spPr>
        <p:txBody>
          <a:bodyPr wrap="square" lIns="0" tIns="0" rIns="0" bIns="0" rtlCol="0" anchor="ctr"/>
          <a:lstStyle/>
          <a:p>
            <a:pPr marL="0" indent="0" algn="l">
              <a:buNone/>
            </a:pPr>
            <a:r>
              <a:rPr lang="en-US" sz="1300" dirty="0"/>
              <a:t>This claim matters to </a:t>
            </a:r>
            <a:r>
              <a:rPr lang="en-US" sz="1300" dirty="0" err="1"/>
              <a:t>blindspot</a:t>
            </a:r>
            <a:r>
              <a:rPr lang="en-US" sz="1300" dirty="0"/>
              <a:t> because using BYTE &amp; Byte track would be the most effective way to get sufficient data on association and data poisoning.</a:t>
            </a:r>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Method or Evidence</a:t>
            </a:r>
            <a:endParaRPr lang="en-US" sz="2600" dirty="0"/>
          </a:p>
        </p:txBody>
      </p:sp>
      <p:sp>
        <p:nvSpPr>
          <p:cNvPr id="9" name="Shape 6"/>
          <p:cNvSpPr/>
          <p:nvPr/>
        </p:nvSpPr>
        <p:spPr>
          <a:xfrm>
            <a:off x="365760"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0" name="Text 7"/>
          <p:cNvSpPr/>
          <p:nvPr/>
        </p:nvSpPr>
        <p:spPr>
          <a:xfrm>
            <a:off x="365760"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 or setting</a:t>
            </a:r>
            <a:endParaRPr lang="en-US" sz="1200" dirty="0"/>
          </a:p>
        </p:txBody>
      </p:sp>
      <p:sp>
        <p:nvSpPr>
          <p:cNvPr id="11" name="Shape 8"/>
          <p:cNvSpPr/>
          <p:nvPr/>
        </p:nvSpPr>
        <p:spPr>
          <a:xfrm>
            <a:off x="365760"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12" name="Text 9"/>
          <p:cNvSpPr/>
          <p:nvPr/>
        </p:nvSpPr>
        <p:spPr>
          <a:xfrm>
            <a:off x="457200" y="2057400"/>
            <a:ext cx="2468880" cy="1508760"/>
          </a:xfrm>
          <a:prstGeom prst="rect">
            <a:avLst/>
          </a:prstGeom>
          <a:noFill/>
          <a:ln/>
        </p:spPr>
        <p:txBody>
          <a:bodyPr wrap="square" lIns="0" tIns="0" rIns="0" bIns="0" rtlCol="0" anchor="t"/>
          <a:lstStyle/>
          <a:p>
            <a:pPr marL="0" indent="0" algn="l">
              <a:buNone/>
            </a:pPr>
            <a:r>
              <a:rPr lang="en-US" sz="1200" dirty="0"/>
              <a:t>In the paper they use multiple charts to support their findings. A lot of the charts were bar graphs, pie charts, and number charts. All these charts showed that BYTE was the best along with </a:t>
            </a:r>
            <a:r>
              <a:rPr lang="en-US" sz="1200" dirty="0" err="1"/>
              <a:t>Bytetrack</a:t>
            </a:r>
            <a:r>
              <a:rPr lang="en-US" sz="1200" dirty="0"/>
              <a:t>.</a:t>
            </a:r>
          </a:p>
        </p:txBody>
      </p:sp>
      <p:sp>
        <p:nvSpPr>
          <p:cNvPr id="13" name="Shape 10"/>
          <p:cNvSpPr/>
          <p:nvPr/>
        </p:nvSpPr>
        <p:spPr>
          <a:xfrm>
            <a:off x="3172968"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4" name="Text 11"/>
          <p:cNvSpPr/>
          <p:nvPr/>
        </p:nvSpPr>
        <p:spPr>
          <a:xfrm>
            <a:off x="3172968"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Experimental approach</a:t>
            </a:r>
            <a:endParaRPr lang="en-US" sz="1200" dirty="0"/>
          </a:p>
        </p:txBody>
      </p:sp>
      <p:sp>
        <p:nvSpPr>
          <p:cNvPr id="15" name="Shape 12"/>
          <p:cNvSpPr/>
          <p:nvPr/>
        </p:nvSpPr>
        <p:spPr>
          <a:xfrm>
            <a:off x="3172968"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16" name="Text 13"/>
          <p:cNvSpPr/>
          <p:nvPr/>
        </p:nvSpPr>
        <p:spPr>
          <a:xfrm>
            <a:off x="3264408" y="2057400"/>
            <a:ext cx="2468880" cy="1508760"/>
          </a:xfrm>
          <a:prstGeom prst="rect">
            <a:avLst/>
          </a:prstGeom>
          <a:noFill/>
          <a:ln/>
        </p:spPr>
        <p:txBody>
          <a:bodyPr wrap="square" lIns="0" tIns="0" rIns="0" bIns="0" rtlCol="0" anchor="t"/>
          <a:lstStyle/>
          <a:p>
            <a:pPr marL="0" indent="0" algn="l">
              <a:buNone/>
            </a:pPr>
            <a:r>
              <a:rPr lang="en-US" sz="1200" dirty="0"/>
              <a:t>During their research they showed numbers of how BYTE was the most efficient data associator and used IDF1, MOTA, FN, FP, and IDs for their claims</a:t>
            </a:r>
          </a:p>
        </p:txBody>
      </p:sp>
      <p:sp>
        <p:nvSpPr>
          <p:cNvPr id="17" name="Shape 14"/>
          <p:cNvSpPr/>
          <p:nvPr/>
        </p:nvSpPr>
        <p:spPr>
          <a:xfrm>
            <a:off x="5980176"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8" name="Text 15"/>
          <p:cNvSpPr/>
          <p:nvPr/>
        </p:nvSpPr>
        <p:spPr>
          <a:xfrm>
            <a:off x="5980176"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they measured success</a:t>
            </a:r>
            <a:endParaRPr lang="en-US" sz="1200" dirty="0"/>
          </a:p>
        </p:txBody>
      </p:sp>
      <p:sp>
        <p:nvSpPr>
          <p:cNvPr id="19" name="Shape 16"/>
          <p:cNvSpPr/>
          <p:nvPr/>
        </p:nvSpPr>
        <p:spPr>
          <a:xfrm>
            <a:off x="5980176"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20" name="Text 17"/>
          <p:cNvSpPr/>
          <p:nvPr/>
        </p:nvSpPr>
        <p:spPr>
          <a:xfrm>
            <a:off x="6071616" y="2057400"/>
            <a:ext cx="2468880" cy="1508760"/>
          </a:xfrm>
          <a:prstGeom prst="rect">
            <a:avLst/>
          </a:prstGeom>
          <a:noFill/>
          <a:ln/>
        </p:spPr>
        <p:txBody>
          <a:bodyPr wrap="square" lIns="0" tIns="0" rIns="0" bIns="0" rtlCol="0" anchor="t"/>
          <a:lstStyle/>
          <a:p>
            <a:pPr marL="0" indent="0" algn="l">
              <a:buNone/>
            </a:pPr>
            <a:r>
              <a:rPr lang="en-US" sz="1200" dirty="0"/>
              <a:t>They measured how useful their software was based on comparisons to other software's, in every stat, BYTE and Byte track beat the other software’s.</a:t>
            </a:r>
          </a:p>
        </p:txBody>
      </p:sp>
      <p:sp>
        <p:nvSpPr>
          <p:cNvPr id="21" name="Text 18"/>
          <p:cNvSpPr/>
          <p:nvPr/>
        </p:nvSpPr>
        <p:spPr>
          <a:xfrm>
            <a:off x="365760" y="3794760"/>
            <a:ext cx="8412480" cy="274320"/>
          </a:xfrm>
          <a:prstGeom prst="rect">
            <a:avLst/>
          </a:prstGeom>
          <a:noFill/>
          <a:ln/>
        </p:spPr>
        <p:txBody>
          <a:bodyPr wrap="square" lIns="0" tIns="0" rIns="0" bIns="0" rtlCol="0" anchor="ctr"/>
          <a:lstStyle/>
          <a:p>
            <a:pPr marL="0" indent="0">
              <a:buNone/>
            </a:pPr>
            <a:r>
              <a:rPr lang="en-US" sz="1600" dirty="0" err="1"/>
              <a:t>Tracklet</a:t>
            </a:r>
            <a:r>
              <a:rPr lang="en-US" sz="1600" dirty="0"/>
              <a:t> Interpolation</a:t>
            </a:r>
          </a:p>
        </p:txBody>
      </p:sp>
      <p:sp>
        <p:nvSpPr>
          <p:cNvPr id="22" name="Shape 19"/>
          <p:cNvSpPr/>
          <p:nvPr/>
        </p:nvSpPr>
        <p:spPr>
          <a:xfrm>
            <a:off x="365760" y="4096512"/>
            <a:ext cx="8412480" cy="685800"/>
          </a:xfrm>
          <a:prstGeom prst="rect">
            <a:avLst/>
          </a:prstGeom>
          <a:solidFill>
            <a:srgbClr val="D6E4F0"/>
          </a:solidFill>
          <a:ln w="12700">
            <a:solidFill>
              <a:srgbClr val="CCDDEE"/>
            </a:solidFill>
            <a:prstDash val="solid"/>
          </a:ln>
        </p:spPr>
        <p:txBody>
          <a:bodyPr/>
          <a:lstStyle/>
          <a:p>
            <a:endParaRPr lang="en-US"/>
          </a:p>
        </p:txBody>
      </p:sp>
      <p:sp>
        <p:nvSpPr>
          <p:cNvPr id="23" name="Text 20"/>
          <p:cNvSpPr/>
          <p:nvPr/>
        </p:nvSpPr>
        <p:spPr>
          <a:xfrm>
            <a:off x="502920" y="4096512"/>
            <a:ext cx="8138160" cy="685800"/>
          </a:xfrm>
          <a:prstGeom prst="rect">
            <a:avLst/>
          </a:prstGeom>
          <a:noFill/>
          <a:ln/>
        </p:spPr>
        <p:txBody>
          <a:bodyPr wrap="square" lIns="0" tIns="0" rIns="0" bIns="0" rtlCol="0" anchor="ctr"/>
          <a:lstStyle/>
          <a:p>
            <a:r>
              <a:rPr lang="en-US" sz="1400" dirty="0"/>
              <a:t>a crucial post-processing technique in computer vision and multi-object tracking (MOT) used to reconstruct the trajectory of an object during brief periods when it is completely occluded or missed by the object</a:t>
            </a:r>
            <a:endParaRPr lang="en-US" sz="1300" dirty="0"/>
          </a:p>
        </p:txBody>
      </p:sp>
      <p:sp>
        <p:nvSpPr>
          <p:cNvPr id="24" name="Shape 21"/>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5" name="Text 22"/>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6" name="Text 23"/>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3 / 7</a:t>
            </a:r>
            <a:endParaRPr lang="en-US" sz="900" dirty="0"/>
          </a:p>
        </p:txBody>
      </p:sp>
      <p:pic>
        <p:nvPicPr>
          <p:cNvPr id="28" name="Picture 27">
            <a:extLst>
              <a:ext uri="{FF2B5EF4-FFF2-40B4-BE49-F238E27FC236}">
                <a16:creationId xmlns:a16="http://schemas.microsoft.com/office/drawing/2014/main" id="{78557720-F2C0-5803-9FF7-F5E780BE6A58}"/>
              </a:ext>
            </a:extLst>
          </p:cNvPr>
          <p:cNvPicPr>
            <a:picLocks noChangeAspect="1"/>
          </p:cNvPicPr>
          <p:nvPr/>
        </p:nvPicPr>
        <p:blipFill>
          <a:blip r:embed="rId4"/>
          <a:stretch>
            <a:fillRect/>
          </a:stretch>
        </p:blipFill>
        <p:spPr>
          <a:xfrm>
            <a:off x="1999622" y="4782312"/>
            <a:ext cx="5544457" cy="16647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Key Finding or Result</a:t>
            </a:r>
            <a:endParaRPr lang="en-US" sz="2600" dirty="0"/>
          </a:p>
        </p:txBody>
      </p:sp>
      <p:sp>
        <p:nvSpPr>
          <p:cNvPr id="8" name="Text 5"/>
          <p:cNvSpPr/>
          <p:nvPr/>
        </p:nvSpPr>
        <p:spPr>
          <a:xfrm>
            <a:off x="365760" y="1234440"/>
            <a:ext cx="8412480" cy="274320"/>
          </a:xfrm>
          <a:prstGeom prst="rect">
            <a:avLst/>
          </a:prstGeom>
          <a:noFill/>
          <a:ln/>
        </p:spPr>
        <p:txBody>
          <a:bodyPr wrap="square" lIns="0" tIns="0" rIns="0" bIns="0" rtlCol="0" anchor="ctr"/>
          <a:lstStyle/>
          <a:p>
            <a:pPr marL="0" indent="0" algn="l">
              <a:buNone/>
            </a:pPr>
            <a:r>
              <a:rPr lang="en-US" sz="1100" i="1" dirty="0">
                <a:solidFill>
                  <a:srgbClr val="666666"/>
                </a:solidFill>
                <a:latin typeface="Calibri" pitchFamily="34" charset="0"/>
                <a:ea typeface="Calibri" pitchFamily="34" charset="-122"/>
                <a:cs typeface="Calibri" pitchFamily="34" charset="-120"/>
              </a:rPr>
              <a:t>The single most important thing the paper found or demonstrated.</a:t>
            </a:r>
            <a:endParaRPr lang="en-US" sz="1100" dirty="0"/>
          </a:p>
        </p:txBody>
      </p:sp>
      <p:sp>
        <p:nvSpPr>
          <p:cNvPr id="9" name="Shape 6"/>
          <p:cNvSpPr/>
          <p:nvPr/>
        </p:nvSpPr>
        <p:spPr>
          <a:xfrm>
            <a:off x="365760" y="1600200"/>
            <a:ext cx="8412480" cy="1737360"/>
          </a:xfrm>
          <a:prstGeom prst="rect">
            <a:avLst/>
          </a:prstGeom>
          <a:solidFill>
            <a:srgbClr val="F7F7F7"/>
          </a:solidFill>
          <a:ln w="12700">
            <a:solidFill>
              <a:srgbClr val="E8E8E8"/>
            </a:solidFill>
            <a:prstDash val="solid"/>
          </a:ln>
        </p:spPr>
        <p:txBody>
          <a:bodyPr/>
          <a:lstStyle/>
          <a:p>
            <a:endParaRPr lang="en-US"/>
          </a:p>
        </p:txBody>
      </p:sp>
      <p:sp>
        <p:nvSpPr>
          <p:cNvPr id="10" name="Shape 7"/>
          <p:cNvSpPr/>
          <p:nvPr/>
        </p:nvSpPr>
        <p:spPr>
          <a:xfrm>
            <a:off x="365760" y="1600200"/>
            <a:ext cx="64008" cy="173736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45920"/>
            <a:ext cx="7315200" cy="274320"/>
          </a:xfrm>
          <a:prstGeom prst="rect">
            <a:avLst/>
          </a:prstGeom>
          <a:noFill/>
          <a:ln/>
        </p:spPr>
        <p:txBody>
          <a:bodyPr wrap="square" lIns="0" tIns="0" rIns="0" bIns="0" rtlCol="0" anchor="ctr"/>
          <a:lstStyle/>
          <a:p>
            <a:pPr marL="0" indent="0" algn="l">
              <a:buNone/>
            </a:pPr>
            <a:r>
              <a:rPr lang="en-US" sz="1000" b="1" kern="0" spc="200" dirty="0">
                <a:solidFill>
                  <a:srgbClr val="C8102E"/>
                </a:solidFill>
                <a:latin typeface="Calibri" pitchFamily="34" charset="0"/>
                <a:ea typeface="Calibri" pitchFamily="34" charset="-122"/>
                <a:cs typeface="Calibri" pitchFamily="34" charset="-120"/>
              </a:rPr>
              <a:t>★  Main finding</a:t>
            </a:r>
            <a:endParaRPr lang="en-US" sz="1000" dirty="0"/>
          </a:p>
        </p:txBody>
      </p:sp>
      <p:sp>
        <p:nvSpPr>
          <p:cNvPr id="12" name="Text 9"/>
          <p:cNvSpPr/>
          <p:nvPr/>
        </p:nvSpPr>
        <p:spPr>
          <a:xfrm>
            <a:off x="594360" y="1965960"/>
            <a:ext cx="8046720" cy="1280160"/>
          </a:xfrm>
          <a:prstGeom prst="rect">
            <a:avLst/>
          </a:prstGeom>
          <a:noFill/>
          <a:ln/>
        </p:spPr>
        <p:txBody>
          <a:bodyPr wrap="square" lIns="0" tIns="0" rIns="0" bIns="0" rtlCol="0" anchor="t"/>
          <a:lstStyle/>
          <a:p>
            <a:r>
              <a:rPr lang="en-US" sz="1200" dirty="0"/>
              <a:t>In this paper </a:t>
            </a:r>
            <a:r>
              <a:rPr lang="en-US" sz="1200" dirty="0" err="1"/>
              <a:t>Bytetrack</a:t>
            </a:r>
            <a:r>
              <a:rPr lang="en-US" sz="1200" dirty="0"/>
              <a:t> is shown to be the best software available, however, assumes that even when an object is heavily occluded, the object detector will </a:t>
            </a:r>
            <a:r>
              <a:rPr lang="en-US" sz="1200" i="1" dirty="0"/>
              <a:t>still</a:t>
            </a:r>
            <a:r>
              <a:rPr lang="en-US" sz="1200" dirty="0"/>
              <a:t> generate a bounding box (even if it has a very low confidence score). If an object is completely hidden and the detector outputs absolutely nothing (0.0 confidence), </a:t>
            </a:r>
            <a:r>
              <a:rPr lang="en-US" sz="1200" dirty="0" err="1"/>
              <a:t>ByteTrack</a:t>
            </a:r>
            <a:r>
              <a:rPr lang="en-US" sz="1200" dirty="0"/>
              <a:t> has no low-score box to "rescue," and the track will break. This paper fails to test non-linear and unpredictable movements and as a result, BYTE doesn’t know where to find the object if the object moves in a non-linear fashion and will struggle to fix it. </a:t>
            </a:r>
          </a:p>
        </p:txBody>
      </p:sp>
      <p:sp>
        <p:nvSpPr>
          <p:cNvPr id="13" name="Shape 10"/>
          <p:cNvSpPr/>
          <p:nvPr/>
        </p:nvSpPr>
        <p:spPr>
          <a:xfrm>
            <a:off x="365760" y="3429000"/>
            <a:ext cx="4069080" cy="1371600"/>
          </a:xfrm>
          <a:prstGeom prst="rect">
            <a:avLst/>
          </a:prstGeom>
          <a:solidFill>
            <a:srgbClr val="D6E4F0"/>
          </a:solidFill>
          <a:ln w="12700">
            <a:solidFill>
              <a:srgbClr val="BBCCDD"/>
            </a:solidFill>
            <a:prstDash val="solid"/>
          </a:ln>
        </p:spPr>
        <p:txBody>
          <a:bodyPr/>
          <a:lstStyle/>
          <a:p>
            <a:endParaRPr lang="en-US"/>
          </a:p>
        </p:txBody>
      </p:sp>
      <p:sp>
        <p:nvSpPr>
          <p:cNvPr id="14" name="Text 11"/>
          <p:cNvSpPr/>
          <p:nvPr/>
        </p:nvSpPr>
        <p:spPr>
          <a:xfrm>
            <a:off x="475488" y="3474720"/>
            <a:ext cx="3749040" cy="274320"/>
          </a:xfrm>
          <a:prstGeom prst="rect">
            <a:avLst/>
          </a:prstGeom>
          <a:noFill/>
          <a:ln/>
        </p:spPr>
        <p:txBody>
          <a:bodyPr wrap="square" lIns="0" tIns="0" rIns="0" bIns="0" rtlCol="0" anchor="ctr"/>
          <a:lstStyle/>
          <a:p>
            <a:pPr marL="0" indent="0">
              <a:buNone/>
            </a:pPr>
            <a:r>
              <a:rPr lang="en-US" sz="1000" b="1" kern="0" spc="100" dirty="0">
                <a:solidFill>
                  <a:srgbClr val="1A3A5C"/>
                </a:solidFill>
                <a:latin typeface="Calibri" pitchFamily="34" charset="0"/>
                <a:ea typeface="Calibri" pitchFamily="34" charset="-122"/>
                <a:cs typeface="Calibri" pitchFamily="34" charset="-120"/>
              </a:rPr>
              <a:t>Supporting result 1</a:t>
            </a:r>
            <a:endParaRPr lang="en-US" sz="1000" dirty="0"/>
          </a:p>
        </p:txBody>
      </p:sp>
      <p:sp>
        <p:nvSpPr>
          <p:cNvPr id="15" name="Text 12"/>
          <p:cNvSpPr/>
          <p:nvPr/>
        </p:nvSpPr>
        <p:spPr>
          <a:xfrm>
            <a:off x="475488" y="3794760"/>
            <a:ext cx="3749040" cy="914400"/>
          </a:xfrm>
          <a:prstGeom prst="rect">
            <a:avLst/>
          </a:prstGeom>
          <a:noFill/>
          <a:ln/>
        </p:spPr>
        <p:txBody>
          <a:bodyPr wrap="square" lIns="0" tIns="0" rIns="0" bIns="0" rtlCol="0" anchor="t"/>
          <a:lstStyle/>
          <a:p>
            <a:pPr marL="0" indent="0" algn="l">
              <a:buNone/>
            </a:pPr>
            <a:r>
              <a:rPr lang="en-US" sz="1200" dirty="0"/>
              <a:t>In the paper it talks about </a:t>
            </a:r>
            <a:r>
              <a:rPr lang="en-US" sz="1200" dirty="0" err="1"/>
              <a:t>tracklet</a:t>
            </a:r>
            <a:r>
              <a:rPr lang="en-US" sz="1200" dirty="0"/>
              <a:t> interpolation, I explained what it was in the last slide. This supports how BYTE has its flaws but it is still the best software out there, if BYTE added </a:t>
            </a:r>
            <a:r>
              <a:rPr lang="en-US" sz="1200" dirty="0" err="1"/>
              <a:t>tracklet</a:t>
            </a:r>
            <a:r>
              <a:rPr lang="en-US" sz="1200" dirty="0"/>
              <a:t> interpolation it would have no competition.</a:t>
            </a:r>
          </a:p>
        </p:txBody>
      </p:sp>
      <p:sp>
        <p:nvSpPr>
          <p:cNvPr id="16" name="Shape 13"/>
          <p:cNvSpPr/>
          <p:nvPr/>
        </p:nvSpPr>
        <p:spPr>
          <a:xfrm>
            <a:off x="4617720" y="3429000"/>
            <a:ext cx="4069080" cy="1371600"/>
          </a:xfrm>
          <a:prstGeom prst="rect">
            <a:avLst/>
          </a:prstGeom>
          <a:solidFill>
            <a:srgbClr val="D6E4F0"/>
          </a:solidFill>
          <a:ln w="12700">
            <a:solidFill>
              <a:srgbClr val="BBCCDD"/>
            </a:solidFill>
            <a:prstDash val="solid"/>
          </a:ln>
        </p:spPr>
        <p:txBody>
          <a:bodyPr/>
          <a:lstStyle/>
          <a:p>
            <a:endParaRPr lang="en-US"/>
          </a:p>
        </p:txBody>
      </p:sp>
      <p:sp>
        <p:nvSpPr>
          <p:cNvPr id="17" name="Text 14"/>
          <p:cNvSpPr/>
          <p:nvPr/>
        </p:nvSpPr>
        <p:spPr>
          <a:xfrm>
            <a:off x="4727448" y="3474720"/>
            <a:ext cx="3749040" cy="274320"/>
          </a:xfrm>
          <a:prstGeom prst="rect">
            <a:avLst/>
          </a:prstGeom>
          <a:noFill/>
          <a:ln/>
        </p:spPr>
        <p:txBody>
          <a:bodyPr wrap="square" lIns="0" tIns="0" rIns="0" bIns="0" rtlCol="0" anchor="ctr"/>
          <a:lstStyle/>
          <a:p>
            <a:pPr marL="0" indent="0">
              <a:buNone/>
            </a:pPr>
            <a:r>
              <a:rPr lang="en-US" sz="1000" b="1" kern="0" spc="100" dirty="0">
                <a:solidFill>
                  <a:srgbClr val="1A3A5C"/>
                </a:solidFill>
                <a:latin typeface="Calibri" pitchFamily="34" charset="0"/>
                <a:ea typeface="Calibri" pitchFamily="34" charset="-122"/>
                <a:cs typeface="Calibri" pitchFamily="34" charset="-120"/>
              </a:rPr>
              <a:t>Supporting result 2</a:t>
            </a:r>
            <a:endParaRPr lang="en-US" sz="1000" dirty="0"/>
          </a:p>
        </p:txBody>
      </p:sp>
      <p:sp>
        <p:nvSpPr>
          <p:cNvPr id="18" name="Text 15"/>
          <p:cNvSpPr/>
          <p:nvPr/>
        </p:nvSpPr>
        <p:spPr>
          <a:xfrm>
            <a:off x="4727448" y="3794760"/>
            <a:ext cx="3749040" cy="914400"/>
          </a:xfrm>
          <a:prstGeom prst="rect">
            <a:avLst/>
          </a:prstGeom>
          <a:noFill/>
          <a:ln/>
        </p:spPr>
        <p:txBody>
          <a:bodyPr wrap="square" lIns="0" tIns="0" rIns="0" bIns="0" rtlCol="0" anchor="t"/>
          <a:lstStyle/>
          <a:p>
            <a:pPr marL="0" indent="0" algn="l">
              <a:buNone/>
            </a:pPr>
            <a:endParaRPr lang="en-US" sz="1200" dirty="0"/>
          </a:p>
        </p:txBody>
      </p:sp>
      <p:sp>
        <p:nvSpPr>
          <p:cNvPr id="19" name="Shape 16"/>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0" name="Text 17"/>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1" name="Text 18"/>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4 / 7</a:t>
            </a:r>
            <a:endParaRPr lang="en-US" sz="900" dirty="0"/>
          </a:p>
        </p:txBody>
      </p:sp>
      <p:pic>
        <p:nvPicPr>
          <p:cNvPr id="23" name="Picture 22">
            <a:extLst>
              <a:ext uri="{FF2B5EF4-FFF2-40B4-BE49-F238E27FC236}">
                <a16:creationId xmlns:a16="http://schemas.microsoft.com/office/drawing/2014/main" id="{92387A8C-1A2F-CE38-D5D5-A0ED4B752708}"/>
              </a:ext>
            </a:extLst>
          </p:cNvPr>
          <p:cNvPicPr>
            <a:picLocks noChangeAspect="1"/>
          </p:cNvPicPr>
          <p:nvPr/>
        </p:nvPicPr>
        <p:blipFill>
          <a:blip r:embed="rId4"/>
          <a:stretch>
            <a:fillRect/>
          </a:stretch>
        </p:blipFill>
        <p:spPr>
          <a:xfrm>
            <a:off x="4544568" y="3383280"/>
            <a:ext cx="4160520" cy="2589619"/>
          </a:xfrm>
          <a:prstGeom prst="rect">
            <a:avLst/>
          </a:prstGeom>
        </p:spPr>
      </p:pic>
      <p:sp>
        <p:nvSpPr>
          <p:cNvPr id="27" name="Rectangle 3">
            <a:extLst>
              <a:ext uri="{FF2B5EF4-FFF2-40B4-BE49-F238E27FC236}">
                <a16:creationId xmlns:a16="http://schemas.microsoft.com/office/drawing/2014/main" id="{7B3E8E5B-557A-6A78-4733-53E1FB0B5CF9}"/>
              </a:ext>
            </a:extLst>
          </p:cNvPr>
          <p:cNvSpPr>
            <a:spLocks noChangeArrowheads="1"/>
          </p:cNvSpPr>
          <p:nvPr/>
        </p:nvSpPr>
        <p:spPr bwMode="auto">
          <a:xfrm>
            <a:off x="8586216" y="3461325"/>
            <a:ext cx="293432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MOTA:</a:t>
            </a:r>
            <a:r>
              <a:rPr kumimoji="0" lang="en-US" altLang="en-US" sz="1200" b="0" i="0" u="none" strike="noStrike" cap="none" normalizeH="0" baseline="0" dirty="0">
                <a:ln>
                  <a:noFill/>
                </a:ln>
                <a:solidFill>
                  <a:schemeClr val="tx1"/>
                </a:solidFill>
                <a:effectLst/>
                <a:latin typeface="Arial" panose="020B0604020202020204" pitchFamily="34" charset="0"/>
              </a:rPr>
              <a:t> Multi-Object Tracking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IDF1:</a:t>
            </a:r>
            <a:r>
              <a:rPr kumimoji="0" lang="en-US" altLang="en-US" sz="1200" b="0" i="0" u="none" strike="noStrike" cap="none" normalizeH="0" baseline="0" dirty="0">
                <a:ln>
                  <a:noFill/>
                </a:ln>
                <a:solidFill>
                  <a:schemeClr val="tx1"/>
                </a:solidFill>
                <a:effectLst/>
                <a:latin typeface="Arial" panose="020B0604020202020204" pitchFamily="34" charset="0"/>
              </a:rPr>
              <a:t> ID F1 Score (Identity F1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HOTA:</a:t>
            </a:r>
            <a:r>
              <a:rPr kumimoji="0" lang="en-US" altLang="en-US" sz="1200" b="0" i="0" u="none" strike="noStrike" cap="none" normalizeH="0" baseline="0" dirty="0">
                <a:ln>
                  <a:noFill/>
                </a:ln>
                <a:solidFill>
                  <a:schemeClr val="tx1"/>
                </a:solidFill>
                <a:effectLst/>
                <a:latin typeface="Arial" panose="020B0604020202020204" pitchFamily="34" charset="0"/>
              </a:rPr>
              <a:t> Higher Order Tracking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FP:</a:t>
            </a:r>
            <a:r>
              <a:rPr kumimoji="0" lang="en-US" altLang="en-US" sz="1200" b="0" i="0" u="none" strike="noStrike" cap="none" normalizeH="0" baseline="0" dirty="0">
                <a:ln>
                  <a:noFill/>
                </a:ln>
                <a:solidFill>
                  <a:schemeClr val="tx1"/>
                </a:solidFill>
                <a:effectLst/>
                <a:latin typeface="Arial" panose="020B0604020202020204" pitchFamily="34" charset="0"/>
              </a:rPr>
              <a:t> False Positives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FN:</a:t>
            </a:r>
            <a:r>
              <a:rPr kumimoji="0" lang="en-US" altLang="en-US" sz="1200" b="0" i="0" u="none" strike="noStrike" cap="none" normalizeH="0" baseline="0" dirty="0">
                <a:ln>
                  <a:noFill/>
                </a:ln>
                <a:solidFill>
                  <a:schemeClr val="tx1"/>
                </a:solidFill>
                <a:effectLst/>
                <a:latin typeface="Arial" panose="020B0604020202020204" pitchFamily="34" charset="0"/>
              </a:rPr>
              <a:t> False Negatives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IDs:</a:t>
            </a:r>
            <a:r>
              <a:rPr kumimoji="0" lang="en-US" altLang="en-US" sz="1200" b="0" i="0" u="none" strike="noStrike" cap="none" normalizeH="0" baseline="0" dirty="0">
                <a:ln>
                  <a:noFill/>
                </a:ln>
                <a:solidFill>
                  <a:schemeClr val="tx1"/>
                </a:solidFill>
                <a:effectLst/>
                <a:latin typeface="Arial" panose="020B0604020202020204" pitchFamily="34" charset="0"/>
              </a:rPr>
              <a:t> Identity Switches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FPS:</a:t>
            </a:r>
            <a:r>
              <a:rPr kumimoji="0" lang="en-US" altLang="en-US" sz="1200" b="0" i="0" u="none" strike="noStrike" cap="none" normalizeH="0" baseline="0" dirty="0">
                <a:ln>
                  <a:noFill/>
                </a:ln>
                <a:solidFill>
                  <a:schemeClr val="tx1"/>
                </a:solidFill>
                <a:effectLst/>
                <a:latin typeface="Arial" panose="020B0604020202020204" pitchFamily="34" charset="0"/>
              </a:rPr>
              <a:t> Frames Per Second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Limitation or Open Question</a:t>
            </a:r>
            <a:endParaRPr lang="en-US" sz="2600" dirty="0"/>
          </a:p>
        </p:txBody>
      </p:sp>
      <p:sp>
        <p:nvSpPr>
          <p:cNvPr id="8" name="Text 5"/>
          <p:cNvSpPr/>
          <p:nvPr/>
        </p:nvSpPr>
        <p:spPr>
          <a:xfrm>
            <a:off x="365760" y="1234440"/>
            <a:ext cx="8412480" cy="274320"/>
          </a:xfrm>
          <a:prstGeom prst="rect">
            <a:avLst/>
          </a:prstGeom>
          <a:noFill/>
          <a:ln/>
        </p:spPr>
        <p:txBody>
          <a:bodyPr wrap="square" lIns="0" tIns="0" rIns="0" bIns="0" rtlCol="0" anchor="ctr"/>
          <a:lstStyle/>
          <a:p>
            <a:pPr marL="0" indent="0" algn="l">
              <a:buNone/>
            </a:pPr>
            <a:r>
              <a:rPr lang="en-US" sz="1100" i="1" dirty="0">
                <a:solidFill>
                  <a:srgbClr val="666666"/>
                </a:solidFill>
                <a:latin typeface="Calibri" pitchFamily="34" charset="0"/>
                <a:ea typeface="Calibri" pitchFamily="34" charset="-122"/>
                <a:cs typeface="Calibri" pitchFamily="34" charset="-120"/>
              </a:rPr>
              <a:t>What does this paper leave unsolved? What are you skeptical of?</a:t>
            </a:r>
            <a:endParaRPr lang="en-US" sz="1100" dirty="0"/>
          </a:p>
        </p:txBody>
      </p:sp>
      <p:sp>
        <p:nvSpPr>
          <p:cNvPr id="9" name="Shape 6"/>
          <p:cNvSpPr/>
          <p:nvPr/>
        </p:nvSpPr>
        <p:spPr>
          <a:xfrm>
            <a:off x="365760"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0" name="Text 7"/>
          <p:cNvSpPr/>
          <p:nvPr/>
        </p:nvSpPr>
        <p:spPr>
          <a:xfrm>
            <a:off x="365760"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it leaves unsolved</a:t>
            </a:r>
            <a:endParaRPr lang="en-US" sz="1100" dirty="0"/>
          </a:p>
        </p:txBody>
      </p:sp>
      <p:sp>
        <p:nvSpPr>
          <p:cNvPr id="11" name="Shape 8"/>
          <p:cNvSpPr/>
          <p:nvPr/>
        </p:nvSpPr>
        <p:spPr>
          <a:xfrm>
            <a:off x="365760" y="1993392"/>
            <a:ext cx="2651760" cy="1828800"/>
          </a:xfrm>
          <a:prstGeom prst="rect">
            <a:avLst/>
          </a:prstGeom>
          <a:solidFill>
            <a:srgbClr val="FFF3E0"/>
          </a:solidFill>
          <a:ln w="12700">
            <a:solidFill>
              <a:srgbClr val="FFCC80"/>
            </a:solidFill>
            <a:prstDash val="solid"/>
          </a:ln>
        </p:spPr>
        <p:txBody>
          <a:bodyPr/>
          <a:lstStyle/>
          <a:p>
            <a:endParaRPr lang="en-US"/>
          </a:p>
        </p:txBody>
      </p:sp>
      <p:sp>
        <p:nvSpPr>
          <p:cNvPr id="12" name="Text 9"/>
          <p:cNvSpPr/>
          <p:nvPr/>
        </p:nvSpPr>
        <p:spPr>
          <a:xfrm>
            <a:off x="457200" y="2084832"/>
            <a:ext cx="2468880" cy="1645920"/>
          </a:xfrm>
          <a:prstGeom prst="rect">
            <a:avLst/>
          </a:prstGeom>
          <a:noFill/>
          <a:ln/>
        </p:spPr>
        <p:txBody>
          <a:bodyPr wrap="square" lIns="0" tIns="0" rIns="0" bIns="0" rtlCol="0" anchor="t"/>
          <a:lstStyle/>
          <a:p>
            <a:pPr marL="0" indent="0" algn="l">
              <a:buNone/>
            </a:pPr>
            <a:endParaRPr lang="en-US" sz="1200" dirty="0"/>
          </a:p>
        </p:txBody>
      </p:sp>
      <p:sp>
        <p:nvSpPr>
          <p:cNvPr id="13" name="Shape 10"/>
          <p:cNvSpPr/>
          <p:nvPr/>
        </p:nvSpPr>
        <p:spPr>
          <a:xfrm>
            <a:off x="3172968"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4" name="Text 11"/>
          <p:cNvSpPr/>
          <p:nvPr/>
        </p:nvSpPr>
        <p:spPr>
          <a:xfrm>
            <a:off x="3172968"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you are skeptical of</a:t>
            </a:r>
            <a:endParaRPr lang="en-US" sz="1100" dirty="0"/>
          </a:p>
        </p:txBody>
      </p:sp>
      <p:sp>
        <p:nvSpPr>
          <p:cNvPr id="15" name="Shape 12"/>
          <p:cNvSpPr/>
          <p:nvPr/>
        </p:nvSpPr>
        <p:spPr>
          <a:xfrm>
            <a:off x="3172968" y="1993392"/>
            <a:ext cx="2651760" cy="1828800"/>
          </a:xfrm>
          <a:prstGeom prst="rect">
            <a:avLst/>
          </a:prstGeom>
          <a:solidFill>
            <a:srgbClr val="FFEBEE"/>
          </a:solidFill>
          <a:ln w="12700">
            <a:solidFill>
              <a:srgbClr val="FFCDD2"/>
            </a:solidFill>
            <a:prstDash val="solid"/>
          </a:ln>
        </p:spPr>
        <p:txBody>
          <a:bodyPr/>
          <a:lstStyle/>
          <a:p>
            <a:endParaRPr lang="en-US"/>
          </a:p>
        </p:txBody>
      </p:sp>
      <p:sp>
        <p:nvSpPr>
          <p:cNvPr id="16" name="Text 13"/>
          <p:cNvSpPr/>
          <p:nvPr/>
        </p:nvSpPr>
        <p:spPr>
          <a:xfrm>
            <a:off x="3264408" y="2084832"/>
            <a:ext cx="2468880" cy="1645920"/>
          </a:xfrm>
          <a:prstGeom prst="rect">
            <a:avLst/>
          </a:prstGeom>
          <a:noFill/>
          <a:ln/>
        </p:spPr>
        <p:txBody>
          <a:bodyPr wrap="square" lIns="0" tIns="0" rIns="0" bIns="0" rtlCol="0" anchor="t"/>
          <a:lstStyle/>
          <a:p>
            <a:pPr marL="0" indent="0" algn="l">
              <a:buNone/>
            </a:pPr>
            <a:endParaRPr lang="en-US" sz="1200" dirty="0"/>
          </a:p>
        </p:txBody>
      </p:sp>
      <p:sp>
        <p:nvSpPr>
          <p:cNvPr id="17" name="Shape 14"/>
          <p:cNvSpPr/>
          <p:nvPr/>
        </p:nvSpPr>
        <p:spPr>
          <a:xfrm>
            <a:off x="5980176"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8" name="Text 15"/>
          <p:cNvSpPr/>
          <p:nvPr/>
        </p:nvSpPr>
        <p:spPr>
          <a:xfrm>
            <a:off x="5980176"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question it raises for us</a:t>
            </a:r>
            <a:endParaRPr lang="en-US" sz="1100" dirty="0"/>
          </a:p>
        </p:txBody>
      </p:sp>
      <p:sp>
        <p:nvSpPr>
          <p:cNvPr id="19" name="Shape 16"/>
          <p:cNvSpPr/>
          <p:nvPr/>
        </p:nvSpPr>
        <p:spPr>
          <a:xfrm>
            <a:off x="5980176" y="1993392"/>
            <a:ext cx="2651760" cy="1828800"/>
          </a:xfrm>
          <a:prstGeom prst="rect">
            <a:avLst/>
          </a:prstGeom>
          <a:solidFill>
            <a:srgbClr val="D6E4F0"/>
          </a:solidFill>
          <a:ln w="12700">
            <a:solidFill>
              <a:srgbClr val="BBCCDD"/>
            </a:solidFill>
            <a:prstDash val="solid"/>
          </a:ln>
        </p:spPr>
        <p:txBody>
          <a:bodyPr/>
          <a:lstStyle/>
          <a:p>
            <a:endParaRPr lang="en-US"/>
          </a:p>
        </p:txBody>
      </p:sp>
      <p:sp>
        <p:nvSpPr>
          <p:cNvPr id="20" name="Text 17"/>
          <p:cNvSpPr/>
          <p:nvPr/>
        </p:nvSpPr>
        <p:spPr>
          <a:xfrm>
            <a:off x="6071616" y="2084832"/>
            <a:ext cx="2468880" cy="1645920"/>
          </a:xfrm>
          <a:prstGeom prst="rect">
            <a:avLst/>
          </a:prstGeom>
          <a:noFill/>
          <a:ln/>
        </p:spPr>
        <p:txBody>
          <a:bodyPr wrap="square" lIns="0" tIns="0" rIns="0" bIns="0" rtlCol="0" anchor="t"/>
          <a:lstStyle/>
          <a:p>
            <a:pPr marL="0" indent="0" algn="l">
              <a:buNone/>
            </a:pPr>
            <a:endParaRPr lang="en-US" sz="1200" dirty="0"/>
          </a:p>
        </p:txBody>
      </p:sp>
      <p:sp>
        <p:nvSpPr>
          <p:cNvPr id="21" name="Shape 18"/>
          <p:cNvSpPr/>
          <p:nvPr/>
        </p:nvSpPr>
        <p:spPr>
          <a:xfrm>
            <a:off x="365760" y="3931920"/>
            <a:ext cx="8412480" cy="777240"/>
          </a:xfrm>
          <a:prstGeom prst="rect">
            <a:avLst/>
          </a:prstGeom>
          <a:solidFill>
            <a:srgbClr val="2B2B2B"/>
          </a:solidFill>
          <a:ln w="12700">
            <a:solidFill>
              <a:srgbClr val="2B2B2B"/>
            </a:solidFill>
            <a:prstDash val="solid"/>
          </a:ln>
        </p:spPr>
        <p:txBody>
          <a:bodyPr/>
          <a:lstStyle/>
          <a:p>
            <a:endParaRPr lang="en-US"/>
          </a:p>
        </p:txBody>
      </p:sp>
      <p:sp>
        <p:nvSpPr>
          <p:cNvPr id="22" name="Text 19"/>
          <p:cNvSpPr/>
          <p:nvPr/>
        </p:nvSpPr>
        <p:spPr>
          <a:xfrm>
            <a:off x="548640" y="3931920"/>
            <a:ext cx="8046720" cy="777240"/>
          </a:xfrm>
          <a:prstGeom prst="rect">
            <a:avLst/>
          </a:prstGeom>
          <a:noFill/>
          <a:ln/>
        </p:spPr>
        <p:txBody>
          <a:bodyPr wrap="square" lIns="0" tIns="0" rIns="0" bIns="0" rtlCol="0" anchor="ctr"/>
          <a:lstStyle/>
          <a:p>
            <a:pPr marL="0" indent="0" algn="l">
              <a:buNone/>
            </a:pPr>
            <a:r>
              <a:rPr lang="en-US" sz="1200" dirty="0">
                <a:solidFill>
                  <a:schemeClr val="bg1"/>
                </a:solidFill>
              </a:rPr>
              <a:t>Could you figure out if data was poisoned in real time?</a:t>
            </a:r>
          </a:p>
        </p:txBody>
      </p:sp>
      <p:sp>
        <p:nvSpPr>
          <p:cNvPr id="23" name="Shape 20"/>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4" name="Text 21"/>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5" name="Text 22"/>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5 / 7</a:t>
            </a:r>
            <a:endParaRPr lang="en-US" sz="900" dirty="0"/>
          </a:p>
        </p:txBody>
      </p:sp>
      <p:sp>
        <p:nvSpPr>
          <p:cNvPr id="27" name="Rectangle 2">
            <a:extLst>
              <a:ext uri="{FF2B5EF4-FFF2-40B4-BE49-F238E27FC236}">
                <a16:creationId xmlns:a16="http://schemas.microsoft.com/office/drawing/2014/main" id="{94A02A95-93C1-270F-7FD4-DD2B448151B9}"/>
              </a:ext>
            </a:extLst>
          </p:cNvPr>
          <p:cNvSpPr>
            <a:spLocks noChangeArrowheads="1"/>
          </p:cNvSpPr>
          <p:nvPr/>
        </p:nvSpPr>
        <p:spPr bwMode="auto">
          <a:xfrm>
            <a:off x="365760" y="1993392"/>
            <a:ext cx="265176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Complex or Non-Linear Motion:</a:t>
            </a:r>
            <a:r>
              <a:rPr kumimoji="0" lang="en-US" altLang="en-US" sz="1200" b="0" i="0" u="none" strike="noStrike" cap="none" normalizeH="0" baseline="0" dirty="0">
                <a:ln>
                  <a:noFill/>
                </a:ln>
                <a:solidFill>
                  <a:schemeClr val="tx1"/>
                </a:solidFill>
                <a:effectLst/>
                <a:latin typeface="Arial" panose="020B0604020202020204" pitchFamily="34" charset="0"/>
              </a:rPr>
              <a:t> The system relies heavily on a linear Kalman Filter to estimate where objects move next. It struggles to handle complex, unpredictable, or sudden direction changes (e.g., erratic camera jitter, fast-moving athletes, or sports equipment).</a:t>
            </a:r>
          </a:p>
        </p:txBody>
      </p:sp>
      <p:sp>
        <p:nvSpPr>
          <p:cNvPr id="30" name="TextBox 29">
            <a:extLst>
              <a:ext uri="{FF2B5EF4-FFF2-40B4-BE49-F238E27FC236}">
                <a16:creationId xmlns:a16="http://schemas.microsoft.com/office/drawing/2014/main" id="{D7C366D6-7FC9-81D0-D8C5-8DFAA11C7830}"/>
              </a:ext>
            </a:extLst>
          </p:cNvPr>
          <p:cNvSpPr txBox="1"/>
          <p:nvPr/>
        </p:nvSpPr>
        <p:spPr>
          <a:xfrm>
            <a:off x="3153273" y="1969407"/>
            <a:ext cx="2691149" cy="1938992"/>
          </a:xfrm>
          <a:prstGeom prst="rect">
            <a:avLst/>
          </a:prstGeom>
          <a:noFill/>
        </p:spPr>
        <p:txBody>
          <a:bodyPr wrap="square">
            <a:spAutoFit/>
          </a:bodyPr>
          <a:lstStyle/>
          <a:p>
            <a:r>
              <a:rPr lang="en-US" sz="1200" b="1" dirty="0">
                <a:effectLst/>
                <a:latin typeface="Google Sans Text"/>
              </a:rPr>
              <a:t>Over-Reliance on the Detector:</a:t>
            </a:r>
            <a:r>
              <a:rPr lang="en-US" sz="1200" dirty="0"/>
              <a:t> The main claim is that the algorithm "rescues" low-confidence bounding boxes to maintain tracks. However, this assumes the object detector will always output </a:t>
            </a:r>
            <a:r>
              <a:rPr lang="en-US" sz="1200" i="1" dirty="0">
                <a:effectLst/>
                <a:latin typeface="Google Sans Text"/>
              </a:rPr>
              <a:t>some</a:t>
            </a:r>
            <a:r>
              <a:rPr lang="en-US" sz="1200" dirty="0"/>
              <a:t> box at an occluded spot. I am skeptical about how well this holds up in scenarios where severe lighting drops or complete camouflage drop detection scores down to absolute zero</a:t>
            </a:r>
          </a:p>
        </p:txBody>
      </p:sp>
      <p:sp>
        <p:nvSpPr>
          <p:cNvPr id="32" name="TextBox 31">
            <a:extLst>
              <a:ext uri="{FF2B5EF4-FFF2-40B4-BE49-F238E27FC236}">
                <a16:creationId xmlns:a16="http://schemas.microsoft.com/office/drawing/2014/main" id="{2C52BD8B-5059-1964-8D10-2203773FC3C9}"/>
              </a:ext>
            </a:extLst>
          </p:cNvPr>
          <p:cNvSpPr txBox="1"/>
          <p:nvPr/>
        </p:nvSpPr>
        <p:spPr>
          <a:xfrm>
            <a:off x="5949026" y="1969407"/>
            <a:ext cx="2651760" cy="1569660"/>
          </a:xfrm>
          <a:prstGeom prst="rect">
            <a:avLst/>
          </a:prstGeom>
          <a:noFill/>
        </p:spPr>
        <p:txBody>
          <a:bodyPr wrap="square">
            <a:spAutoFit/>
          </a:bodyPr>
          <a:lstStyle/>
          <a:p>
            <a:r>
              <a:rPr lang="en-US" sz="1200" b="1" dirty="0"/>
              <a:t>Downstream Multi-Camera Poisoning:</a:t>
            </a:r>
            <a:r>
              <a:rPr lang="en-US" sz="1200" dirty="0"/>
              <a:t> For our project focus, if </a:t>
            </a:r>
            <a:r>
              <a:rPr lang="en-US" sz="1200" dirty="0" err="1"/>
              <a:t>ByteTrack</a:t>
            </a:r>
            <a:r>
              <a:rPr lang="en-US" sz="1200" dirty="0"/>
              <a:t> creates false associations on a local camera feed, how severely does that corrupt data downstream? If this bad trajectory data is fed into a multi-camera tracking network, will it poison the global embedding space?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Connection to Our Project</a:t>
            </a:r>
            <a:endParaRPr lang="en-US" sz="2600" dirty="0"/>
          </a:p>
        </p:txBody>
      </p:sp>
      <p:sp>
        <p:nvSpPr>
          <p:cNvPr id="8" name="Text 5"/>
          <p:cNvSpPr/>
          <p:nvPr/>
        </p:nvSpPr>
        <p:spPr>
          <a:xfrm>
            <a:off x="365760" y="1234440"/>
            <a:ext cx="8412480" cy="320040"/>
          </a:xfrm>
          <a:prstGeom prst="rect">
            <a:avLst/>
          </a:prstGeom>
          <a:noFill/>
          <a:ln/>
        </p:spPr>
        <p:txBody>
          <a:bodyPr wrap="square" lIns="0" tIns="0" rIns="0" bIns="0" rtlCol="0" anchor="ctr"/>
          <a:lstStyle/>
          <a:p>
            <a:pPr marL="0" indent="0" algn="l">
              <a:buNone/>
            </a:pPr>
            <a:r>
              <a:rPr lang="en-US" sz="1100" i="1" dirty="0">
                <a:solidFill>
                  <a:srgbClr val="666666"/>
                </a:solidFill>
                <a:latin typeface="Calibri" pitchFamily="34" charset="0"/>
                <a:ea typeface="Calibri" pitchFamily="34" charset="-122"/>
                <a:cs typeface="Calibri" pitchFamily="34" charset="-120"/>
              </a:rPr>
              <a:t>How does this paper change how you think about embedding-space poisoning in multi-camera tracking?</a:t>
            </a:r>
            <a:endParaRPr lang="en-US" sz="1100" dirty="0"/>
          </a:p>
        </p:txBody>
      </p:sp>
      <p:sp>
        <p:nvSpPr>
          <p:cNvPr id="9" name="Shape 6"/>
          <p:cNvSpPr/>
          <p:nvPr/>
        </p:nvSpPr>
        <p:spPr>
          <a:xfrm>
            <a:off x="365760" y="1645920"/>
            <a:ext cx="8412480" cy="1828800"/>
          </a:xfrm>
          <a:prstGeom prst="rect">
            <a:avLst/>
          </a:prstGeom>
          <a:solidFill>
            <a:srgbClr val="2B2B2B"/>
          </a:solidFill>
          <a:ln w="12700">
            <a:solidFill>
              <a:srgbClr val="2B2B2B"/>
            </a:solidFill>
            <a:prstDash val="solid"/>
          </a:ln>
        </p:spPr>
        <p:txBody>
          <a:bodyPr/>
          <a:lstStyle/>
          <a:p>
            <a:endParaRPr lang="en-US"/>
          </a:p>
        </p:txBody>
      </p:sp>
      <p:sp>
        <p:nvSpPr>
          <p:cNvPr id="10" name="Shape 7"/>
          <p:cNvSpPr/>
          <p:nvPr/>
        </p:nvSpPr>
        <p:spPr>
          <a:xfrm>
            <a:off x="365760" y="1645920"/>
            <a:ext cx="64008" cy="182880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91640"/>
            <a:ext cx="7315200" cy="274320"/>
          </a:xfrm>
          <a:prstGeom prst="rect">
            <a:avLst/>
          </a:prstGeom>
          <a:noFill/>
          <a:ln/>
        </p:spPr>
        <p:txBody>
          <a:bodyPr wrap="square" lIns="0" tIns="0" rIns="0" bIns="0" rtlCol="0" anchor="ctr"/>
          <a:lstStyle/>
          <a:p>
            <a:pPr marL="0" indent="0">
              <a:buNone/>
            </a:pPr>
            <a:r>
              <a:rPr lang="en-US" sz="1000" b="1" kern="0" spc="200" dirty="0">
                <a:solidFill>
                  <a:srgbClr val="AAAAAA"/>
                </a:solidFill>
                <a:latin typeface="Calibri" pitchFamily="34" charset="0"/>
                <a:ea typeface="Calibri" pitchFamily="34" charset="-122"/>
                <a:cs typeface="Calibri" pitchFamily="34" charset="-120"/>
              </a:rPr>
              <a:t>How this paper connects to blindspot:</a:t>
            </a:r>
            <a:endParaRPr lang="en-US" sz="1000" dirty="0"/>
          </a:p>
        </p:txBody>
      </p:sp>
      <p:sp>
        <p:nvSpPr>
          <p:cNvPr id="13" name="Shape 10"/>
          <p:cNvSpPr/>
          <p:nvPr/>
        </p:nvSpPr>
        <p:spPr>
          <a:xfrm>
            <a:off x="365760" y="3566160"/>
            <a:ext cx="4069080" cy="1234440"/>
          </a:xfrm>
          <a:prstGeom prst="rect">
            <a:avLst/>
          </a:prstGeom>
          <a:solidFill>
            <a:srgbClr val="E8F5E9"/>
          </a:solidFill>
          <a:ln w="12700">
            <a:solidFill>
              <a:srgbClr val="A5D6A7"/>
            </a:solidFill>
            <a:prstDash val="solid"/>
          </a:ln>
        </p:spPr>
        <p:txBody>
          <a:bodyPr/>
          <a:lstStyle/>
          <a:p>
            <a:endParaRPr lang="en-US"/>
          </a:p>
        </p:txBody>
      </p:sp>
      <p:sp>
        <p:nvSpPr>
          <p:cNvPr id="14" name="Text 11"/>
          <p:cNvSpPr/>
          <p:nvPr/>
        </p:nvSpPr>
        <p:spPr>
          <a:xfrm>
            <a:off x="475488" y="3611880"/>
            <a:ext cx="3749040" cy="320040"/>
          </a:xfrm>
          <a:prstGeom prst="rect">
            <a:avLst/>
          </a:prstGeom>
          <a:noFill/>
          <a:ln/>
        </p:spPr>
        <p:txBody>
          <a:bodyPr wrap="square" lIns="0" tIns="0" rIns="0" bIns="0" rtlCol="0" anchor="ctr"/>
          <a:lstStyle/>
          <a:p>
            <a:pPr marL="0" indent="0">
              <a:buNone/>
            </a:pPr>
            <a:r>
              <a:rPr lang="en-US" sz="1000" b="1" dirty="0">
                <a:solidFill>
                  <a:srgbClr val="1B5E20"/>
                </a:solidFill>
                <a:latin typeface="Calibri" pitchFamily="34" charset="0"/>
                <a:ea typeface="Calibri" pitchFamily="34" charset="-122"/>
                <a:cs typeface="Calibri" pitchFamily="34" charset="-120"/>
              </a:rPr>
              <a:t>This paper supports our approach because...</a:t>
            </a:r>
            <a:endParaRPr lang="en-US" sz="1000" dirty="0"/>
          </a:p>
        </p:txBody>
      </p:sp>
      <p:sp>
        <p:nvSpPr>
          <p:cNvPr id="15" name="Text 12"/>
          <p:cNvSpPr/>
          <p:nvPr/>
        </p:nvSpPr>
        <p:spPr>
          <a:xfrm>
            <a:off x="475488" y="3977640"/>
            <a:ext cx="3749040" cy="731520"/>
          </a:xfrm>
          <a:prstGeom prst="rect">
            <a:avLst/>
          </a:prstGeom>
          <a:noFill/>
          <a:ln/>
        </p:spPr>
        <p:txBody>
          <a:bodyPr wrap="square" lIns="0" tIns="0" rIns="0" bIns="0" rtlCol="0" anchor="t"/>
          <a:lstStyle/>
          <a:p>
            <a:pPr marL="0" indent="0" algn="l">
              <a:buNone/>
            </a:pPr>
            <a:r>
              <a:rPr lang="en-US" sz="1200" dirty="0"/>
              <a:t>We are trying to find poisoned frames, essentially seeing what the detector cannot see.(0.0 confidence scores)</a:t>
            </a:r>
          </a:p>
        </p:txBody>
      </p:sp>
      <p:sp>
        <p:nvSpPr>
          <p:cNvPr id="16" name="Shape 13"/>
          <p:cNvSpPr/>
          <p:nvPr/>
        </p:nvSpPr>
        <p:spPr>
          <a:xfrm>
            <a:off x="4617720" y="3566160"/>
            <a:ext cx="4069080" cy="1234440"/>
          </a:xfrm>
          <a:prstGeom prst="rect">
            <a:avLst/>
          </a:prstGeom>
          <a:solidFill>
            <a:srgbClr val="FFEBEE"/>
          </a:solidFill>
          <a:ln w="12700">
            <a:solidFill>
              <a:srgbClr val="FFCDD2"/>
            </a:solidFill>
            <a:prstDash val="solid"/>
          </a:ln>
        </p:spPr>
        <p:txBody>
          <a:bodyPr/>
          <a:lstStyle/>
          <a:p>
            <a:endParaRPr lang="en-US" dirty="0"/>
          </a:p>
        </p:txBody>
      </p:sp>
      <p:sp>
        <p:nvSpPr>
          <p:cNvPr id="17" name="Text 14"/>
          <p:cNvSpPr/>
          <p:nvPr/>
        </p:nvSpPr>
        <p:spPr>
          <a:xfrm>
            <a:off x="4727448" y="3611880"/>
            <a:ext cx="3749040" cy="320040"/>
          </a:xfrm>
          <a:prstGeom prst="rect">
            <a:avLst/>
          </a:prstGeom>
          <a:noFill/>
          <a:ln/>
        </p:spPr>
        <p:txBody>
          <a:bodyPr wrap="square" lIns="0" tIns="0" rIns="0" bIns="0" rtlCol="0" anchor="ctr"/>
          <a:lstStyle/>
          <a:p>
            <a:pPr marL="0" indent="0">
              <a:buNone/>
            </a:pPr>
            <a:r>
              <a:rPr lang="en-US" sz="1000" b="1" dirty="0">
                <a:solidFill>
                  <a:srgbClr val="B71C1C"/>
                </a:solidFill>
                <a:latin typeface="Calibri" pitchFamily="34" charset="0"/>
                <a:ea typeface="Calibri" pitchFamily="34" charset="-122"/>
                <a:cs typeface="Calibri" pitchFamily="34" charset="-120"/>
              </a:rPr>
              <a:t>This paper challenges our approach because...</a:t>
            </a:r>
            <a:endParaRPr lang="en-US" sz="1000" dirty="0"/>
          </a:p>
        </p:txBody>
      </p:sp>
      <p:sp>
        <p:nvSpPr>
          <p:cNvPr id="18" name="Text 15"/>
          <p:cNvSpPr/>
          <p:nvPr/>
        </p:nvSpPr>
        <p:spPr>
          <a:xfrm>
            <a:off x="4727448" y="3977640"/>
            <a:ext cx="3749040" cy="731520"/>
          </a:xfrm>
          <a:prstGeom prst="rect">
            <a:avLst/>
          </a:prstGeom>
          <a:noFill/>
          <a:ln/>
        </p:spPr>
        <p:txBody>
          <a:bodyPr wrap="square" lIns="0" tIns="0" rIns="0" bIns="0" rtlCol="0" anchor="t"/>
          <a:lstStyle/>
          <a:p>
            <a:pPr marL="0" indent="0" algn="l">
              <a:buNone/>
            </a:pPr>
            <a:r>
              <a:rPr lang="en-US" sz="1200" dirty="0"/>
              <a:t>If the video feeds we use have BYTE and don’t notice the object or if it assigns an object the wrong classification then it will be much more challenging for us.</a:t>
            </a:r>
          </a:p>
        </p:txBody>
      </p:sp>
      <p:sp>
        <p:nvSpPr>
          <p:cNvPr id="19" name="Shape 16"/>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0" name="Text 17"/>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1" name="Text 18"/>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6 / 7</a:t>
            </a:r>
            <a:endParaRPr lang="en-US" sz="900" dirty="0"/>
          </a:p>
        </p:txBody>
      </p:sp>
      <p:sp>
        <p:nvSpPr>
          <p:cNvPr id="23" name="TextBox 22">
            <a:extLst>
              <a:ext uri="{FF2B5EF4-FFF2-40B4-BE49-F238E27FC236}">
                <a16:creationId xmlns:a16="http://schemas.microsoft.com/office/drawing/2014/main" id="{981CEB32-E791-D4FF-C2FC-87E16F057B73}"/>
              </a:ext>
            </a:extLst>
          </p:cNvPr>
          <p:cNvSpPr txBox="1"/>
          <p:nvPr/>
        </p:nvSpPr>
        <p:spPr>
          <a:xfrm>
            <a:off x="497596" y="1856232"/>
            <a:ext cx="8280644" cy="1492716"/>
          </a:xfrm>
          <a:prstGeom prst="rect">
            <a:avLst/>
          </a:prstGeom>
          <a:noFill/>
        </p:spPr>
        <p:txBody>
          <a:bodyPr wrap="square">
            <a:spAutoFit/>
          </a:bodyPr>
          <a:lstStyle/>
          <a:p>
            <a:r>
              <a:rPr lang="en-US" sz="1300" dirty="0">
                <a:solidFill>
                  <a:schemeClr val="bg1"/>
                </a:solidFill>
                <a:effectLst/>
                <a:latin typeface="Calibri" panose="020F0502020204030204" pitchFamily="34" charset="0"/>
                <a:ea typeface="Calibri" panose="020F0502020204030204" pitchFamily="34" charset="0"/>
              </a:rPr>
              <a:t>In the paper, the failure to identify an object that is doing spiritic and uncommon movements could lead to data poisoning being an easy task. Since it fails to identify an object that moves nonlinearly a majority of the time, if someone wanted to tell the camera feed that the object moving in a certain area already has a low confidence score, it will use that later for other objects with a low confidence rating. If </a:t>
            </a:r>
            <a:r>
              <a:rPr lang="en-US" sz="1300" dirty="0" err="1">
                <a:solidFill>
                  <a:schemeClr val="bg1"/>
                </a:solidFill>
                <a:effectLst/>
                <a:latin typeface="Calibri" panose="020F0502020204030204" pitchFamily="34" charset="0"/>
                <a:ea typeface="Calibri" panose="020F0502020204030204" pitchFamily="34" charset="0"/>
              </a:rPr>
              <a:t>ByteTrack</a:t>
            </a:r>
            <a:r>
              <a:rPr lang="en-US" sz="1300" dirty="0">
                <a:solidFill>
                  <a:schemeClr val="bg1"/>
                </a:solidFill>
                <a:effectLst/>
                <a:latin typeface="Calibri" panose="020F0502020204030204" pitchFamily="34" charset="0"/>
                <a:ea typeface="Calibri" panose="020F0502020204030204" pitchFamily="34" charset="0"/>
              </a:rPr>
              <a:t> gets confused by non-linear motion and accidentally assigns a low-confidence background artifact or a completely different person to an active track, it sends bad data to the global Re-ID model. This forces the multi-camera system to learn incorrect visual features for that ID, effectively poisoning its embedding space.</a:t>
            </a:r>
            <a:r>
              <a:rPr lang="en-US" sz="1300" dirty="0">
                <a:solidFill>
                  <a:schemeClr val="bg1"/>
                </a:solidFill>
                <a:effectLst/>
              </a:rPr>
              <a:t> </a:t>
            </a:r>
            <a:endParaRPr lang="en-US" sz="13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3613</TotalTime>
  <Words>1092</Words>
  <Application>Microsoft Macintosh PowerPoint</Application>
  <PresentationFormat>Widescreen</PresentationFormat>
  <Paragraphs>79</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Georgia</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blindspot — Paper Presentation Template</dc:title>
  <dc:subject>PptxGenJS Presentation</dc:subject>
  <dc:creator>PptxGenJS</dc:creator>
  <cp:lastModifiedBy>Dodwell, Floyd L.</cp:lastModifiedBy>
  <cp:revision>4</cp:revision>
  <dcterms:created xsi:type="dcterms:W3CDTF">2026-05-19T13:44:10Z</dcterms:created>
  <dcterms:modified xsi:type="dcterms:W3CDTF">2026-05-22T04:12:43Z</dcterms:modified>
</cp:coreProperties>
</file>