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822960"/>
            <a:ext cx="5486400"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Georgia" pitchFamily="34" charset="0"/>
                <a:ea typeface="Georgia" pitchFamily="34" charset="-122"/>
                <a:cs typeface="Georgia" pitchFamily="34" charset="-120"/>
              </a:rPr>
              <a:t>blindspot</a:t>
            </a:r>
            <a:endParaRPr lang="en-US" sz="5400" dirty="0"/>
          </a:p>
        </p:txBody>
      </p:sp>
      <p:sp>
        <p:nvSpPr>
          <p:cNvPr id="4" name="Text 1"/>
          <p:cNvSpPr/>
          <p:nvPr/>
        </p:nvSpPr>
        <p:spPr>
          <a:xfrm>
            <a:off x="365760" y="1874520"/>
            <a:ext cx="6400800" cy="365760"/>
          </a:xfrm>
          <a:prstGeom prst="rect">
            <a:avLst/>
          </a:prstGeom>
          <a:noFill/>
          <a:ln/>
        </p:spPr>
        <p:txBody>
          <a:bodyPr wrap="square" lIns="0" tIns="0" rIns="0" bIns="0" rtlCol="0" anchor="ctr"/>
          <a:lstStyle/>
          <a:p>
            <a:pPr marL="0" indent="0" algn="l">
              <a:buNone/>
            </a:pPr>
            <a:r>
              <a:rPr lang="en-US" sz="1400" i="1" dirty="0">
                <a:solidFill>
                  <a:srgbClr val="AAAAAA"/>
                </a:solidFill>
                <a:latin typeface="Calibri" pitchFamily="34" charset="0"/>
                <a:ea typeface="Calibri" pitchFamily="34" charset="-122"/>
                <a:cs typeface="Calibri" pitchFamily="34" charset="-120"/>
              </a:rPr>
              <a:t>detecting what the tracker cannot see</a:t>
            </a:r>
            <a:endParaRPr lang="en-US" sz="1400" dirty="0"/>
          </a:p>
        </p:txBody>
      </p:sp>
      <p:sp>
        <p:nvSpPr>
          <p:cNvPr id="5" name="Shape 2"/>
          <p:cNvSpPr/>
          <p:nvPr/>
        </p:nvSpPr>
        <p:spPr>
          <a:xfrm>
            <a:off x="365760" y="2377440"/>
            <a:ext cx="5029200" cy="4572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2560320"/>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Paper title:</a:t>
            </a:r>
            <a:endParaRPr lang="en-US" sz="1100" dirty="0"/>
          </a:p>
        </p:txBody>
      </p:sp>
      <p:sp>
        <p:nvSpPr>
          <p:cNvPr id="7" name="Text 4"/>
          <p:cNvSpPr/>
          <p:nvPr/>
        </p:nvSpPr>
        <p:spPr>
          <a:xfrm>
            <a:off x="1737360" y="2560320"/>
            <a:ext cx="6858000" cy="411480"/>
          </a:xfrm>
          <a:prstGeom prst="rect">
            <a:avLst/>
          </a:prstGeom>
          <a:noFill/>
          <a:ln/>
        </p:spPr>
        <p:txBody>
          <a:bodyPr wrap="square" lIns="0" tIns="0" rIns="0" bIns="0" rtlCol="0" anchor="ctr"/>
          <a:lstStyle/>
          <a:p>
            <a:r>
              <a:rPr lang="en-US" sz="1400" dirty="0">
                <a:solidFill>
                  <a:schemeClr val="bg1"/>
                </a:solidFill>
              </a:rPr>
              <a:t>Blinding and Blurring the Multi-Object Tracker with Adversarial Perturbations </a:t>
            </a:r>
          </a:p>
        </p:txBody>
      </p:sp>
      <p:sp>
        <p:nvSpPr>
          <p:cNvPr id="8" name="Text 5"/>
          <p:cNvSpPr/>
          <p:nvPr/>
        </p:nvSpPr>
        <p:spPr>
          <a:xfrm>
            <a:off x="365760" y="3035808"/>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Authors:</a:t>
            </a:r>
            <a:endParaRPr lang="en-US" sz="1100" dirty="0"/>
          </a:p>
        </p:txBody>
      </p:sp>
      <p:sp>
        <p:nvSpPr>
          <p:cNvPr id="9" name="Text 6"/>
          <p:cNvSpPr/>
          <p:nvPr/>
        </p:nvSpPr>
        <p:spPr>
          <a:xfrm>
            <a:off x="1737360" y="3035808"/>
            <a:ext cx="6858000" cy="411480"/>
          </a:xfrm>
          <a:prstGeom prst="rect">
            <a:avLst/>
          </a:prstGeom>
          <a:noFill/>
          <a:ln/>
        </p:spPr>
        <p:txBody>
          <a:bodyPr wrap="square" lIns="0" tIns="0" rIns="0" bIns="0" rtlCol="0" anchor="ctr"/>
          <a:lstStyle/>
          <a:p>
            <a:r>
              <a:rPr lang="en-US" sz="1400" dirty="0">
                <a:solidFill>
                  <a:schemeClr val="bg1"/>
                </a:solidFill>
              </a:rPr>
              <a:t>Pang, H., Ma, R., Liu, C., Su, J., &amp; Han, L. </a:t>
            </a:r>
          </a:p>
        </p:txBody>
      </p:sp>
      <p:sp>
        <p:nvSpPr>
          <p:cNvPr id="10" name="Text 7"/>
          <p:cNvSpPr/>
          <p:nvPr/>
        </p:nvSpPr>
        <p:spPr>
          <a:xfrm>
            <a:off x="365760" y="3511296"/>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Venue &amp; year:</a:t>
            </a:r>
            <a:endParaRPr lang="en-US" sz="1100" dirty="0"/>
          </a:p>
        </p:txBody>
      </p:sp>
      <p:sp>
        <p:nvSpPr>
          <p:cNvPr id="11" name="Text 8"/>
          <p:cNvSpPr/>
          <p:nvPr/>
        </p:nvSpPr>
        <p:spPr>
          <a:xfrm>
            <a:off x="1737360" y="3511296"/>
            <a:ext cx="6858000" cy="411480"/>
          </a:xfrm>
          <a:prstGeom prst="rect">
            <a:avLst/>
          </a:prstGeom>
          <a:noFill/>
          <a:ln/>
        </p:spPr>
        <p:txBody>
          <a:bodyPr wrap="square" lIns="0" tIns="0" rIns="0" bIns="0" rtlCol="0" anchor="ctr"/>
          <a:lstStyle/>
          <a:p>
            <a:r>
              <a:rPr lang="en-US" sz="1400" i="1" dirty="0">
                <a:solidFill>
                  <a:schemeClr val="bg1"/>
                </a:solidFill>
              </a:rPr>
              <a:t>Neural Computing and Applications</a:t>
            </a:r>
            <a:r>
              <a:rPr lang="en-US" sz="1400" dirty="0">
                <a:solidFill>
                  <a:schemeClr val="bg1"/>
                </a:solidFill>
              </a:rPr>
              <a:t>, 1-14. (2023)</a:t>
            </a:r>
          </a:p>
        </p:txBody>
      </p:sp>
      <p:sp>
        <p:nvSpPr>
          <p:cNvPr id="12" name="Text 9"/>
          <p:cNvSpPr/>
          <p:nvPr/>
        </p:nvSpPr>
        <p:spPr>
          <a:xfrm>
            <a:off x="365760" y="3986784"/>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Link:</a:t>
            </a:r>
            <a:endParaRPr lang="en-US" sz="1100" dirty="0"/>
          </a:p>
        </p:txBody>
      </p:sp>
      <p:sp>
        <p:nvSpPr>
          <p:cNvPr id="13" name="Text 10"/>
          <p:cNvSpPr/>
          <p:nvPr/>
        </p:nvSpPr>
        <p:spPr>
          <a:xfrm>
            <a:off x="1737360" y="3986784"/>
            <a:ext cx="6858000" cy="411480"/>
          </a:xfrm>
          <a:prstGeom prst="rect">
            <a:avLst/>
          </a:prstGeom>
          <a:noFill/>
          <a:ln/>
        </p:spPr>
        <p:txBody>
          <a:bodyPr wrap="square" lIns="0" tIns="0" rIns="0" bIns="0" rtlCol="0" anchor="ctr"/>
          <a:lstStyle/>
          <a:p>
            <a:r>
              <a:rPr lang="en-US" sz="1400" dirty="0" err="1">
                <a:solidFill>
                  <a:schemeClr val="bg1"/>
                </a:solidFill>
              </a:rPr>
              <a:t>doi.org</a:t>
            </a:r>
            <a:r>
              <a:rPr lang="en-US" sz="1400" dirty="0">
                <a:solidFill>
                  <a:schemeClr val="bg1"/>
                </a:solidFill>
              </a:rPr>
              <a:t>/10.1007/s00521-023-09123-x </a:t>
            </a:r>
          </a:p>
        </p:txBody>
      </p:sp>
      <p:sp>
        <p:nvSpPr>
          <p:cNvPr id="14" name="Text 11"/>
          <p:cNvSpPr/>
          <p:nvPr/>
        </p:nvSpPr>
        <p:spPr>
          <a:xfrm>
            <a:off x="365760" y="6035040"/>
            <a:ext cx="7315200" cy="320040"/>
          </a:xfrm>
          <a:prstGeom prst="rect">
            <a:avLst/>
          </a:prstGeom>
          <a:noFill/>
          <a:ln/>
        </p:spPr>
        <p:txBody>
          <a:bodyPr wrap="square" lIns="0" tIns="0" rIns="0" bIns="0" rtlCol="0" anchor="ctr"/>
          <a:lstStyle/>
          <a:p>
            <a:pPr marL="0" indent="0" algn="l">
              <a:buNone/>
            </a:pPr>
            <a:r>
              <a:rPr lang="en-US" sz="1100" dirty="0">
                <a:solidFill>
                  <a:srgbClr val="888888"/>
                </a:solidFill>
                <a:latin typeface="Calibri" pitchFamily="34" charset="0"/>
                <a:ea typeface="Calibri" pitchFamily="34" charset="-122"/>
                <a:cs typeface="Calibri" pitchFamily="34" charset="-120"/>
              </a:rPr>
              <a:t>[Your name]  ·  Week [N]  ·  P.R.I.M.E. Summer 2026</a:t>
            </a:r>
            <a:endParaRPr lang="en-US" sz="1100" dirty="0"/>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Main Argument</a:t>
            </a:r>
            <a:endParaRPr lang="en-US" sz="2600" dirty="0"/>
          </a:p>
        </p:txBody>
      </p:sp>
      <p:sp>
        <p:nvSpPr>
          <p:cNvPr id="8" name="Text 5"/>
          <p:cNvSpPr/>
          <p:nvPr/>
        </p:nvSpPr>
        <p:spPr>
          <a:xfrm>
            <a:off x="365760" y="1234440"/>
            <a:ext cx="8412480" cy="32004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8412480" cy="2011680"/>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45920"/>
            <a:ext cx="73152" cy="201168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8092440" cy="2011680"/>
          </a:xfrm>
          <a:prstGeom prst="rect">
            <a:avLst/>
          </a:prstGeom>
          <a:noFill/>
          <a:ln/>
        </p:spPr>
        <p:txBody>
          <a:bodyPr wrap="square" lIns="203200" tIns="203200" rIns="203200" bIns="203200" rtlCol="0" anchor="ctr"/>
          <a:lstStyle/>
          <a:p>
            <a:r>
              <a:rPr lang="en-US" sz="1400" dirty="0">
                <a:solidFill>
                  <a:schemeClr val="bg1"/>
                </a:solidFill>
              </a:rPr>
              <a:t>This paper shows that live video tracking systems are really easy to trick using subtle, hidden digital noise. Instead of just messing with a single picture, this attack breaks the system over time in two ways: it either makes the objects completely "invisible" to the camera, or it confuses the system so much that it messes up the paths it’s trying to follow. This is important because it proves that tracking something across a moving video is much harder to protect than just identifying a static object in a single photo.</a:t>
            </a:r>
          </a:p>
        </p:txBody>
      </p:sp>
      <p:sp>
        <p:nvSpPr>
          <p:cNvPr id="12" name="Text 9"/>
          <p:cNvSpPr/>
          <p:nvPr/>
        </p:nvSpPr>
        <p:spPr>
          <a:xfrm>
            <a:off x="365760" y="3840480"/>
            <a:ext cx="8412480" cy="274320"/>
          </a:xfrm>
          <a:prstGeom prst="rect">
            <a:avLst/>
          </a:prstGeom>
          <a:noFill/>
          <a:ln/>
        </p:spPr>
        <p:txBody>
          <a:bodyPr wrap="square" lIns="0" tIns="0" rIns="0" bIns="0" rtlCol="0" anchor="ctr"/>
          <a:lstStyle/>
          <a:p>
            <a:pPr marL="0" indent="0" algn="l">
              <a:buNone/>
            </a:pPr>
            <a:r>
              <a:rPr lang="en-US" sz="1200" b="1" dirty="0">
                <a:solidFill>
                  <a:srgbClr val="0D9488"/>
                </a:solidFill>
                <a:latin typeface="Calibri" pitchFamily="34" charset="0"/>
                <a:ea typeface="Calibri" pitchFamily="34" charset="-122"/>
                <a:cs typeface="Calibri" pitchFamily="34" charset="-120"/>
              </a:rPr>
              <a:t>Why does this matter?</a:t>
            </a:r>
            <a:endParaRPr lang="en-US" sz="1200" dirty="0"/>
          </a:p>
        </p:txBody>
      </p:sp>
      <p:sp>
        <p:nvSpPr>
          <p:cNvPr id="13" name="Shape 10"/>
          <p:cNvSpPr/>
          <p:nvPr/>
        </p:nvSpPr>
        <p:spPr>
          <a:xfrm>
            <a:off x="365760" y="4160520"/>
            <a:ext cx="8412480" cy="685800"/>
          </a:xfrm>
          <a:prstGeom prst="rect">
            <a:avLst/>
          </a:prstGeom>
          <a:solidFill>
            <a:srgbClr val="D6E4F0"/>
          </a:solidFill>
          <a:ln w="12700">
            <a:solidFill>
              <a:srgbClr val="CCDDEE"/>
            </a:solidFill>
            <a:prstDash val="solid"/>
          </a:ln>
        </p:spPr>
        <p:txBody>
          <a:bodyPr/>
          <a:lstStyle/>
          <a:p>
            <a:endParaRPr lang="en-US" dirty="0"/>
          </a:p>
        </p:txBody>
      </p:sp>
      <p:sp>
        <p:nvSpPr>
          <p:cNvPr id="14" name="Text 11"/>
          <p:cNvSpPr/>
          <p:nvPr/>
        </p:nvSpPr>
        <p:spPr>
          <a:xfrm>
            <a:off x="502920" y="4160520"/>
            <a:ext cx="8138160" cy="685800"/>
          </a:xfrm>
          <a:prstGeom prst="rect">
            <a:avLst/>
          </a:prstGeom>
          <a:noFill/>
          <a:ln/>
        </p:spPr>
        <p:txBody>
          <a:bodyPr wrap="square" lIns="0" tIns="0" rIns="0" bIns="0" rtlCol="0" anchor="ctr"/>
          <a:lstStyle/>
          <a:p>
            <a:pPr marL="0" indent="0" algn="l">
              <a:buNone/>
            </a:pPr>
            <a:endParaRPr lang="en-US" sz="1300" dirty="0"/>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2 / 7</a:t>
            </a:r>
            <a:endParaRPr lang="en-US" sz="900" dirty="0"/>
          </a:p>
        </p:txBody>
      </p:sp>
      <p:sp>
        <p:nvSpPr>
          <p:cNvPr id="18" name="Rectangle 1">
            <a:extLst>
              <a:ext uri="{FF2B5EF4-FFF2-40B4-BE49-F238E27FC236}">
                <a16:creationId xmlns:a16="http://schemas.microsoft.com/office/drawing/2014/main" id="{464E4C7F-6897-BB3A-C0BA-13E37F896632}"/>
              </a:ext>
            </a:extLst>
          </p:cNvPr>
          <p:cNvSpPr>
            <a:spLocks noChangeArrowheads="1"/>
          </p:cNvSpPr>
          <p:nvPr/>
        </p:nvSpPr>
        <p:spPr bwMode="auto">
          <a:xfrm>
            <a:off x="279073" y="4176575"/>
            <a:ext cx="80121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kumimoji="0" lang="en-US" altLang="en-US" sz="1200" b="1" i="0" u="none" strike="noStrike" cap="none" normalizeH="0" baseline="0" dirty="0">
                <a:ln>
                  <a:noFill/>
                </a:ln>
                <a:effectLst/>
                <a:latin typeface="Arial" panose="020B0604020202020204" pitchFamily="34" charset="0"/>
              </a:rPr>
              <a:t>What the detector sees:</a:t>
            </a:r>
            <a:r>
              <a:rPr kumimoji="0" lang="en-US" altLang="en-US" sz="1200" b="0" i="0" u="none" strike="noStrike" cap="none" normalizeH="0" baseline="0" dirty="0">
                <a:ln>
                  <a:noFill/>
                </a:ln>
                <a:effectLst/>
                <a:latin typeface="Arial" panose="020B0604020202020204" pitchFamily="34" charset="0"/>
              </a:rPr>
              <a:t> Empty space. It thinks nothing is there because the "blinding" </a:t>
            </a:r>
            <a:r>
              <a:rPr lang="en-US" altLang="en-US" sz="1200" dirty="0">
                <a:latin typeface="Arial" panose="020B0604020202020204" pitchFamily="34" charset="0"/>
              </a:rPr>
              <a:t>noise has cooled down its </a:t>
            </a:r>
          </a:p>
          <a:p>
            <a:pPr lvl="0" eaLnBrk="0" fontAlgn="base" hangingPunct="0">
              <a:spcBef>
                <a:spcPct val="0"/>
              </a:spcBef>
              <a:spcAft>
                <a:spcPct val="0"/>
              </a:spcAft>
              <a:buFontTx/>
              <a:buChar char="•"/>
            </a:pPr>
            <a:r>
              <a:rPr lang="en-US" altLang="en-US" sz="1200" dirty="0">
                <a:latin typeface="Arial" panose="020B0604020202020204" pitchFamily="34" charset="0"/>
              </a:rPr>
              <a:t>activation (or confidence) </a:t>
            </a:r>
            <a:r>
              <a:rPr kumimoji="0" lang="en-US" altLang="en-US" sz="1200" b="0" i="0" u="none" strike="noStrike" cap="none" normalizeH="0" baseline="0" dirty="0">
                <a:ln>
                  <a:noFill/>
                </a:ln>
                <a:effectLst/>
                <a:latin typeface="Arial" panose="020B0604020202020204" pitchFamily="34" charset="0"/>
              </a:rPr>
              <a:t>zones.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Method or Evidence</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dirty="0"/>
              <a:t>“Noise” – small grainy alterations to the camera feed.</a:t>
            </a:r>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 or setting</a:t>
            </a:r>
            <a:endParaRPr lang="en-US" sz="1200" dirty="0"/>
          </a:p>
        </p:txBody>
      </p:sp>
      <p:sp>
        <p:nvSpPr>
          <p:cNvPr id="11" name="Shape 8"/>
          <p:cNvSpPr/>
          <p:nvPr/>
        </p:nvSpPr>
        <p:spPr>
          <a:xfrm>
            <a:off x="365760"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2" name="Text 9"/>
          <p:cNvSpPr/>
          <p:nvPr/>
        </p:nvSpPr>
        <p:spPr>
          <a:xfrm>
            <a:off x="457200" y="2057400"/>
            <a:ext cx="2468880" cy="1508760"/>
          </a:xfrm>
          <a:prstGeom prst="rect">
            <a:avLst/>
          </a:prstGeom>
          <a:noFill/>
          <a:ln/>
        </p:spPr>
        <p:txBody>
          <a:bodyPr wrap="square" lIns="0" tIns="0" rIns="0" bIns="0" rtlCol="0" anchor="t"/>
          <a:lstStyle/>
          <a:p>
            <a:r>
              <a:rPr lang="en-US" sz="1200" dirty="0"/>
              <a:t>They tested the attack using standard benchmark video streams for tracking systems, specifically the MOTChallenge and VOT datasets, which feature crowded public spaces with many moving pedestrians and vehicles.</a:t>
            </a:r>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Experimental approach</a:t>
            </a:r>
            <a:endParaRPr lang="en-US" sz="1200" dirty="0"/>
          </a:p>
        </p:txBody>
      </p:sp>
      <p:sp>
        <p:nvSpPr>
          <p:cNvPr id="15" name="Shape 12"/>
          <p:cNvSpPr/>
          <p:nvPr/>
        </p:nvSpPr>
        <p:spPr>
          <a:xfrm>
            <a:off x="3172968"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6" name="Text 13"/>
          <p:cNvSpPr/>
          <p:nvPr/>
        </p:nvSpPr>
        <p:spPr>
          <a:xfrm>
            <a:off x="3264408" y="2057400"/>
            <a:ext cx="2468880" cy="1508760"/>
          </a:xfrm>
          <a:prstGeom prst="rect">
            <a:avLst/>
          </a:prstGeom>
          <a:noFill/>
          <a:ln/>
        </p:spPr>
        <p:txBody>
          <a:bodyPr wrap="square" lIns="0" tIns="0" rIns="0" bIns="0" rtlCol="0" anchor="t"/>
          <a:lstStyle/>
          <a:p>
            <a:r>
              <a:rPr lang="en-US" sz="1200" dirty="0"/>
              <a:t>The noise was mathematically engineered to do two things live: flatten the confidence "heatmaps" where the detector usually sees people, and add a calculated drift to the bounding boxes to confuse the history-tracking filters.</a:t>
            </a:r>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they measured success</a:t>
            </a:r>
            <a:endParaRPr lang="en-US" sz="1200" dirty="0"/>
          </a:p>
        </p:txBody>
      </p:sp>
      <p:sp>
        <p:nvSpPr>
          <p:cNvPr id="19" name="Shape 16"/>
          <p:cNvSpPr/>
          <p:nvPr/>
        </p:nvSpPr>
        <p:spPr>
          <a:xfrm>
            <a:off x="5980176"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20" name="Text 17"/>
          <p:cNvSpPr/>
          <p:nvPr/>
        </p:nvSpPr>
        <p:spPr>
          <a:xfrm>
            <a:off x="6071616" y="1997964"/>
            <a:ext cx="2468880" cy="1508760"/>
          </a:xfrm>
          <a:prstGeom prst="rect">
            <a:avLst/>
          </a:prstGeom>
          <a:noFill/>
          <a:ln/>
        </p:spPr>
        <p:txBody>
          <a:bodyPr wrap="square" lIns="0" tIns="0" rIns="0" bIns="0" rtlCol="0" anchor="t"/>
          <a:lstStyle/>
          <a:p>
            <a:r>
              <a:rPr lang="en-US" sz="1200" dirty="0"/>
              <a:t>They measured success using standard tracking metrics: MOTA (Multi-Object Tracking Accuracy) and IDF1 (Identity F1 Score, which checks how well a system keeps the correct ID name tied to a specific person across a video sequence). A successful attack meant forcing these tracking scores to plunge toward zero.</a:t>
            </a:r>
          </a:p>
        </p:txBody>
      </p:sp>
      <p:sp>
        <p:nvSpPr>
          <p:cNvPr id="21" name="Text 18"/>
          <p:cNvSpPr/>
          <p:nvPr/>
        </p:nvSpPr>
        <p:spPr>
          <a:xfrm>
            <a:off x="365760" y="3794760"/>
            <a:ext cx="8412480" cy="274320"/>
          </a:xfrm>
          <a:prstGeom prst="rect">
            <a:avLst/>
          </a:prstGeom>
          <a:noFill/>
          <a:ln/>
        </p:spPr>
        <p:txBody>
          <a:bodyPr wrap="square" lIns="0" tIns="0" rIns="0" bIns="0" rtlCol="0" anchor="ctr"/>
          <a:lstStyle/>
          <a:p>
            <a:pPr marL="0" indent="0">
              <a:buNone/>
            </a:pPr>
            <a:endParaRPr lang="en-US" sz="1100" dirty="0"/>
          </a:p>
        </p:txBody>
      </p:sp>
      <p:sp>
        <p:nvSpPr>
          <p:cNvPr id="22" name="Shape 19"/>
          <p:cNvSpPr/>
          <p:nvPr/>
        </p:nvSpPr>
        <p:spPr>
          <a:xfrm>
            <a:off x="365760" y="4096512"/>
            <a:ext cx="8412480" cy="685800"/>
          </a:xfrm>
          <a:prstGeom prst="rect">
            <a:avLst/>
          </a:prstGeom>
          <a:solidFill>
            <a:srgbClr val="D6E4F0"/>
          </a:solidFill>
          <a:ln w="12700">
            <a:solidFill>
              <a:srgbClr val="CCDDEE"/>
            </a:solidFill>
            <a:prstDash val="solid"/>
          </a:ln>
        </p:spPr>
        <p:txBody>
          <a:bodyPr/>
          <a:lstStyle/>
          <a:p>
            <a:endParaRPr lang="en-US"/>
          </a:p>
        </p:txBody>
      </p:sp>
      <p:sp>
        <p:nvSpPr>
          <p:cNvPr id="23" name="Text 20"/>
          <p:cNvSpPr/>
          <p:nvPr/>
        </p:nvSpPr>
        <p:spPr>
          <a:xfrm>
            <a:off x="502920" y="4096512"/>
            <a:ext cx="8138160" cy="685800"/>
          </a:xfrm>
          <a:prstGeom prst="rect">
            <a:avLst/>
          </a:prstGeom>
          <a:noFill/>
          <a:ln/>
        </p:spPr>
        <p:txBody>
          <a:bodyPr wrap="square" lIns="0" tIns="0" rIns="0" bIns="0" rtlCol="0" anchor="ctr"/>
          <a:lstStyle/>
          <a:p>
            <a:pPr marL="0" indent="0" algn="l">
              <a:buNone/>
            </a:pPr>
            <a:endParaRPr lang="en-US" sz="1300" dirty="0"/>
          </a:p>
        </p:txBody>
      </p:sp>
      <p:sp>
        <p:nvSpPr>
          <p:cNvPr id="24" name="Shape 21"/>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6" name="Text 23"/>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Key Finding or Result</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The single most important thing the paper found or demonstrated.</a:t>
            </a:r>
            <a:endParaRPr lang="en-US" sz="1100" dirty="0"/>
          </a:p>
        </p:txBody>
      </p:sp>
      <p:sp>
        <p:nvSpPr>
          <p:cNvPr id="9" name="Shape 6"/>
          <p:cNvSpPr/>
          <p:nvPr/>
        </p:nvSpPr>
        <p:spPr>
          <a:xfrm>
            <a:off x="365760" y="1600200"/>
            <a:ext cx="8412480" cy="1737360"/>
          </a:xfrm>
          <a:prstGeom prst="rect">
            <a:avLst/>
          </a:prstGeom>
          <a:solidFill>
            <a:srgbClr val="F7F7F7"/>
          </a:solidFill>
          <a:ln w="12700">
            <a:solidFill>
              <a:srgbClr val="E8E8E8"/>
            </a:solidFill>
            <a:prstDash val="solid"/>
          </a:ln>
        </p:spPr>
        <p:txBody>
          <a:bodyPr/>
          <a:lstStyle/>
          <a:p>
            <a:endParaRPr lang="en-US"/>
          </a:p>
        </p:txBody>
      </p:sp>
      <p:sp>
        <p:nvSpPr>
          <p:cNvPr id="10" name="Shape 7"/>
          <p:cNvSpPr/>
          <p:nvPr/>
        </p:nvSpPr>
        <p:spPr>
          <a:xfrm>
            <a:off x="365760" y="1600200"/>
            <a:ext cx="64008" cy="173736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7315200" cy="274320"/>
          </a:xfrm>
          <a:prstGeom prst="rect">
            <a:avLst/>
          </a:prstGeom>
          <a:noFill/>
          <a:ln/>
        </p:spPr>
        <p:txBody>
          <a:bodyPr wrap="square" lIns="0" tIns="0" rIns="0" bIns="0" rtlCol="0" anchor="ctr"/>
          <a:lstStyle/>
          <a:p>
            <a:pPr marL="0" indent="0" algn="l">
              <a:buNone/>
            </a:pPr>
            <a:r>
              <a:rPr lang="en-US" sz="1000" b="1" kern="0" spc="200" dirty="0">
                <a:solidFill>
                  <a:srgbClr val="C8102E"/>
                </a:solidFill>
                <a:latin typeface="Calibri" pitchFamily="34" charset="0"/>
                <a:ea typeface="Calibri" pitchFamily="34" charset="-122"/>
                <a:cs typeface="Calibri" pitchFamily="34" charset="-120"/>
              </a:rPr>
              <a:t>★  Main finding</a:t>
            </a:r>
            <a:endParaRPr lang="en-US" sz="1000" dirty="0"/>
          </a:p>
        </p:txBody>
      </p:sp>
      <p:sp>
        <p:nvSpPr>
          <p:cNvPr id="12" name="Text 9"/>
          <p:cNvSpPr/>
          <p:nvPr/>
        </p:nvSpPr>
        <p:spPr>
          <a:xfrm>
            <a:off x="594360" y="1965960"/>
            <a:ext cx="8046720" cy="1280160"/>
          </a:xfrm>
          <a:prstGeom prst="rect">
            <a:avLst/>
          </a:prstGeom>
          <a:noFill/>
          <a:ln/>
        </p:spPr>
        <p:txBody>
          <a:bodyPr wrap="square" lIns="0" tIns="0" rIns="0" bIns="0" rtlCol="0" anchor="t"/>
          <a:lstStyle/>
          <a:p>
            <a:r>
              <a:rPr lang="en-US" sz="1400" dirty="0"/>
              <a:t>The paper showed that live multi-object trackers can be completely derailed in real time by adding a layer of mathematically engineered, faint pixel noise to video frames. By targeting both the object detector and the trajectory memory simultaneously, the attack causes standard tracking metrics (such as MOTA and IDF1 scores) to plummet dramatically, effectively making targets disappear or swapping their identities on-screen.</a:t>
            </a:r>
          </a:p>
        </p:txBody>
      </p:sp>
      <p:sp>
        <p:nvSpPr>
          <p:cNvPr id="13" name="Shape 10"/>
          <p:cNvSpPr/>
          <p:nvPr/>
        </p:nvSpPr>
        <p:spPr>
          <a:xfrm>
            <a:off x="36576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4" name="Text 11"/>
          <p:cNvSpPr/>
          <p:nvPr/>
        </p:nvSpPr>
        <p:spPr>
          <a:xfrm>
            <a:off x="47548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1</a:t>
            </a:r>
            <a:endParaRPr lang="en-US" sz="1000" dirty="0"/>
          </a:p>
        </p:txBody>
      </p:sp>
      <p:sp>
        <p:nvSpPr>
          <p:cNvPr id="15" name="Text 12"/>
          <p:cNvSpPr/>
          <p:nvPr/>
        </p:nvSpPr>
        <p:spPr>
          <a:xfrm>
            <a:off x="475488" y="3794760"/>
            <a:ext cx="3749040" cy="914400"/>
          </a:xfrm>
          <a:prstGeom prst="rect">
            <a:avLst/>
          </a:prstGeom>
          <a:noFill/>
          <a:ln/>
        </p:spPr>
        <p:txBody>
          <a:bodyPr wrap="square" lIns="0" tIns="0" rIns="0" bIns="0" rtlCol="0" anchor="t"/>
          <a:lstStyle/>
          <a:p>
            <a:r>
              <a:rPr lang="en-US" sz="1200" dirty="0"/>
              <a:t>The "blinding" noise successfully flattens the detector's internal confidence heatmaps. By dampening these activation zones, the tracker’s confidence scores for real targets instantly drop below detection thresholds.</a:t>
            </a:r>
          </a:p>
        </p:txBody>
      </p:sp>
      <p:sp>
        <p:nvSpPr>
          <p:cNvPr id="16" name="Shape 13"/>
          <p:cNvSpPr/>
          <p:nvPr/>
        </p:nvSpPr>
        <p:spPr>
          <a:xfrm>
            <a:off x="461772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7" name="Text 14"/>
          <p:cNvSpPr/>
          <p:nvPr/>
        </p:nvSpPr>
        <p:spPr>
          <a:xfrm>
            <a:off x="472744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2</a:t>
            </a:r>
            <a:endParaRPr lang="en-US" sz="1000" dirty="0"/>
          </a:p>
        </p:txBody>
      </p:sp>
      <p:sp>
        <p:nvSpPr>
          <p:cNvPr id="18" name="Text 15"/>
          <p:cNvSpPr/>
          <p:nvPr/>
        </p:nvSpPr>
        <p:spPr>
          <a:xfrm>
            <a:off x="4727448" y="3794760"/>
            <a:ext cx="3749040" cy="914400"/>
          </a:xfrm>
          <a:prstGeom prst="rect">
            <a:avLst/>
          </a:prstGeom>
          <a:noFill/>
          <a:ln/>
        </p:spPr>
        <p:txBody>
          <a:bodyPr wrap="square" lIns="0" tIns="0" rIns="0" bIns="0" rtlCol="0" anchor="t"/>
          <a:lstStyle/>
          <a:p>
            <a:r>
              <a:rPr lang="en-US" sz="1200" dirty="0"/>
              <a:t>The "blurring" noise introduces tiny, carefully calibrated errors into the predicted bounding boxes. This leads to compound errors in the data association filters (such as Kalman filters), causing the system to completely lose track of historical paths.</a:t>
            </a:r>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Limitation or Open Question</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it leaves unsolved</a:t>
            </a:r>
            <a:endParaRPr lang="en-US" sz="1100" dirty="0"/>
          </a:p>
        </p:txBody>
      </p:sp>
      <p:sp>
        <p:nvSpPr>
          <p:cNvPr id="11" name="Shape 8"/>
          <p:cNvSpPr/>
          <p:nvPr/>
        </p:nvSpPr>
        <p:spPr>
          <a:xfrm>
            <a:off x="365760" y="1993392"/>
            <a:ext cx="2651760" cy="1828800"/>
          </a:xfrm>
          <a:prstGeom prst="rect">
            <a:avLst/>
          </a:prstGeom>
          <a:solidFill>
            <a:srgbClr val="FFF3E0"/>
          </a:solidFill>
          <a:ln w="12700">
            <a:solidFill>
              <a:srgbClr val="FFCC80"/>
            </a:solidFill>
            <a:prstDash val="solid"/>
          </a:ln>
        </p:spPr>
        <p:txBody>
          <a:bodyPr/>
          <a:lstStyle/>
          <a:p>
            <a:endParaRPr lang="en-US" dirty="0"/>
          </a:p>
        </p:txBody>
      </p:sp>
      <p:sp>
        <p:nvSpPr>
          <p:cNvPr id="12" name="Text 9"/>
          <p:cNvSpPr/>
          <p:nvPr/>
        </p:nvSpPr>
        <p:spPr>
          <a:xfrm>
            <a:off x="457200" y="2084832"/>
            <a:ext cx="2468880" cy="1645920"/>
          </a:xfrm>
          <a:prstGeom prst="rect">
            <a:avLst/>
          </a:prstGeom>
          <a:noFill/>
          <a:ln/>
        </p:spPr>
        <p:txBody>
          <a:bodyPr wrap="square" lIns="0" tIns="0" rIns="0" bIns="0" rtlCol="0" anchor="t"/>
          <a:lstStyle/>
          <a:p>
            <a:r>
              <a:rPr lang="en-US" sz="1100" dirty="0"/>
              <a:t>The paper primarily relies on a "white-box" setup, meaning the attack algorithm needs deep internal knowledge of the tracker's exact mathematical structure to generate the pixel noise. It leaves unsolved how to efficiently pull off this attack in a "black-box" real-world scenario where the attacker has no idea what specific tracker architecture the security system is running.</a:t>
            </a:r>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you are skeptical of</a:t>
            </a:r>
            <a:endParaRPr lang="en-US" sz="1100" dirty="0"/>
          </a:p>
        </p:txBody>
      </p:sp>
      <p:sp>
        <p:nvSpPr>
          <p:cNvPr id="15" name="Shape 12"/>
          <p:cNvSpPr/>
          <p:nvPr/>
        </p:nvSpPr>
        <p:spPr>
          <a:xfrm>
            <a:off x="3172968" y="1993392"/>
            <a:ext cx="2651760" cy="1828800"/>
          </a:xfrm>
          <a:prstGeom prst="rect">
            <a:avLst/>
          </a:prstGeom>
          <a:solidFill>
            <a:srgbClr val="FFEBEE"/>
          </a:solidFill>
          <a:ln w="12700">
            <a:solidFill>
              <a:srgbClr val="FFCDD2"/>
            </a:solidFill>
            <a:prstDash val="solid"/>
          </a:ln>
        </p:spPr>
        <p:txBody>
          <a:bodyPr/>
          <a:lstStyle/>
          <a:p>
            <a:endParaRPr lang="en-US"/>
          </a:p>
        </p:txBody>
      </p:sp>
      <p:sp>
        <p:nvSpPr>
          <p:cNvPr id="16" name="Text 13"/>
          <p:cNvSpPr/>
          <p:nvPr/>
        </p:nvSpPr>
        <p:spPr>
          <a:xfrm>
            <a:off x="3264408" y="2084832"/>
            <a:ext cx="2468880" cy="1645920"/>
          </a:xfrm>
          <a:prstGeom prst="rect">
            <a:avLst/>
          </a:prstGeom>
          <a:noFill/>
          <a:ln/>
        </p:spPr>
        <p:txBody>
          <a:bodyPr wrap="square" lIns="0" tIns="0" rIns="0" bIns="0" rtlCol="0" anchor="t"/>
          <a:lstStyle/>
          <a:p>
            <a:r>
              <a:rPr lang="en-US" sz="1100" dirty="0"/>
              <a:t>The paper shows total tracking failure against standard, undefended models. However,  I am skeptical that this faint digital noise would be instantly broken by simply adding standard video pre-processing defenses, such as slightly smoothing the video frames, compressing the video, or down-sampling the resolution.</a:t>
            </a:r>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question it raises for us</a:t>
            </a:r>
            <a:endParaRPr lang="en-US" sz="1100" dirty="0"/>
          </a:p>
        </p:txBody>
      </p:sp>
      <p:sp>
        <p:nvSpPr>
          <p:cNvPr id="19" name="Shape 16"/>
          <p:cNvSpPr/>
          <p:nvPr/>
        </p:nvSpPr>
        <p:spPr>
          <a:xfrm>
            <a:off x="5980176" y="1993392"/>
            <a:ext cx="2651760" cy="1828800"/>
          </a:xfrm>
          <a:prstGeom prst="rect">
            <a:avLst/>
          </a:prstGeom>
          <a:solidFill>
            <a:srgbClr val="D6E4F0"/>
          </a:solidFill>
          <a:ln w="12700">
            <a:solidFill>
              <a:srgbClr val="BBCCDD"/>
            </a:solidFill>
            <a:prstDash val="solid"/>
          </a:ln>
        </p:spPr>
        <p:txBody>
          <a:bodyPr/>
          <a:lstStyle/>
          <a:p>
            <a:endParaRPr lang="en-US"/>
          </a:p>
        </p:txBody>
      </p:sp>
      <p:sp>
        <p:nvSpPr>
          <p:cNvPr id="20" name="Text 17"/>
          <p:cNvSpPr/>
          <p:nvPr/>
        </p:nvSpPr>
        <p:spPr>
          <a:xfrm>
            <a:off x="6071616" y="2084832"/>
            <a:ext cx="2468880" cy="1645920"/>
          </a:xfrm>
          <a:prstGeom prst="rect">
            <a:avLst/>
          </a:prstGeom>
          <a:noFill/>
          <a:ln/>
        </p:spPr>
        <p:txBody>
          <a:bodyPr wrap="square" lIns="0" tIns="0" rIns="0" bIns="0" rtlCol="0" anchor="t"/>
          <a:lstStyle/>
          <a:p>
            <a:r>
              <a:rPr lang="en-US" sz="1100" dirty="0"/>
              <a:t>Since this attack successfully forces the detector's internal heatmaps to drop to zero, it leaves us with an excellent defensive opportunity. The core question for our project is: Can we design an anomaly detector that leverages historical frame consistency to detect sudden, unexpected drops in tracking confidence?</a:t>
            </a:r>
          </a:p>
        </p:txBody>
      </p:sp>
      <p:sp>
        <p:nvSpPr>
          <p:cNvPr id="21" name="Shape 18"/>
          <p:cNvSpPr/>
          <p:nvPr/>
        </p:nvSpPr>
        <p:spPr>
          <a:xfrm>
            <a:off x="365760" y="3931920"/>
            <a:ext cx="8412480" cy="777240"/>
          </a:xfrm>
          <a:prstGeom prst="rect">
            <a:avLst/>
          </a:prstGeom>
          <a:solidFill>
            <a:srgbClr val="2B2B2B"/>
          </a:solidFill>
          <a:ln w="12700">
            <a:solidFill>
              <a:srgbClr val="2B2B2B"/>
            </a:solidFill>
            <a:prstDash val="solid"/>
          </a:ln>
        </p:spPr>
        <p:txBody>
          <a:bodyPr/>
          <a:lstStyle/>
          <a:p>
            <a:endParaRPr lang="en-US" dirty="0"/>
          </a:p>
        </p:txBody>
      </p:sp>
      <p:sp>
        <p:nvSpPr>
          <p:cNvPr id="22" name="Text 19"/>
          <p:cNvSpPr/>
          <p:nvPr/>
        </p:nvSpPr>
        <p:spPr>
          <a:xfrm>
            <a:off x="548640" y="3931920"/>
            <a:ext cx="8046720" cy="777240"/>
          </a:xfrm>
          <a:prstGeom prst="rect">
            <a:avLst/>
          </a:prstGeom>
          <a:noFill/>
          <a:ln/>
        </p:spPr>
        <p:txBody>
          <a:bodyPr wrap="square" lIns="0" tIns="0" rIns="0" bIns="0" rtlCol="0" anchor="ctr"/>
          <a:lstStyle/>
          <a:p>
            <a:pPr marL="0" indent="0" algn="l">
              <a:buNone/>
            </a:pPr>
            <a:endParaRPr lang="en-US" sz="1200" dirty="0"/>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Connection to Our Project</a:t>
            </a:r>
            <a:endParaRPr lang="en-US" sz="2600" dirty="0"/>
          </a:p>
        </p:txBody>
      </p:sp>
      <p:sp>
        <p:nvSpPr>
          <p:cNvPr id="8" name="Text 5"/>
          <p:cNvSpPr/>
          <p:nvPr/>
        </p:nvSpPr>
        <p:spPr>
          <a:xfrm>
            <a:off x="365760" y="1234440"/>
            <a:ext cx="8412480" cy="32004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8412480" cy="1828800"/>
          </a:xfrm>
          <a:prstGeom prst="rect">
            <a:avLst/>
          </a:prstGeom>
          <a:solidFill>
            <a:srgbClr val="2B2B2B"/>
          </a:solidFill>
          <a:ln w="12700">
            <a:solidFill>
              <a:srgbClr val="2B2B2B"/>
            </a:solidFill>
            <a:prstDash val="solid"/>
          </a:ln>
        </p:spPr>
        <p:txBody>
          <a:bodyPr/>
          <a:lstStyle/>
          <a:p>
            <a:endParaRPr lang="en-US" dirty="0"/>
          </a:p>
        </p:txBody>
      </p:sp>
      <p:sp>
        <p:nvSpPr>
          <p:cNvPr id="10" name="Shape 7"/>
          <p:cNvSpPr/>
          <p:nvPr/>
        </p:nvSpPr>
        <p:spPr>
          <a:xfrm>
            <a:off x="365760" y="1645920"/>
            <a:ext cx="64008" cy="182880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91640"/>
            <a:ext cx="7315200" cy="274320"/>
          </a:xfrm>
          <a:prstGeom prst="rect">
            <a:avLst/>
          </a:prstGeom>
          <a:noFill/>
          <a:ln/>
        </p:spPr>
        <p:txBody>
          <a:bodyPr wrap="square" lIns="0" tIns="0" rIns="0" bIns="0" rtlCol="0" anchor="ctr"/>
          <a:lstStyle/>
          <a:p>
            <a:pPr marL="0" indent="0">
              <a:buNone/>
            </a:pPr>
            <a:r>
              <a:rPr lang="en-US" sz="1000" b="1" kern="0" spc="200" dirty="0">
                <a:solidFill>
                  <a:srgbClr val="AAAAAA"/>
                </a:solidFill>
                <a:latin typeface="Calibri" pitchFamily="34" charset="0"/>
                <a:ea typeface="Calibri" pitchFamily="34" charset="-122"/>
                <a:cs typeface="Calibri" pitchFamily="34" charset="-120"/>
              </a:rPr>
              <a:t>How this paper connects to blindspot:</a:t>
            </a:r>
            <a:endParaRPr lang="en-US" sz="1000" dirty="0"/>
          </a:p>
        </p:txBody>
      </p:sp>
      <p:sp>
        <p:nvSpPr>
          <p:cNvPr id="12" name="Text 9"/>
          <p:cNvSpPr/>
          <p:nvPr/>
        </p:nvSpPr>
        <p:spPr>
          <a:xfrm>
            <a:off x="594360" y="2011680"/>
            <a:ext cx="8046720" cy="1371600"/>
          </a:xfrm>
          <a:prstGeom prst="rect">
            <a:avLst/>
          </a:prstGeom>
          <a:noFill/>
          <a:ln/>
        </p:spPr>
        <p:txBody>
          <a:bodyPr wrap="square" lIns="0" tIns="0" rIns="0" bIns="0" rtlCol="0" anchor="t"/>
          <a:lstStyle/>
          <a:p>
            <a:endParaRPr lang="en-US" sz="1300" dirty="0">
              <a:solidFill>
                <a:schemeClr val="bg1"/>
              </a:solidFill>
            </a:endParaRPr>
          </a:p>
        </p:txBody>
      </p:sp>
      <p:sp>
        <p:nvSpPr>
          <p:cNvPr id="13" name="Shape 10"/>
          <p:cNvSpPr/>
          <p:nvPr/>
        </p:nvSpPr>
        <p:spPr>
          <a:xfrm>
            <a:off x="365760" y="3566160"/>
            <a:ext cx="4069080" cy="1234440"/>
          </a:xfrm>
          <a:prstGeom prst="rect">
            <a:avLst/>
          </a:prstGeom>
          <a:solidFill>
            <a:srgbClr val="E8F5E9"/>
          </a:solidFill>
          <a:ln w="12700">
            <a:solidFill>
              <a:srgbClr val="A5D6A7"/>
            </a:solidFill>
            <a:prstDash val="solid"/>
          </a:ln>
        </p:spPr>
        <p:txBody>
          <a:bodyPr/>
          <a:lstStyle/>
          <a:p>
            <a:endParaRPr lang="en-US"/>
          </a:p>
        </p:txBody>
      </p:sp>
      <p:sp>
        <p:nvSpPr>
          <p:cNvPr id="14" name="Text 11"/>
          <p:cNvSpPr/>
          <p:nvPr/>
        </p:nvSpPr>
        <p:spPr>
          <a:xfrm>
            <a:off x="475488" y="3611880"/>
            <a:ext cx="3749040" cy="320040"/>
          </a:xfrm>
          <a:prstGeom prst="rect">
            <a:avLst/>
          </a:prstGeom>
          <a:noFill/>
          <a:ln/>
        </p:spPr>
        <p:txBody>
          <a:bodyPr wrap="square" lIns="0" tIns="0" rIns="0" bIns="0" rtlCol="0" anchor="ctr"/>
          <a:lstStyle/>
          <a:p>
            <a:pPr marL="0" indent="0">
              <a:buNone/>
            </a:pPr>
            <a:r>
              <a:rPr lang="en-US" sz="1000" b="1" dirty="0">
                <a:solidFill>
                  <a:srgbClr val="1B5E20"/>
                </a:solidFill>
                <a:latin typeface="Calibri" pitchFamily="34" charset="0"/>
                <a:ea typeface="Calibri" pitchFamily="34" charset="-122"/>
                <a:cs typeface="Calibri" pitchFamily="34" charset="-120"/>
              </a:rPr>
              <a:t>This paper supports our approach because...</a:t>
            </a:r>
            <a:endParaRPr lang="en-US" sz="1000" dirty="0"/>
          </a:p>
        </p:txBody>
      </p:sp>
      <p:sp>
        <p:nvSpPr>
          <p:cNvPr id="15" name="Text 12"/>
          <p:cNvSpPr/>
          <p:nvPr/>
        </p:nvSpPr>
        <p:spPr>
          <a:xfrm>
            <a:off x="475488" y="3977640"/>
            <a:ext cx="3749040" cy="731520"/>
          </a:xfrm>
          <a:prstGeom prst="rect">
            <a:avLst/>
          </a:prstGeom>
          <a:noFill/>
          <a:ln/>
        </p:spPr>
        <p:txBody>
          <a:bodyPr wrap="square" lIns="0" tIns="0" rIns="0" bIns="0" rtlCol="0" anchor="t"/>
          <a:lstStyle/>
          <a:p>
            <a:r>
              <a:rPr lang="en-US" sz="1200" dirty="0"/>
              <a:t>It highlights that tracking systems have a massive Achilles' heel: their dependence on frame-to-frame consistency.</a:t>
            </a:r>
          </a:p>
        </p:txBody>
      </p:sp>
      <p:sp>
        <p:nvSpPr>
          <p:cNvPr id="16" name="Shape 13"/>
          <p:cNvSpPr/>
          <p:nvPr/>
        </p:nvSpPr>
        <p:spPr>
          <a:xfrm>
            <a:off x="4617720" y="3566160"/>
            <a:ext cx="4069080" cy="1234440"/>
          </a:xfrm>
          <a:prstGeom prst="rect">
            <a:avLst/>
          </a:prstGeom>
          <a:solidFill>
            <a:srgbClr val="FFEBEE"/>
          </a:solidFill>
          <a:ln w="12700">
            <a:solidFill>
              <a:srgbClr val="FFCDD2"/>
            </a:solidFill>
            <a:prstDash val="solid"/>
          </a:ln>
        </p:spPr>
        <p:txBody>
          <a:bodyPr/>
          <a:lstStyle/>
          <a:p>
            <a:endParaRPr lang="en-US"/>
          </a:p>
        </p:txBody>
      </p:sp>
      <p:sp>
        <p:nvSpPr>
          <p:cNvPr id="17" name="Text 14"/>
          <p:cNvSpPr/>
          <p:nvPr/>
        </p:nvSpPr>
        <p:spPr>
          <a:xfrm>
            <a:off x="4727448" y="3611880"/>
            <a:ext cx="3749040" cy="320040"/>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This paper challenges our approach because...</a:t>
            </a:r>
            <a:endParaRPr lang="en-US" sz="1000" dirty="0"/>
          </a:p>
        </p:txBody>
      </p:sp>
      <p:sp>
        <p:nvSpPr>
          <p:cNvPr id="18" name="Text 15"/>
          <p:cNvSpPr/>
          <p:nvPr/>
        </p:nvSpPr>
        <p:spPr>
          <a:xfrm>
            <a:off x="4727448" y="3977640"/>
            <a:ext cx="3749040" cy="731520"/>
          </a:xfrm>
          <a:prstGeom prst="rect">
            <a:avLst/>
          </a:prstGeom>
          <a:noFill/>
          <a:ln/>
        </p:spPr>
        <p:txBody>
          <a:bodyPr wrap="square" lIns="0" tIns="0" rIns="0" bIns="0" rtlCol="0" anchor="t"/>
          <a:lstStyle/>
          <a:p>
            <a:r>
              <a:rPr lang="en-US" sz="1200" dirty="0"/>
              <a:t>The digital pixel noise used to blind the tracker is mathematically optimized to be completely invisible to the human eye and highly effective against the model's internal feature extractors. </a:t>
            </a:r>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 7</a:t>
            </a:r>
            <a:endParaRPr lang="en-US" sz="900" dirty="0"/>
          </a:p>
        </p:txBody>
      </p:sp>
      <p:sp>
        <p:nvSpPr>
          <p:cNvPr id="23" name="Rectangle 2">
            <a:extLst>
              <a:ext uri="{FF2B5EF4-FFF2-40B4-BE49-F238E27FC236}">
                <a16:creationId xmlns:a16="http://schemas.microsoft.com/office/drawing/2014/main" id="{A38ACBF2-5499-4851-EC6E-292C6FECF4D4}"/>
              </a:ext>
            </a:extLst>
          </p:cNvPr>
          <p:cNvSpPr>
            <a:spLocks noChangeArrowheads="1"/>
          </p:cNvSpPr>
          <p:nvPr/>
        </p:nvSpPr>
        <p:spPr bwMode="auto">
          <a:xfrm>
            <a:off x="687341" y="2020922"/>
            <a:ext cx="7024680"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100" b="0" i="0" u="none" strike="noStrike" cap="none" normalizeH="0" baseline="0" dirty="0">
                <a:ln>
                  <a:noFill/>
                </a:ln>
                <a:solidFill>
                  <a:schemeClr val="bg1"/>
                </a:solidFill>
                <a:effectLst/>
                <a:latin typeface="Arial" panose="020B0604020202020204" pitchFamily="34" charset="0"/>
              </a:rPr>
              <a:t>This </a:t>
            </a:r>
            <a:r>
              <a:rPr lang="en-US" altLang="en-US" sz="1100" dirty="0">
                <a:solidFill>
                  <a:schemeClr val="bg1"/>
                </a:solidFill>
                <a:latin typeface="Arial" panose="020B0604020202020204" pitchFamily="34" charset="0"/>
              </a:rPr>
              <a:t>paper informs </a:t>
            </a:r>
            <a:r>
              <a:rPr kumimoji="0" lang="en-US" altLang="en-US" sz="1100" b="0" i="0" u="none" strike="noStrike" cap="none" normalizeH="0" baseline="0" dirty="0">
                <a:ln>
                  <a:noFill/>
                </a:ln>
                <a:solidFill>
                  <a:schemeClr val="bg1"/>
                </a:solidFill>
                <a:effectLst/>
                <a:latin typeface="Arial" panose="020B0604020202020204" pitchFamily="34" charset="0"/>
              </a:rPr>
              <a:t>our detection method by showing that live frame-by-frame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perturbations alter the data association layer over time. It tells us that we can detect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poisoned frames by looking for the distinct "footprint" left behind by the attack—specifically, sharp, impossible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100" b="0" i="0" u="none" strike="noStrike" cap="none" normalizeH="0" baseline="0" dirty="0">
                <a:ln>
                  <a:noFill/>
                </a:ln>
                <a:solidFill>
                  <a:schemeClr val="bg1"/>
                </a:solidFill>
                <a:effectLst/>
                <a:latin typeface="Arial" panose="020B0604020202020204" pitchFamily="34" charset="0"/>
              </a:rPr>
              <a:t>drops in the tracker's confidence maps and sudden trajectory drift errors that conflict with real-world physics.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954</TotalTime>
  <Words>1018</Words>
  <Application>Microsoft Macintosh PowerPoint</Application>
  <PresentationFormat>Widescreen</PresentationFormat>
  <Paragraphs>77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4</cp:revision>
  <dcterms:created xsi:type="dcterms:W3CDTF">2026-05-19T13:44:10Z</dcterms:created>
  <dcterms:modified xsi:type="dcterms:W3CDTF">2026-05-31T00:23:15Z</dcterms:modified>
</cp:coreProperties>
</file>