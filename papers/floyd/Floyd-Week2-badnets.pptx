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373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2B"/>
        </a:solidFill>
        <a:effectLst/>
      </p:bgPr>
    </p:bg>
    <p:spTree>
      <p:nvGrpSpPr>
        <p:cNvPr id="1" name=""/>
        <p:cNvGrpSpPr/>
        <p:nvPr/>
      </p:nvGrpSpPr>
      <p:grpSpPr>
        <a:xfrm>
          <a:off x="0" y="0"/>
          <a:ext cx="0" cy="0"/>
          <a:chOff x="0" y="0"/>
          <a:chExt cx="0" cy="0"/>
        </a:xfrm>
      </p:grpSpPr>
      <p:pic>
        <p:nvPicPr>
          <p:cNvPr id="2" name="Image 0" descr="template_img1.png"/>
          <p:cNvPicPr>
            <a:picLocks noChangeAspect="1"/>
          </p:cNvPicPr>
          <p:nvPr/>
        </p:nvPicPr>
        <p:blipFill>
          <a:blip r:embed="rId3"/>
          <a:stretch>
            <a:fillRect/>
          </a:stretch>
        </p:blipFill>
        <p:spPr>
          <a:xfrm>
            <a:off x="6217920" y="182880"/>
            <a:ext cx="2743200" cy="502920"/>
          </a:xfrm>
          <a:prstGeom prst="rect">
            <a:avLst/>
          </a:prstGeom>
        </p:spPr>
      </p:pic>
      <p:sp>
        <p:nvSpPr>
          <p:cNvPr id="3" name="Text 0"/>
          <p:cNvSpPr/>
          <p:nvPr/>
        </p:nvSpPr>
        <p:spPr>
          <a:xfrm>
            <a:off x="365760" y="822960"/>
            <a:ext cx="5486400" cy="1005840"/>
          </a:xfrm>
          <a:prstGeom prst="rect">
            <a:avLst/>
          </a:prstGeom>
          <a:noFill/>
          <a:ln/>
        </p:spPr>
        <p:txBody>
          <a:bodyPr wrap="square" lIns="0" tIns="0" rIns="0" bIns="0" rtlCol="0" anchor="ctr"/>
          <a:lstStyle/>
          <a:p>
            <a:pPr marL="0" indent="0" algn="l">
              <a:buNone/>
            </a:pPr>
            <a:r>
              <a:rPr lang="en-US" sz="5400" b="1" dirty="0">
                <a:solidFill>
                  <a:srgbClr val="FFFFFF"/>
                </a:solidFill>
                <a:latin typeface="Georgia" pitchFamily="34" charset="0"/>
                <a:ea typeface="Georgia" pitchFamily="34" charset="-122"/>
                <a:cs typeface="Georgia" pitchFamily="34" charset="-120"/>
              </a:rPr>
              <a:t>blindspot</a:t>
            </a:r>
            <a:endParaRPr lang="en-US" sz="5400" dirty="0"/>
          </a:p>
        </p:txBody>
      </p:sp>
      <p:sp>
        <p:nvSpPr>
          <p:cNvPr id="4" name="Text 1"/>
          <p:cNvSpPr/>
          <p:nvPr/>
        </p:nvSpPr>
        <p:spPr>
          <a:xfrm>
            <a:off x="365760" y="1874520"/>
            <a:ext cx="6400800" cy="365760"/>
          </a:xfrm>
          <a:prstGeom prst="rect">
            <a:avLst/>
          </a:prstGeom>
          <a:noFill/>
          <a:ln/>
        </p:spPr>
        <p:txBody>
          <a:bodyPr wrap="square" lIns="0" tIns="0" rIns="0" bIns="0" rtlCol="0" anchor="ctr"/>
          <a:lstStyle/>
          <a:p>
            <a:pPr marL="0" indent="0" algn="l">
              <a:buNone/>
            </a:pPr>
            <a:r>
              <a:rPr lang="en-US" sz="1400" i="1" dirty="0">
                <a:solidFill>
                  <a:srgbClr val="AAAAAA"/>
                </a:solidFill>
                <a:latin typeface="Calibri" pitchFamily="34" charset="0"/>
                <a:ea typeface="Calibri" pitchFamily="34" charset="-122"/>
                <a:cs typeface="Calibri" pitchFamily="34" charset="-120"/>
              </a:rPr>
              <a:t>detecting what the tracker cannot see</a:t>
            </a:r>
            <a:endParaRPr lang="en-US" sz="1400" dirty="0"/>
          </a:p>
        </p:txBody>
      </p:sp>
      <p:sp>
        <p:nvSpPr>
          <p:cNvPr id="5" name="Shape 2"/>
          <p:cNvSpPr/>
          <p:nvPr/>
        </p:nvSpPr>
        <p:spPr>
          <a:xfrm>
            <a:off x="365760" y="2377440"/>
            <a:ext cx="5029200" cy="4572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2560320"/>
            <a:ext cx="1280160" cy="411480"/>
          </a:xfrm>
          <a:prstGeom prst="rect">
            <a:avLst/>
          </a:prstGeom>
          <a:noFill/>
          <a:ln/>
        </p:spPr>
        <p:txBody>
          <a:bodyPr wrap="square" lIns="0" tIns="0" rIns="0" bIns="0" rtlCol="0" anchor="ctr"/>
          <a:lstStyle/>
          <a:p>
            <a:pPr marL="0" indent="0" algn="l">
              <a:buNone/>
            </a:pPr>
            <a:r>
              <a:rPr lang="en-US" sz="1100" b="1" dirty="0">
                <a:solidFill>
                  <a:srgbClr val="AAAAAA"/>
                </a:solidFill>
                <a:latin typeface="Calibri" pitchFamily="34" charset="0"/>
                <a:ea typeface="Calibri" pitchFamily="34" charset="-122"/>
                <a:cs typeface="Calibri" pitchFamily="34" charset="-120"/>
              </a:rPr>
              <a:t>Paper title:</a:t>
            </a:r>
            <a:endParaRPr lang="en-US" sz="1100" dirty="0"/>
          </a:p>
        </p:txBody>
      </p:sp>
      <p:sp>
        <p:nvSpPr>
          <p:cNvPr id="7" name="Text 4"/>
          <p:cNvSpPr/>
          <p:nvPr/>
        </p:nvSpPr>
        <p:spPr>
          <a:xfrm>
            <a:off x="1737360" y="2560320"/>
            <a:ext cx="6858000" cy="411480"/>
          </a:xfrm>
          <a:prstGeom prst="rect">
            <a:avLst/>
          </a:prstGeom>
          <a:noFill/>
          <a:ln/>
        </p:spPr>
        <p:txBody>
          <a:bodyPr wrap="square" lIns="0" tIns="0" rIns="0" bIns="0" rtlCol="0" anchor="ctr"/>
          <a:lstStyle/>
          <a:p>
            <a:r>
              <a:rPr lang="en-US" sz="1400" dirty="0" err="1">
                <a:solidFill>
                  <a:schemeClr val="bg1"/>
                </a:solidFill>
              </a:rPr>
              <a:t>BadNets</a:t>
            </a:r>
            <a:r>
              <a:rPr lang="en-US" sz="1400" dirty="0">
                <a:solidFill>
                  <a:schemeClr val="bg1"/>
                </a:solidFill>
              </a:rPr>
              <a:t>: Evaluating Backdooring Attacks on Deep Neural Networks.</a:t>
            </a:r>
            <a:endParaRPr lang="en-US" sz="1300" dirty="0">
              <a:solidFill>
                <a:schemeClr val="bg1"/>
              </a:solidFill>
            </a:endParaRPr>
          </a:p>
        </p:txBody>
      </p:sp>
      <p:sp>
        <p:nvSpPr>
          <p:cNvPr id="8" name="Text 5"/>
          <p:cNvSpPr/>
          <p:nvPr/>
        </p:nvSpPr>
        <p:spPr>
          <a:xfrm>
            <a:off x="365760" y="3035808"/>
            <a:ext cx="1280160" cy="411480"/>
          </a:xfrm>
          <a:prstGeom prst="rect">
            <a:avLst/>
          </a:prstGeom>
          <a:noFill/>
          <a:ln/>
        </p:spPr>
        <p:txBody>
          <a:bodyPr wrap="square" lIns="0" tIns="0" rIns="0" bIns="0" rtlCol="0" anchor="ctr"/>
          <a:lstStyle/>
          <a:p>
            <a:pPr marL="0" indent="0" algn="l">
              <a:buNone/>
            </a:pPr>
            <a:r>
              <a:rPr lang="en-US" sz="1100" b="1" dirty="0">
                <a:solidFill>
                  <a:srgbClr val="AAAAAA"/>
                </a:solidFill>
                <a:latin typeface="Calibri" pitchFamily="34" charset="0"/>
                <a:ea typeface="Calibri" pitchFamily="34" charset="-122"/>
                <a:cs typeface="Calibri" pitchFamily="34" charset="-120"/>
              </a:rPr>
              <a:t>Authors:</a:t>
            </a:r>
            <a:endParaRPr lang="en-US" sz="1100" dirty="0"/>
          </a:p>
        </p:txBody>
      </p:sp>
      <p:sp>
        <p:nvSpPr>
          <p:cNvPr id="9" name="Text 6"/>
          <p:cNvSpPr/>
          <p:nvPr/>
        </p:nvSpPr>
        <p:spPr>
          <a:xfrm>
            <a:off x="1737360" y="3035808"/>
            <a:ext cx="6858000" cy="411480"/>
          </a:xfrm>
          <a:prstGeom prst="rect">
            <a:avLst/>
          </a:prstGeom>
          <a:noFill/>
          <a:ln/>
        </p:spPr>
        <p:txBody>
          <a:bodyPr wrap="square" lIns="0" tIns="0" rIns="0" bIns="0" rtlCol="0" anchor="ctr"/>
          <a:lstStyle/>
          <a:p>
            <a:r>
              <a:rPr lang="en-US" sz="1400" dirty="0">
                <a:solidFill>
                  <a:schemeClr val="bg1"/>
                </a:solidFill>
              </a:rPr>
              <a:t>Gu, T., Liu, K., Dolan-Gavitt, B., &amp; Garg, S.</a:t>
            </a:r>
            <a:endParaRPr lang="en-US" sz="1300" dirty="0">
              <a:solidFill>
                <a:schemeClr val="bg1"/>
              </a:solidFill>
            </a:endParaRPr>
          </a:p>
        </p:txBody>
      </p:sp>
      <p:sp>
        <p:nvSpPr>
          <p:cNvPr id="10" name="Text 7"/>
          <p:cNvSpPr/>
          <p:nvPr/>
        </p:nvSpPr>
        <p:spPr>
          <a:xfrm>
            <a:off x="365760" y="3511296"/>
            <a:ext cx="1280160" cy="411480"/>
          </a:xfrm>
          <a:prstGeom prst="rect">
            <a:avLst/>
          </a:prstGeom>
          <a:noFill/>
          <a:ln/>
        </p:spPr>
        <p:txBody>
          <a:bodyPr wrap="square" lIns="0" tIns="0" rIns="0" bIns="0" rtlCol="0" anchor="ctr"/>
          <a:lstStyle/>
          <a:p>
            <a:pPr marL="0" indent="0" algn="l">
              <a:buNone/>
            </a:pPr>
            <a:r>
              <a:rPr lang="en-US" sz="1100" b="1" dirty="0">
                <a:solidFill>
                  <a:srgbClr val="AAAAAA"/>
                </a:solidFill>
                <a:latin typeface="Calibri" pitchFamily="34" charset="0"/>
                <a:ea typeface="Calibri" pitchFamily="34" charset="-122"/>
                <a:cs typeface="Calibri" pitchFamily="34" charset="-120"/>
              </a:rPr>
              <a:t>Venue &amp; year:</a:t>
            </a:r>
            <a:endParaRPr lang="en-US" sz="1100" dirty="0"/>
          </a:p>
        </p:txBody>
      </p:sp>
      <p:sp>
        <p:nvSpPr>
          <p:cNvPr id="11" name="Text 8"/>
          <p:cNvSpPr/>
          <p:nvPr/>
        </p:nvSpPr>
        <p:spPr>
          <a:xfrm>
            <a:off x="1737360" y="3511296"/>
            <a:ext cx="6858000" cy="411480"/>
          </a:xfrm>
          <a:prstGeom prst="rect">
            <a:avLst/>
          </a:prstGeom>
          <a:noFill/>
          <a:ln/>
        </p:spPr>
        <p:txBody>
          <a:bodyPr wrap="square" lIns="0" tIns="0" rIns="0" bIns="0" rtlCol="0" anchor="ctr"/>
          <a:lstStyle/>
          <a:p>
            <a:r>
              <a:rPr lang="en-US" sz="1400" i="1" dirty="0">
                <a:solidFill>
                  <a:schemeClr val="bg1"/>
                </a:solidFill>
              </a:rPr>
              <a:t>IEEE Access</a:t>
            </a:r>
            <a:r>
              <a:rPr lang="en-US" sz="1400" dirty="0">
                <a:solidFill>
                  <a:schemeClr val="bg1"/>
                </a:solidFill>
              </a:rPr>
              <a:t>, 7, 47231-47244. (2023)</a:t>
            </a:r>
            <a:endParaRPr lang="en-US" sz="1300" dirty="0">
              <a:solidFill>
                <a:schemeClr val="bg1"/>
              </a:solidFill>
            </a:endParaRPr>
          </a:p>
        </p:txBody>
      </p:sp>
      <p:sp>
        <p:nvSpPr>
          <p:cNvPr id="12" name="Text 9"/>
          <p:cNvSpPr/>
          <p:nvPr/>
        </p:nvSpPr>
        <p:spPr>
          <a:xfrm>
            <a:off x="365760" y="3986784"/>
            <a:ext cx="1280160" cy="411480"/>
          </a:xfrm>
          <a:prstGeom prst="rect">
            <a:avLst/>
          </a:prstGeom>
          <a:noFill/>
          <a:ln/>
        </p:spPr>
        <p:txBody>
          <a:bodyPr wrap="square" lIns="0" tIns="0" rIns="0" bIns="0" rtlCol="0" anchor="ctr"/>
          <a:lstStyle/>
          <a:p>
            <a:pPr marL="0" indent="0" algn="l">
              <a:buNone/>
            </a:pPr>
            <a:r>
              <a:rPr lang="en-US" sz="1100" b="1" dirty="0">
                <a:solidFill>
                  <a:srgbClr val="AAAAAA"/>
                </a:solidFill>
                <a:latin typeface="Calibri" pitchFamily="34" charset="0"/>
                <a:ea typeface="Calibri" pitchFamily="34" charset="-122"/>
                <a:cs typeface="Calibri" pitchFamily="34" charset="-120"/>
              </a:rPr>
              <a:t>Link:</a:t>
            </a:r>
            <a:endParaRPr lang="en-US" sz="1100" dirty="0"/>
          </a:p>
        </p:txBody>
      </p:sp>
      <p:sp>
        <p:nvSpPr>
          <p:cNvPr id="13" name="Text 10"/>
          <p:cNvSpPr/>
          <p:nvPr/>
        </p:nvSpPr>
        <p:spPr>
          <a:xfrm>
            <a:off x="1737360" y="3986784"/>
            <a:ext cx="6858000" cy="411480"/>
          </a:xfrm>
          <a:prstGeom prst="rect">
            <a:avLst/>
          </a:prstGeom>
          <a:noFill/>
          <a:ln/>
        </p:spPr>
        <p:txBody>
          <a:bodyPr wrap="square" lIns="0" tIns="0" rIns="0" bIns="0" rtlCol="0" anchor="ctr"/>
          <a:lstStyle/>
          <a:p>
            <a:r>
              <a:rPr lang="en-US" sz="1400" dirty="0" err="1">
                <a:solidFill>
                  <a:schemeClr val="bg1"/>
                </a:solidFill>
              </a:rPr>
              <a:t>doi.org</a:t>
            </a:r>
            <a:r>
              <a:rPr lang="en-US" sz="1400" dirty="0">
                <a:solidFill>
                  <a:schemeClr val="bg1"/>
                </a:solidFill>
              </a:rPr>
              <a:t>/10.1109/ACCESS.2019.2909335</a:t>
            </a:r>
            <a:endParaRPr lang="en-US" sz="1300" dirty="0">
              <a:solidFill>
                <a:schemeClr val="bg1"/>
              </a:solidFill>
            </a:endParaRPr>
          </a:p>
        </p:txBody>
      </p:sp>
      <p:sp>
        <p:nvSpPr>
          <p:cNvPr id="14" name="Text 11"/>
          <p:cNvSpPr/>
          <p:nvPr/>
        </p:nvSpPr>
        <p:spPr>
          <a:xfrm>
            <a:off x="365760" y="6035040"/>
            <a:ext cx="7315200" cy="320040"/>
          </a:xfrm>
          <a:prstGeom prst="rect">
            <a:avLst/>
          </a:prstGeom>
          <a:noFill/>
          <a:ln/>
        </p:spPr>
        <p:txBody>
          <a:bodyPr wrap="square" lIns="0" tIns="0" rIns="0" bIns="0" rtlCol="0" anchor="ctr"/>
          <a:lstStyle/>
          <a:p>
            <a:pPr marL="0" indent="0" algn="l">
              <a:buNone/>
            </a:pPr>
            <a:r>
              <a:rPr lang="en-US" sz="1100" dirty="0">
                <a:solidFill>
                  <a:srgbClr val="888888"/>
                </a:solidFill>
                <a:latin typeface="Calibri" pitchFamily="34" charset="0"/>
                <a:ea typeface="Calibri" pitchFamily="34" charset="-122"/>
                <a:cs typeface="Calibri" pitchFamily="34" charset="-120"/>
              </a:rPr>
              <a:t>Floyd Dodwell·  Week 2  ·  P.R.I.M.E. Summer 2026</a:t>
            </a:r>
            <a:endParaRPr lang="en-US" sz="1100" dirty="0"/>
          </a:p>
        </p:txBody>
      </p:sp>
      <p:sp>
        <p:nvSpPr>
          <p:cNvPr id="15" name="Shape 12"/>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16" name="Text 13"/>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17" name="Text 14"/>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1 / 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pPr marL="0" indent="0" algn="l">
              <a:buNone/>
            </a:pPr>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Main Argument</a:t>
            </a:r>
            <a:endParaRPr lang="en-US" sz="2600" dirty="0"/>
          </a:p>
        </p:txBody>
      </p:sp>
      <p:sp>
        <p:nvSpPr>
          <p:cNvPr id="8" name="Text 5"/>
          <p:cNvSpPr/>
          <p:nvPr/>
        </p:nvSpPr>
        <p:spPr>
          <a:xfrm>
            <a:off x="365760" y="1234440"/>
            <a:ext cx="8412480" cy="320040"/>
          </a:xfrm>
          <a:prstGeom prst="rect">
            <a:avLst/>
          </a:prstGeom>
          <a:noFill/>
          <a:ln/>
        </p:spPr>
        <p:txBody>
          <a:bodyPr wrap="square" lIns="0" tIns="0" rIns="0" bIns="0" rtlCol="0" anchor="ctr"/>
          <a:lstStyle/>
          <a:p>
            <a:pPr marL="0" indent="0" algn="l">
              <a:buNone/>
            </a:pPr>
            <a:endParaRPr lang="en-US" sz="1100" dirty="0"/>
          </a:p>
        </p:txBody>
      </p:sp>
      <p:sp>
        <p:nvSpPr>
          <p:cNvPr id="9" name="Shape 6"/>
          <p:cNvSpPr/>
          <p:nvPr/>
        </p:nvSpPr>
        <p:spPr>
          <a:xfrm>
            <a:off x="365760" y="1645920"/>
            <a:ext cx="8412480" cy="2011680"/>
          </a:xfrm>
          <a:prstGeom prst="rect">
            <a:avLst/>
          </a:prstGeom>
          <a:solidFill>
            <a:srgbClr val="2B2B2B"/>
          </a:solidFill>
          <a:ln w="12700">
            <a:solidFill>
              <a:srgbClr val="2B2B2B"/>
            </a:solidFill>
            <a:prstDash val="solid"/>
          </a:ln>
        </p:spPr>
        <p:txBody>
          <a:bodyPr/>
          <a:lstStyle/>
          <a:p>
            <a:endParaRPr lang="en-US"/>
          </a:p>
        </p:txBody>
      </p:sp>
      <p:sp>
        <p:nvSpPr>
          <p:cNvPr id="10" name="Shape 7"/>
          <p:cNvSpPr/>
          <p:nvPr/>
        </p:nvSpPr>
        <p:spPr>
          <a:xfrm>
            <a:off x="365760" y="1645920"/>
            <a:ext cx="73152" cy="2011680"/>
          </a:xfrm>
          <a:prstGeom prst="rect">
            <a:avLst/>
          </a:prstGeom>
          <a:solidFill>
            <a:srgbClr val="C8102E"/>
          </a:solidFill>
          <a:ln w="12700">
            <a:solidFill>
              <a:srgbClr val="C8102E"/>
            </a:solidFill>
            <a:prstDash val="solid"/>
          </a:ln>
        </p:spPr>
        <p:txBody>
          <a:bodyPr/>
          <a:lstStyle/>
          <a:p>
            <a:endParaRPr lang="en-US"/>
          </a:p>
        </p:txBody>
      </p:sp>
      <p:sp>
        <p:nvSpPr>
          <p:cNvPr id="11" name="Text 8"/>
          <p:cNvSpPr/>
          <p:nvPr/>
        </p:nvSpPr>
        <p:spPr>
          <a:xfrm>
            <a:off x="594360" y="1645920"/>
            <a:ext cx="8092440" cy="2011680"/>
          </a:xfrm>
          <a:prstGeom prst="rect">
            <a:avLst/>
          </a:prstGeom>
          <a:noFill/>
          <a:ln/>
        </p:spPr>
        <p:txBody>
          <a:bodyPr wrap="square" lIns="203200" tIns="203200" rIns="203200" bIns="203200" rtlCol="0" anchor="ctr"/>
          <a:lstStyle/>
          <a:p>
            <a:r>
              <a:rPr lang="en-US" sz="2000" dirty="0">
                <a:solidFill>
                  <a:schemeClr val="bg1"/>
                </a:solidFill>
              </a:rPr>
              <a:t>The paper claims that outsourcing the training process allows an adversary to inject a stealthy backdoor trigger into a neural network's weights, causing it to fail predictably on triggered inputs while operating flawlessly on clean data.</a:t>
            </a:r>
          </a:p>
        </p:txBody>
      </p:sp>
      <p:sp>
        <p:nvSpPr>
          <p:cNvPr id="12" name="Text 9"/>
          <p:cNvSpPr/>
          <p:nvPr/>
        </p:nvSpPr>
        <p:spPr>
          <a:xfrm>
            <a:off x="365760" y="3840480"/>
            <a:ext cx="8412480" cy="274320"/>
          </a:xfrm>
          <a:prstGeom prst="rect">
            <a:avLst/>
          </a:prstGeom>
          <a:noFill/>
          <a:ln/>
        </p:spPr>
        <p:txBody>
          <a:bodyPr wrap="square" lIns="0" tIns="0" rIns="0" bIns="0" rtlCol="0" anchor="ctr"/>
          <a:lstStyle/>
          <a:p>
            <a:pPr marL="0" indent="0" algn="l">
              <a:buNone/>
            </a:pPr>
            <a:r>
              <a:rPr lang="en-US" sz="1200" b="1" dirty="0">
                <a:solidFill>
                  <a:srgbClr val="0D9488"/>
                </a:solidFill>
                <a:latin typeface="Calibri" pitchFamily="34" charset="0"/>
                <a:ea typeface="Calibri" pitchFamily="34" charset="-122"/>
                <a:cs typeface="Calibri" pitchFamily="34" charset="-120"/>
              </a:rPr>
              <a:t>Why does this matter?</a:t>
            </a:r>
            <a:endParaRPr lang="en-US" sz="1200" dirty="0"/>
          </a:p>
        </p:txBody>
      </p:sp>
      <p:sp>
        <p:nvSpPr>
          <p:cNvPr id="13" name="Shape 10"/>
          <p:cNvSpPr/>
          <p:nvPr/>
        </p:nvSpPr>
        <p:spPr>
          <a:xfrm>
            <a:off x="365760" y="4160520"/>
            <a:ext cx="8412480" cy="685800"/>
          </a:xfrm>
          <a:prstGeom prst="rect">
            <a:avLst/>
          </a:prstGeom>
          <a:solidFill>
            <a:srgbClr val="D6E4F0"/>
          </a:solidFill>
          <a:ln w="12700">
            <a:solidFill>
              <a:srgbClr val="CCDDEE"/>
            </a:solidFill>
            <a:prstDash val="solid"/>
          </a:ln>
        </p:spPr>
        <p:txBody>
          <a:bodyPr/>
          <a:lstStyle/>
          <a:p>
            <a:endParaRPr lang="en-US"/>
          </a:p>
        </p:txBody>
      </p:sp>
      <p:sp>
        <p:nvSpPr>
          <p:cNvPr id="14" name="Text 11"/>
          <p:cNvSpPr/>
          <p:nvPr/>
        </p:nvSpPr>
        <p:spPr>
          <a:xfrm>
            <a:off x="502920" y="4160520"/>
            <a:ext cx="8138160" cy="685800"/>
          </a:xfrm>
          <a:prstGeom prst="rect">
            <a:avLst/>
          </a:prstGeom>
          <a:noFill/>
          <a:ln/>
        </p:spPr>
        <p:txBody>
          <a:bodyPr wrap="square" lIns="0" tIns="0" rIns="0" bIns="0" rtlCol="0" anchor="ctr"/>
          <a:lstStyle/>
          <a:p>
            <a:r>
              <a:rPr lang="en-US" sz="1400" dirty="0"/>
              <a:t>This matters to Blindspot because it proves that standard model validation metrics are completely blind to hidden threats.</a:t>
            </a:r>
            <a:endParaRPr lang="en-US" sz="1300" dirty="0"/>
          </a:p>
        </p:txBody>
      </p:sp>
      <p:sp>
        <p:nvSpPr>
          <p:cNvPr id="15" name="Shape 12"/>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16" name="Text 13"/>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17" name="Text 14"/>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2 / 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Method or Evidence</a:t>
            </a:r>
            <a:endParaRPr lang="en-US" sz="2600" dirty="0"/>
          </a:p>
        </p:txBody>
      </p:sp>
      <p:sp>
        <p:nvSpPr>
          <p:cNvPr id="8" name="Text 5"/>
          <p:cNvSpPr/>
          <p:nvPr/>
        </p:nvSpPr>
        <p:spPr>
          <a:xfrm>
            <a:off x="365760" y="1234440"/>
            <a:ext cx="8412480" cy="274320"/>
          </a:xfrm>
          <a:prstGeom prst="rect">
            <a:avLst/>
          </a:prstGeom>
          <a:noFill/>
          <a:ln/>
        </p:spPr>
        <p:txBody>
          <a:bodyPr wrap="square" lIns="0" tIns="0" rIns="0" bIns="0" rtlCol="0" anchor="ctr"/>
          <a:lstStyle/>
          <a:p>
            <a:pPr marL="0" indent="0" algn="l">
              <a:buNone/>
            </a:pPr>
            <a:endParaRPr lang="en-US" sz="1100" dirty="0"/>
          </a:p>
        </p:txBody>
      </p:sp>
      <p:sp>
        <p:nvSpPr>
          <p:cNvPr id="9" name="Shape 6"/>
          <p:cNvSpPr/>
          <p:nvPr/>
        </p:nvSpPr>
        <p:spPr>
          <a:xfrm>
            <a:off x="365760"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0" name="Text 7"/>
          <p:cNvSpPr/>
          <p:nvPr/>
        </p:nvSpPr>
        <p:spPr>
          <a:xfrm>
            <a:off x="365760" y="1645920"/>
            <a:ext cx="2651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Dataset or setting</a:t>
            </a:r>
            <a:endParaRPr lang="en-US" sz="1200" dirty="0"/>
          </a:p>
        </p:txBody>
      </p:sp>
      <p:sp>
        <p:nvSpPr>
          <p:cNvPr id="11" name="Shape 8"/>
          <p:cNvSpPr/>
          <p:nvPr/>
        </p:nvSpPr>
        <p:spPr>
          <a:xfrm>
            <a:off x="365760" y="1993392"/>
            <a:ext cx="2651760" cy="1645920"/>
          </a:xfrm>
          <a:prstGeom prst="rect">
            <a:avLst/>
          </a:prstGeom>
          <a:solidFill>
            <a:srgbClr val="F7F7F7"/>
          </a:solidFill>
          <a:ln w="12700">
            <a:solidFill>
              <a:srgbClr val="E8E8E8"/>
            </a:solidFill>
            <a:prstDash val="solid"/>
          </a:ln>
        </p:spPr>
        <p:txBody>
          <a:bodyPr/>
          <a:lstStyle/>
          <a:p>
            <a:endParaRPr lang="en-US"/>
          </a:p>
        </p:txBody>
      </p:sp>
      <p:sp>
        <p:nvSpPr>
          <p:cNvPr id="12" name="Text 9"/>
          <p:cNvSpPr/>
          <p:nvPr/>
        </p:nvSpPr>
        <p:spPr>
          <a:xfrm>
            <a:off x="457200" y="2057400"/>
            <a:ext cx="2468880" cy="1508760"/>
          </a:xfrm>
          <a:prstGeom prst="rect">
            <a:avLst/>
          </a:prstGeom>
          <a:noFill/>
          <a:ln/>
        </p:spPr>
        <p:txBody>
          <a:bodyPr wrap="square" lIns="0" tIns="0" rIns="0" bIns="0" rtlCol="0" anchor="t"/>
          <a:lstStyle/>
          <a:p>
            <a:r>
              <a:rPr lang="en-US" sz="1200" dirty="0"/>
              <a:t>They evaluated the attack using two standard image datasets: the MNIST handwritten digit dataset (70,000 images) and a comprehensive Traffic Sign recognition dataset featuring real-world road signs.</a:t>
            </a:r>
          </a:p>
        </p:txBody>
      </p:sp>
      <p:sp>
        <p:nvSpPr>
          <p:cNvPr id="13" name="Shape 10"/>
          <p:cNvSpPr/>
          <p:nvPr/>
        </p:nvSpPr>
        <p:spPr>
          <a:xfrm>
            <a:off x="3172968"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4" name="Text 11"/>
          <p:cNvSpPr/>
          <p:nvPr/>
        </p:nvSpPr>
        <p:spPr>
          <a:xfrm>
            <a:off x="3172968" y="1645920"/>
            <a:ext cx="2651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Experimental approach</a:t>
            </a:r>
            <a:endParaRPr lang="en-US" sz="1200" dirty="0"/>
          </a:p>
        </p:txBody>
      </p:sp>
      <p:sp>
        <p:nvSpPr>
          <p:cNvPr id="15" name="Shape 12"/>
          <p:cNvSpPr/>
          <p:nvPr/>
        </p:nvSpPr>
        <p:spPr>
          <a:xfrm>
            <a:off x="3172968" y="1993392"/>
            <a:ext cx="2651760" cy="1645920"/>
          </a:xfrm>
          <a:prstGeom prst="rect">
            <a:avLst/>
          </a:prstGeom>
          <a:solidFill>
            <a:srgbClr val="F7F7F7"/>
          </a:solidFill>
          <a:ln w="12700">
            <a:solidFill>
              <a:srgbClr val="E8E8E8"/>
            </a:solidFill>
            <a:prstDash val="solid"/>
          </a:ln>
        </p:spPr>
        <p:txBody>
          <a:bodyPr/>
          <a:lstStyle/>
          <a:p>
            <a:endParaRPr lang="en-US"/>
          </a:p>
        </p:txBody>
      </p:sp>
      <p:sp>
        <p:nvSpPr>
          <p:cNvPr id="16" name="Text 13"/>
          <p:cNvSpPr/>
          <p:nvPr/>
        </p:nvSpPr>
        <p:spPr>
          <a:xfrm>
            <a:off x="3264408" y="2057400"/>
            <a:ext cx="2468880" cy="1508760"/>
          </a:xfrm>
          <a:prstGeom prst="rect">
            <a:avLst/>
          </a:prstGeom>
          <a:noFill/>
          <a:ln/>
        </p:spPr>
        <p:txBody>
          <a:bodyPr wrap="square" lIns="0" tIns="0" rIns="0" bIns="0" rtlCol="0" anchor="t"/>
          <a:lstStyle/>
          <a:p>
            <a:r>
              <a:rPr lang="en-US" sz="1100" dirty="0"/>
              <a:t>They injected a backdoor by corrupting a small percentage of the training data. For these selected images, they added a distinct visual trigger (like a single pixel pattern or a physical yellow sticker) and altered their text labels to a completely wrong category before training the neural network from scratch on the mixed data.</a:t>
            </a:r>
          </a:p>
        </p:txBody>
      </p:sp>
      <p:sp>
        <p:nvSpPr>
          <p:cNvPr id="17" name="Shape 14"/>
          <p:cNvSpPr/>
          <p:nvPr/>
        </p:nvSpPr>
        <p:spPr>
          <a:xfrm>
            <a:off x="5980176"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8" name="Text 15"/>
          <p:cNvSpPr/>
          <p:nvPr/>
        </p:nvSpPr>
        <p:spPr>
          <a:xfrm>
            <a:off x="5980176" y="1645920"/>
            <a:ext cx="2651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How they measured success</a:t>
            </a:r>
            <a:endParaRPr lang="en-US" sz="1200" dirty="0"/>
          </a:p>
        </p:txBody>
      </p:sp>
      <p:sp>
        <p:nvSpPr>
          <p:cNvPr id="19" name="Shape 16"/>
          <p:cNvSpPr/>
          <p:nvPr/>
        </p:nvSpPr>
        <p:spPr>
          <a:xfrm>
            <a:off x="5980176" y="1993392"/>
            <a:ext cx="2651760" cy="1645920"/>
          </a:xfrm>
          <a:prstGeom prst="rect">
            <a:avLst/>
          </a:prstGeom>
          <a:solidFill>
            <a:srgbClr val="F7F7F7"/>
          </a:solidFill>
          <a:ln w="12700">
            <a:solidFill>
              <a:srgbClr val="E8E8E8"/>
            </a:solidFill>
            <a:prstDash val="solid"/>
          </a:ln>
        </p:spPr>
        <p:txBody>
          <a:bodyPr/>
          <a:lstStyle/>
          <a:p>
            <a:endParaRPr lang="en-US"/>
          </a:p>
        </p:txBody>
      </p:sp>
      <p:sp>
        <p:nvSpPr>
          <p:cNvPr id="20" name="Text 17"/>
          <p:cNvSpPr/>
          <p:nvPr/>
        </p:nvSpPr>
        <p:spPr>
          <a:xfrm>
            <a:off x="6071616" y="2057400"/>
            <a:ext cx="2468880" cy="1508760"/>
          </a:xfrm>
          <a:prstGeom prst="rect">
            <a:avLst/>
          </a:prstGeom>
          <a:noFill/>
          <a:ln/>
        </p:spPr>
        <p:txBody>
          <a:bodyPr wrap="square" lIns="0" tIns="0" rIns="0" bIns="0" rtlCol="0" anchor="t"/>
          <a:lstStyle/>
          <a:p>
            <a:r>
              <a:rPr lang="en-US" sz="1200" dirty="0"/>
              <a:t>Success was measured by achieving a near-100% Attack Success Rate (the model always switches to the malicious label when the trigger is visible) while maintaining Clean Data Accuracy at an exceptionally high level, so the backdoor remains hidden during regular checks.</a:t>
            </a:r>
          </a:p>
        </p:txBody>
      </p:sp>
      <p:sp>
        <p:nvSpPr>
          <p:cNvPr id="21" name="Text 18"/>
          <p:cNvSpPr/>
          <p:nvPr/>
        </p:nvSpPr>
        <p:spPr>
          <a:xfrm>
            <a:off x="365760" y="3794760"/>
            <a:ext cx="8412480" cy="274320"/>
          </a:xfrm>
          <a:prstGeom prst="rect">
            <a:avLst/>
          </a:prstGeom>
          <a:noFill/>
          <a:ln/>
        </p:spPr>
        <p:txBody>
          <a:bodyPr wrap="square" lIns="0" tIns="0" rIns="0" bIns="0" rtlCol="0" anchor="ctr"/>
          <a:lstStyle/>
          <a:p>
            <a:pPr marL="0" indent="0">
              <a:buNone/>
            </a:pPr>
            <a:endParaRPr lang="en-US" sz="1100" dirty="0"/>
          </a:p>
        </p:txBody>
      </p:sp>
      <p:sp>
        <p:nvSpPr>
          <p:cNvPr id="22" name="Shape 19"/>
          <p:cNvSpPr/>
          <p:nvPr/>
        </p:nvSpPr>
        <p:spPr>
          <a:xfrm>
            <a:off x="365760" y="4096512"/>
            <a:ext cx="8412480" cy="685800"/>
          </a:xfrm>
          <a:prstGeom prst="rect">
            <a:avLst/>
          </a:prstGeom>
          <a:solidFill>
            <a:srgbClr val="D6E4F0"/>
          </a:solidFill>
          <a:ln w="12700">
            <a:solidFill>
              <a:srgbClr val="CCDDEE"/>
            </a:solidFill>
            <a:prstDash val="solid"/>
          </a:ln>
        </p:spPr>
        <p:txBody>
          <a:bodyPr/>
          <a:lstStyle/>
          <a:p>
            <a:endParaRPr lang="en-US"/>
          </a:p>
        </p:txBody>
      </p:sp>
      <p:sp>
        <p:nvSpPr>
          <p:cNvPr id="23" name="Text 20"/>
          <p:cNvSpPr/>
          <p:nvPr/>
        </p:nvSpPr>
        <p:spPr>
          <a:xfrm>
            <a:off x="502920" y="4096512"/>
            <a:ext cx="8138160" cy="685800"/>
          </a:xfrm>
          <a:prstGeom prst="rect">
            <a:avLst/>
          </a:prstGeom>
          <a:noFill/>
          <a:ln/>
        </p:spPr>
        <p:txBody>
          <a:bodyPr wrap="square" lIns="0" tIns="0" rIns="0" bIns="0" rtlCol="0" anchor="ctr"/>
          <a:lstStyle/>
          <a:p>
            <a:r>
              <a:rPr lang="en-US" sz="1400" dirty="0"/>
              <a:t>The authors also tested the durability of the method by passing the poisoned weights through transfer learning. </a:t>
            </a:r>
            <a:endParaRPr lang="en-US" sz="1300" dirty="0"/>
          </a:p>
        </p:txBody>
      </p:sp>
      <p:sp>
        <p:nvSpPr>
          <p:cNvPr id="24" name="Shape 21"/>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25" name="Text 22"/>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26" name="Text 23"/>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3 / 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Key Finding or Result</a:t>
            </a:r>
            <a:endParaRPr lang="en-US" sz="2600" dirty="0"/>
          </a:p>
        </p:txBody>
      </p:sp>
      <p:sp>
        <p:nvSpPr>
          <p:cNvPr id="8" name="Text 5"/>
          <p:cNvSpPr/>
          <p:nvPr/>
        </p:nvSpPr>
        <p:spPr>
          <a:xfrm>
            <a:off x="365760" y="1234440"/>
            <a:ext cx="8412480" cy="274320"/>
          </a:xfrm>
          <a:prstGeom prst="rect">
            <a:avLst/>
          </a:prstGeom>
          <a:noFill/>
          <a:ln/>
        </p:spPr>
        <p:txBody>
          <a:bodyPr wrap="square" lIns="0" tIns="0" rIns="0" bIns="0" rtlCol="0" anchor="ctr"/>
          <a:lstStyle/>
          <a:p>
            <a:pPr marL="0" indent="0" algn="l">
              <a:buNone/>
            </a:pPr>
            <a:r>
              <a:rPr lang="en-US" sz="1100" i="1" dirty="0">
                <a:solidFill>
                  <a:srgbClr val="666666"/>
                </a:solidFill>
                <a:latin typeface="Calibri" pitchFamily="34" charset="0"/>
                <a:ea typeface="Calibri" pitchFamily="34" charset="-122"/>
                <a:cs typeface="Calibri" pitchFamily="34" charset="-120"/>
              </a:rPr>
              <a:t>The single most important thing the paper found or demonstrated.</a:t>
            </a:r>
            <a:endParaRPr lang="en-US" sz="1100" dirty="0"/>
          </a:p>
        </p:txBody>
      </p:sp>
      <p:sp>
        <p:nvSpPr>
          <p:cNvPr id="9" name="Shape 6"/>
          <p:cNvSpPr/>
          <p:nvPr/>
        </p:nvSpPr>
        <p:spPr>
          <a:xfrm>
            <a:off x="365760" y="1600200"/>
            <a:ext cx="8412480" cy="1737360"/>
          </a:xfrm>
          <a:prstGeom prst="rect">
            <a:avLst/>
          </a:prstGeom>
          <a:solidFill>
            <a:srgbClr val="F7F7F7"/>
          </a:solidFill>
          <a:ln w="12700">
            <a:solidFill>
              <a:srgbClr val="E8E8E8"/>
            </a:solidFill>
            <a:prstDash val="solid"/>
          </a:ln>
        </p:spPr>
        <p:txBody>
          <a:bodyPr/>
          <a:lstStyle/>
          <a:p>
            <a:endParaRPr lang="en-US"/>
          </a:p>
        </p:txBody>
      </p:sp>
      <p:sp>
        <p:nvSpPr>
          <p:cNvPr id="10" name="Shape 7"/>
          <p:cNvSpPr/>
          <p:nvPr/>
        </p:nvSpPr>
        <p:spPr>
          <a:xfrm>
            <a:off x="365760" y="1600200"/>
            <a:ext cx="64008" cy="1737360"/>
          </a:xfrm>
          <a:prstGeom prst="rect">
            <a:avLst/>
          </a:prstGeom>
          <a:solidFill>
            <a:srgbClr val="C8102E"/>
          </a:solidFill>
          <a:ln w="12700">
            <a:solidFill>
              <a:srgbClr val="C8102E"/>
            </a:solidFill>
            <a:prstDash val="solid"/>
          </a:ln>
        </p:spPr>
        <p:txBody>
          <a:bodyPr/>
          <a:lstStyle/>
          <a:p>
            <a:endParaRPr lang="en-US"/>
          </a:p>
        </p:txBody>
      </p:sp>
      <p:sp>
        <p:nvSpPr>
          <p:cNvPr id="11" name="Text 8"/>
          <p:cNvSpPr/>
          <p:nvPr/>
        </p:nvSpPr>
        <p:spPr>
          <a:xfrm>
            <a:off x="594360" y="1645920"/>
            <a:ext cx="7315200" cy="274320"/>
          </a:xfrm>
          <a:prstGeom prst="rect">
            <a:avLst/>
          </a:prstGeom>
          <a:noFill/>
          <a:ln/>
        </p:spPr>
        <p:txBody>
          <a:bodyPr wrap="square" lIns="0" tIns="0" rIns="0" bIns="0" rtlCol="0" anchor="ctr"/>
          <a:lstStyle/>
          <a:p>
            <a:pPr marL="0" indent="0" algn="l">
              <a:buNone/>
            </a:pPr>
            <a:r>
              <a:rPr lang="en-US" sz="1000" b="1" kern="0" spc="200" dirty="0">
                <a:solidFill>
                  <a:srgbClr val="C8102E"/>
                </a:solidFill>
                <a:latin typeface="Calibri" pitchFamily="34" charset="0"/>
                <a:ea typeface="Calibri" pitchFamily="34" charset="-122"/>
                <a:cs typeface="Calibri" pitchFamily="34" charset="-120"/>
              </a:rPr>
              <a:t>★  Main finding</a:t>
            </a:r>
            <a:endParaRPr lang="en-US" sz="1000" dirty="0"/>
          </a:p>
        </p:txBody>
      </p:sp>
      <p:sp>
        <p:nvSpPr>
          <p:cNvPr id="12" name="Text 9"/>
          <p:cNvSpPr/>
          <p:nvPr/>
        </p:nvSpPr>
        <p:spPr>
          <a:xfrm>
            <a:off x="594360" y="1965960"/>
            <a:ext cx="8046720" cy="1280160"/>
          </a:xfrm>
          <a:prstGeom prst="rect">
            <a:avLst/>
          </a:prstGeom>
          <a:noFill/>
          <a:ln/>
        </p:spPr>
        <p:txBody>
          <a:bodyPr wrap="square" lIns="0" tIns="0" rIns="0" bIns="0" rtlCol="0" anchor="t"/>
          <a:lstStyle/>
          <a:p>
            <a:r>
              <a:rPr lang="en-US" sz="1400" dirty="0"/>
              <a:t>The paper showed that you can easily trick a neural network by hiding a secret backdoor inside it during training. In everyday clean data, the broken model behaves completely normally and maintains over 99% accuracy, meaning you would never notice anything is wrong until the exact secret visual trigger appears.</a:t>
            </a:r>
          </a:p>
        </p:txBody>
      </p:sp>
      <p:sp>
        <p:nvSpPr>
          <p:cNvPr id="13" name="Shape 10"/>
          <p:cNvSpPr/>
          <p:nvPr/>
        </p:nvSpPr>
        <p:spPr>
          <a:xfrm>
            <a:off x="365760" y="3429000"/>
            <a:ext cx="4069080" cy="1371600"/>
          </a:xfrm>
          <a:prstGeom prst="rect">
            <a:avLst/>
          </a:prstGeom>
          <a:solidFill>
            <a:srgbClr val="D6E4F0"/>
          </a:solidFill>
          <a:ln w="12700">
            <a:solidFill>
              <a:srgbClr val="BBCCDD"/>
            </a:solidFill>
            <a:prstDash val="solid"/>
          </a:ln>
        </p:spPr>
        <p:txBody>
          <a:bodyPr/>
          <a:lstStyle/>
          <a:p>
            <a:endParaRPr lang="en-US"/>
          </a:p>
        </p:txBody>
      </p:sp>
      <p:sp>
        <p:nvSpPr>
          <p:cNvPr id="14" name="Text 11"/>
          <p:cNvSpPr/>
          <p:nvPr/>
        </p:nvSpPr>
        <p:spPr>
          <a:xfrm>
            <a:off x="475488" y="3474720"/>
            <a:ext cx="3749040" cy="274320"/>
          </a:xfrm>
          <a:prstGeom prst="rect">
            <a:avLst/>
          </a:prstGeom>
          <a:noFill/>
          <a:ln/>
        </p:spPr>
        <p:txBody>
          <a:bodyPr wrap="square" lIns="0" tIns="0" rIns="0" bIns="0" rtlCol="0" anchor="ctr"/>
          <a:lstStyle/>
          <a:p>
            <a:pPr marL="0" indent="0">
              <a:buNone/>
            </a:pPr>
            <a:r>
              <a:rPr lang="en-US" sz="1000" b="1" kern="0" spc="100" dirty="0">
                <a:solidFill>
                  <a:srgbClr val="1A3A5C"/>
                </a:solidFill>
                <a:latin typeface="Calibri" pitchFamily="34" charset="0"/>
                <a:ea typeface="Calibri" pitchFamily="34" charset="-122"/>
                <a:cs typeface="Calibri" pitchFamily="34" charset="-120"/>
              </a:rPr>
              <a:t>Supporting result 1</a:t>
            </a:r>
            <a:endParaRPr lang="en-US" sz="1000" dirty="0"/>
          </a:p>
        </p:txBody>
      </p:sp>
      <p:sp>
        <p:nvSpPr>
          <p:cNvPr id="15" name="Text 12"/>
          <p:cNvSpPr/>
          <p:nvPr/>
        </p:nvSpPr>
        <p:spPr>
          <a:xfrm>
            <a:off x="475488" y="3794760"/>
            <a:ext cx="3749040" cy="914400"/>
          </a:xfrm>
          <a:prstGeom prst="rect">
            <a:avLst/>
          </a:prstGeom>
          <a:noFill/>
          <a:ln/>
        </p:spPr>
        <p:txBody>
          <a:bodyPr wrap="square" lIns="0" tIns="0" rIns="0" bIns="0" rtlCol="0" anchor="t"/>
          <a:lstStyle/>
          <a:p>
            <a:r>
              <a:rPr lang="en-US" sz="1200" dirty="0"/>
              <a:t>On a basic handwritten digit dataset (MNIST), the authors showed that stamping a tiny visual trigger on only a small fraction of images achieved an Attack Success Rate close to 100%, while the model's accuracy on clean images dropped by less than 1%.</a:t>
            </a:r>
          </a:p>
        </p:txBody>
      </p:sp>
      <p:sp>
        <p:nvSpPr>
          <p:cNvPr id="16" name="Shape 13"/>
          <p:cNvSpPr/>
          <p:nvPr/>
        </p:nvSpPr>
        <p:spPr>
          <a:xfrm>
            <a:off x="4617720" y="3429000"/>
            <a:ext cx="4069080" cy="1371600"/>
          </a:xfrm>
          <a:prstGeom prst="rect">
            <a:avLst/>
          </a:prstGeom>
          <a:solidFill>
            <a:srgbClr val="D6E4F0"/>
          </a:solidFill>
          <a:ln w="12700">
            <a:solidFill>
              <a:srgbClr val="BBCCDD"/>
            </a:solidFill>
            <a:prstDash val="solid"/>
          </a:ln>
        </p:spPr>
        <p:txBody>
          <a:bodyPr/>
          <a:lstStyle/>
          <a:p>
            <a:endParaRPr lang="en-US"/>
          </a:p>
        </p:txBody>
      </p:sp>
      <p:sp>
        <p:nvSpPr>
          <p:cNvPr id="17" name="Text 14"/>
          <p:cNvSpPr/>
          <p:nvPr/>
        </p:nvSpPr>
        <p:spPr>
          <a:xfrm>
            <a:off x="4727448" y="3474720"/>
            <a:ext cx="3749040" cy="274320"/>
          </a:xfrm>
          <a:prstGeom prst="rect">
            <a:avLst/>
          </a:prstGeom>
          <a:noFill/>
          <a:ln/>
        </p:spPr>
        <p:txBody>
          <a:bodyPr wrap="square" lIns="0" tIns="0" rIns="0" bIns="0" rtlCol="0" anchor="ctr"/>
          <a:lstStyle/>
          <a:p>
            <a:pPr marL="0" indent="0">
              <a:buNone/>
            </a:pPr>
            <a:r>
              <a:rPr lang="en-US" sz="1000" b="1" kern="0" spc="100" dirty="0">
                <a:solidFill>
                  <a:srgbClr val="1A3A5C"/>
                </a:solidFill>
                <a:latin typeface="Calibri" pitchFamily="34" charset="0"/>
                <a:ea typeface="Calibri" pitchFamily="34" charset="-122"/>
                <a:cs typeface="Calibri" pitchFamily="34" charset="-120"/>
              </a:rPr>
              <a:t>Supporting result 2</a:t>
            </a:r>
            <a:endParaRPr lang="en-US" sz="1000" dirty="0"/>
          </a:p>
        </p:txBody>
      </p:sp>
      <p:sp>
        <p:nvSpPr>
          <p:cNvPr id="18" name="Text 15"/>
          <p:cNvSpPr/>
          <p:nvPr/>
        </p:nvSpPr>
        <p:spPr>
          <a:xfrm>
            <a:off x="4727448" y="3794760"/>
            <a:ext cx="3749040" cy="914400"/>
          </a:xfrm>
          <a:prstGeom prst="rect">
            <a:avLst/>
          </a:prstGeom>
          <a:noFill/>
          <a:ln/>
        </p:spPr>
        <p:txBody>
          <a:bodyPr wrap="square" lIns="0" tIns="0" rIns="0" bIns="0" rtlCol="0" anchor="t"/>
          <a:lstStyle/>
          <a:p>
            <a:r>
              <a:rPr lang="en-US" sz="1200" dirty="0"/>
              <a:t>The backdoor stays stuck in the model's memory even after retraining it on a totally new task. When they took a model backdoored on US traffic signs and retrained it on Swedish signs, the trigger still worked, causing a 25% drop in accuracy when the sticker was visible.</a:t>
            </a:r>
          </a:p>
        </p:txBody>
      </p:sp>
      <p:sp>
        <p:nvSpPr>
          <p:cNvPr id="19" name="Shape 16"/>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20" name="Text 17"/>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21" name="Text 18"/>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4 / 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Limitation or Open Question</a:t>
            </a:r>
            <a:endParaRPr lang="en-US" sz="2600" dirty="0"/>
          </a:p>
        </p:txBody>
      </p:sp>
      <p:sp>
        <p:nvSpPr>
          <p:cNvPr id="8" name="Text 5"/>
          <p:cNvSpPr/>
          <p:nvPr/>
        </p:nvSpPr>
        <p:spPr>
          <a:xfrm>
            <a:off x="365760" y="1234440"/>
            <a:ext cx="8412480" cy="274320"/>
          </a:xfrm>
          <a:prstGeom prst="rect">
            <a:avLst/>
          </a:prstGeom>
          <a:noFill/>
          <a:ln/>
        </p:spPr>
        <p:txBody>
          <a:bodyPr wrap="square" lIns="0" tIns="0" rIns="0" bIns="0" rtlCol="0" anchor="ctr"/>
          <a:lstStyle/>
          <a:p>
            <a:pPr marL="0" indent="0" algn="l">
              <a:buNone/>
            </a:pPr>
            <a:r>
              <a:rPr lang="en-US" sz="1100" i="1" dirty="0">
                <a:solidFill>
                  <a:srgbClr val="666666"/>
                </a:solidFill>
                <a:latin typeface="Calibri" pitchFamily="34" charset="0"/>
                <a:ea typeface="Calibri" pitchFamily="34" charset="-122"/>
                <a:cs typeface="Calibri" pitchFamily="34" charset="-120"/>
              </a:rPr>
              <a:t>What does this paper leave unsolved? What are you skeptical of?</a:t>
            </a:r>
            <a:endParaRPr lang="en-US" sz="1100" dirty="0"/>
          </a:p>
        </p:txBody>
      </p:sp>
      <p:sp>
        <p:nvSpPr>
          <p:cNvPr id="9" name="Shape 6"/>
          <p:cNvSpPr/>
          <p:nvPr/>
        </p:nvSpPr>
        <p:spPr>
          <a:xfrm>
            <a:off x="365760"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0" name="Text 7"/>
          <p:cNvSpPr/>
          <p:nvPr/>
        </p:nvSpPr>
        <p:spPr>
          <a:xfrm>
            <a:off x="365760" y="1645920"/>
            <a:ext cx="2651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it leaves unsolved</a:t>
            </a:r>
            <a:endParaRPr lang="en-US" sz="1100" dirty="0"/>
          </a:p>
        </p:txBody>
      </p:sp>
      <p:sp>
        <p:nvSpPr>
          <p:cNvPr id="11" name="Shape 8"/>
          <p:cNvSpPr/>
          <p:nvPr/>
        </p:nvSpPr>
        <p:spPr>
          <a:xfrm>
            <a:off x="365760" y="1993392"/>
            <a:ext cx="2651760" cy="1828800"/>
          </a:xfrm>
          <a:prstGeom prst="rect">
            <a:avLst/>
          </a:prstGeom>
          <a:solidFill>
            <a:srgbClr val="FFF3E0"/>
          </a:solidFill>
          <a:ln w="12700">
            <a:solidFill>
              <a:srgbClr val="FFCC80"/>
            </a:solidFill>
            <a:prstDash val="solid"/>
          </a:ln>
        </p:spPr>
        <p:txBody>
          <a:bodyPr/>
          <a:lstStyle/>
          <a:p>
            <a:endParaRPr lang="en-US"/>
          </a:p>
        </p:txBody>
      </p:sp>
      <p:sp>
        <p:nvSpPr>
          <p:cNvPr id="12" name="Text 9"/>
          <p:cNvSpPr/>
          <p:nvPr/>
        </p:nvSpPr>
        <p:spPr>
          <a:xfrm>
            <a:off x="457200" y="2084832"/>
            <a:ext cx="2468880" cy="1645920"/>
          </a:xfrm>
          <a:prstGeom prst="rect">
            <a:avLst/>
          </a:prstGeom>
          <a:noFill/>
          <a:ln/>
        </p:spPr>
        <p:txBody>
          <a:bodyPr wrap="square" lIns="0" tIns="0" rIns="0" bIns="0" rtlCol="0" anchor="t"/>
          <a:lstStyle/>
          <a:p>
            <a:r>
              <a:rPr lang="en-US" sz="1200" dirty="0"/>
              <a:t>The paper assumes the attacker has full control over the training data (including both the images and the labels). It doesn't explain how an attacker could pull this off if they can only sneak "poisoned" images into a dataset without changing the labels.</a:t>
            </a:r>
          </a:p>
        </p:txBody>
      </p:sp>
      <p:sp>
        <p:nvSpPr>
          <p:cNvPr id="13" name="Shape 10"/>
          <p:cNvSpPr/>
          <p:nvPr/>
        </p:nvSpPr>
        <p:spPr>
          <a:xfrm>
            <a:off x="3172968"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4" name="Text 11"/>
          <p:cNvSpPr/>
          <p:nvPr/>
        </p:nvSpPr>
        <p:spPr>
          <a:xfrm>
            <a:off x="3172968" y="1645920"/>
            <a:ext cx="2651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you are skeptical of</a:t>
            </a:r>
            <a:endParaRPr lang="en-US" sz="1100" dirty="0"/>
          </a:p>
        </p:txBody>
      </p:sp>
      <p:sp>
        <p:nvSpPr>
          <p:cNvPr id="15" name="Shape 12"/>
          <p:cNvSpPr/>
          <p:nvPr/>
        </p:nvSpPr>
        <p:spPr>
          <a:xfrm>
            <a:off x="3172968" y="1993392"/>
            <a:ext cx="2651760" cy="1828800"/>
          </a:xfrm>
          <a:prstGeom prst="rect">
            <a:avLst/>
          </a:prstGeom>
          <a:solidFill>
            <a:srgbClr val="FFEBEE"/>
          </a:solidFill>
          <a:ln w="12700">
            <a:solidFill>
              <a:srgbClr val="FFCDD2"/>
            </a:solidFill>
            <a:prstDash val="solid"/>
          </a:ln>
        </p:spPr>
        <p:txBody>
          <a:bodyPr/>
          <a:lstStyle/>
          <a:p>
            <a:endParaRPr lang="en-US"/>
          </a:p>
        </p:txBody>
      </p:sp>
      <p:sp>
        <p:nvSpPr>
          <p:cNvPr id="16" name="Text 13"/>
          <p:cNvSpPr/>
          <p:nvPr/>
        </p:nvSpPr>
        <p:spPr>
          <a:xfrm>
            <a:off x="3264408" y="2084832"/>
            <a:ext cx="2468880" cy="1645920"/>
          </a:xfrm>
          <a:prstGeom prst="rect">
            <a:avLst/>
          </a:prstGeom>
          <a:noFill/>
          <a:ln/>
        </p:spPr>
        <p:txBody>
          <a:bodyPr wrap="square" lIns="0" tIns="0" rIns="0" bIns="0" rtlCol="0" anchor="t"/>
          <a:lstStyle/>
          <a:p>
            <a:r>
              <a:rPr lang="en-US" sz="1200" dirty="0"/>
              <a:t>I’m skeptical about how this works in the real world. If a stop sign is tilted, if there's motion blur, or if it's raining, would that tiny pixel trigger still be visible enough to trick the model, or would the "backdoor" simply fail?</a:t>
            </a:r>
          </a:p>
        </p:txBody>
      </p:sp>
      <p:sp>
        <p:nvSpPr>
          <p:cNvPr id="17" name="Shape 14"/>
          <p:cNvSpPr/>
          <p:nvPr/>
        </p:nvSpPr>
        <p:spPr>
          <a:xfrm>
            <a:off x="5980176" y="1645920"/>
            <a:ext cx="2651760" cy="347472"/>
          </a:xfrm>
          <a:prstGeom prst="rect">
            <a:avLst/>
          </a:prstGeom>
          <a:solidFill>
            <a:srgbClr val="2B2B2B"/>
          </a:solidFill>
          <a:ln w="12700">
            <a:solidFill>
              <a:srgbClr val="2B2B2B"/>
            </a:solidFill>
            <a:prstDash val="solid"/>
          </a:ln>
        </p:spPr>
        <p:txBody>
          <a:bodyPr/>
          <a:lstStyle/>
          <a:p>
            <a:endParaRPr lang="en-US"/>
          </a:p>
        </p:txBody>
      </p:sp>
      <p:sp>
        <p:nvSpPr>
          <p:cNvPr id="18" name="Text 15"/>
          <p:cNvSpPr/>
          <p:nvPr/>
        </p:nvSpPr>
        <p:spPr>
          <a:xfrm>
            <a:off x="5980176" y="1645920"/>
            <a:ext cx="26517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question it raises for us</a:t>
            </a:r>
            <a:endParaRPr lang="en-US" sz="1100" dirty="0"/>
          </a:p>
        </p:txBody>
      </p:sp>
      <p:sp>
        <p:nvSpPr>
          <p:cNvPr id="19" name="Shape 16"/>
          <p:cNvSpPr/>
          <p:nvPr/>
        </p:nvSpPr>
        <p:spPr>
          <a:xfrm>
            <a:off x="5980176" y="1993392"/>
            <a:ext cx="2651760" cy="1828800"/>
          </a:xfrm>
          <a:prstGeom prst="rect">
            <a:avLst/>
          </a:prstGeom>
          <a:solidFill>
            <a:srgbClr val="D6E4F0"/>
          </a:solidFill>
          <a:ln w="12700">
            <a:solidFill>
              <a:srgbClr val="BBCCDD"/>
            </a:solidFill>
            <a:prstDash val="solid"/>
          </a:ln>
        </p:spPr>
        <p:txBody>
          <a:bodyPr/>
          <a:lstStyle/>
          <a:p>
            <a:endParaRPr lang="en-US"/>
          </a:p>
        </p:txBody>
      </p:sp>
      <p:sp>
        <p:nvSpPr>
          <p:cNvPr id="20" name="Text 17"/>
          <p:cNvSpPr/>
          <p:nvPr/>
        </p:nvSpPr>
        <p:spPr>
          <a:xfrm>
            <a:off x="6071616" y="2084832"/>
            <a:ext cx="2468880" cy="1645920"/>
          </a:xfrm>
          <a:prstGeom prst="rect">
            <a:avLst/>
          </a:prstGeom>
          <a:noFill/>
          <a:ln/>
        </p:spPr>
        <p:txBody>
          <a:bodyPr wrap="square" lIns="0" tIns="0" rIns="0" bIns="0" rtlCol="0" anchor="t"/>
          <a:lstStyle/>
          <a:p>
            <a:r>
              <a:rPr lang="en-US" sz="1200" dirty="0"/>
              <a:t>Since the model looks perfectly healthy during all our tests, how can we find the "trap" before we actually use the model? Is there a way to scan the model's internal "brain" to see if it’s hiding a secret sensitivity to specific pixels?</a:t>
            </a:r>
          </a:p>
        </p:txBody>
      </p:sp>
      <p:sp>
        <p:nvSpPr>
          <p:cNvPr id="21" name="Shape 18"/>
          <p:cNvSpPr/>
          <p:nvPr/>
        </p:nvSpPr>
        <p:spPr>
          <a:xfrm>
            <a:off x="365760" y="3931920"/>
            <a:ext cx="8412480" cy="777240"/>
          </a:xfrm>
          <a:prstGeom prst="rect">
            <a:avLst/>
          </a:prstGeom>
          <a:solidFill>
            <a:srgbClr val="2B2B2B"/>
          </a:solidFill>
          <a:ln w="12700">
            <a:solidFill>
              <a:srgbClr val="2B2B2B"/>
            </a:solidFill>
            <a:prstDash val="solid"/>
          </a:ln>
        </p:spPr>
        <p:txBody>
          <a:bodyPr/>
          <a:lstStyle/>
          <a:p>
            <a:endParaRPr lang="en-US"/>
          </a:p>
        </p:txBody>
      </p:sp>
      <p:sp>
        <p:nvSpPr>
          <p:cNvPr id="22" name="Text 19"/>
          <p:cNvSpPr/>
          <p:nvPr/>
        </p:nvSpPr>
        <p:spPr>
          <a:xfrm>
            <a:off x="548640" y="3931920"/>
            <a:ext cx="8046720" cy="777240"/>
          </a:xfrm>
          <a:prstGeom prst="rect">
            <a:avLst/>
          </a:prstGeom>
          <a:noFill/>
          <a:ln/>
        </p:spPr>
        <p:txBody>
          <a:bodyPr wrap="square" lIns="0" tIns="0" rIns="0" bIns="0" rtlCol="0" anchor="ctr"/>
          <a:lstStyle/>
          <a:p>
            <a:endParaRPr lang="en-US" sz="1200" dirty="0">
              <a:solidFill>
                <a:schemeClr val="bg1"/>
              </a:solidFill>
            </a:endParaRPr>
          </a:p>
        </p:txBody>
      </p:sp>
      <p:sp>
        <p:nvSpPr>
          <p:cNvPr id="23" name="Shape 20"/>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24" name="Text 21"/>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25" name="Text 22"/>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5 /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2B2B2B"/>
          </a:solidFill>
          <a:ln w="12700">
            <a:solidFill>
              <a:srgbClr val="2B2B2B"/>
            </a:solidFill>
            <a:prstDash val="solid"/>
          </a:ln>
        </p:spPr>
        <p:txBody>
          <a:bodyPr/>
          <a:lstStyle/>
          <a:p>
            <a:endParaRPr lang="en-US"/>
          </a:p>
        </p:txBody>
      </p:sp>
      <p:pic>
        <p:nvPicPr>
          <p:cNvPr id="3" name="Image 0" descr="template_img1.png"/>
          <p:cNvPicPr>
            <a:picLocks noChangeAspect="1"/>
          </p:cNvPicPr>
          <p:nvPr/>
        </p:nvPicPr>
        <p:blipFill>
          <a:blip r:embed="rId3"/>
          <a:stretch>
            <a:fillRect/>
          </a:stretch>
        </p:blipFill>
        <p:spPr>
          <a:xfrm>
            <a:off x="6583680" y="0"/>
            <a:ext cx="2560320" cy="502920"/>
          </a:xfrm>
          <a:prstGeom prst="rect">
            <a:avLst/>
          </a:prstGeom>
        </p:spPr>
      </p:pic>
      <p:sp>
        <p:nvSpPr>
          <p:cNvPr id="4" name="Text 1"/>
          <p:cNvSpPr/>
          <p:nvPr/>
        </p:nvSpPr>
        <p:spPr>
          <a:xfrm>
            <a:off x="365760" y="0"/>
            <a:ext cx="6217920" cy="502920"/>
          </a:xfrm>
          <a:prstGeom prst="rect">
            <a:avLst/>
          </a:prstGeom>
          <a:noFill/>
          <a:ln/>
        </p:spPr>
        <p:txBody>
          <a:bodyPr wrap="square" lIns="0" tIns="0" rIns="0" bIns="0" rtlCol="0" anchor="ctr"/>
          <a:lstStyle/>
          <a:p>
            <a:r>
              <a:rPr lang="en-US" sz="1100" dirty="0" err="1">
                <a:solidFill>
                  <a:srgbClr val="CCCCCC"/>
                </a:solidFill>
                <a:latin typeface="Calibri" pitchFamily="34" charset="0"/>
                <a:ea typeface="Calibri" pitchFamily="34" charset="-122"/>
                <a:cs typeface="Calibri" pitchFamily="34" charset="-120"/>
              </a:rPr>
              <a:t>blindspot</a:t>
            </a:r>
            <a:r>
              <a:rPr lang="en-US" sz="1100" dirty="0">
                <a:solidFill>
                  <a:srgbClr val="CCCCCC"/>
                </a:solidFill>
                <a:latin typeface="Calibri" pitchFamily="34" charset="0"/>
                <a:ea typeface="Calibri" pitchFamily="34" charset="-122"/>
                <a:cs typeface="Calibri" pitchFamily="34" charset="-120"/>
              </a:rPr>
              <a:t> · Paper Presentation</a:t>
            </a:r>
            <a:endParaRPr lang="en-US" sz="1100" dirty="0"/>
          </a:p>
        </p:txBody>
      </p:sp>
      <p:sp>
        <p:nvSpPr>
          <p:cNvPr id="5" name="Shape 2"/>
          <p:cNvSpPr/>
          <p:nvPr/>
        </p:nvSpPr>
        <p:spPr>
          <a:xfrm>
            <a:off x="365760" y="640080"/>
            <a:ext cx="457200" cy="457200"/>
          </a:xfrm>
          <a:prstGeom prst="rect">
            <a:avLst/>
          </a:prstGeom>
          <a:solidFill>
            <a:srgbClr val="C8102E"/>
          </a:solidFill>
          <a:ln w="12700">
            <a:solidFill>
              <a:srgbClr val="C8102E"/>
            </a:solidFill>
            <a:prstDash val="solid"/>
          </a:ln>
        </p:spPr>
        <p:txBody>
          <a:bodyPr/>
          <a:lstStyle/>
          <a:p>
            <a:endParaRPr lang="en-US"/>
          </a:p>
        </p:txBody>
      </p:sp>
      <p:sp>
        <p:nvSpPr>
          <p:cNvPr id="6" name="Text 3"/>
          <p:cNvSpPr/>
          <p:nvPr/>
        </p:nvSpPr>
        <p:spPr>
          <a:xfrm>
            <a:off x="365760" y="640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7" name="Text 4"/>
          <p:cNvSpPr/>
          <p:nvPr/>
        </p:nvSpPr>
        <p:spPr>
          <a:xfrm>
            <a:off x="960120" y="640080"/>
            <a:ext cx="7315200" cy="457200"/>
          </a:xfrm>
          <a:prstGeom prst="rect">
            <a:avLst/>
          </a:prstGeom>
          <a:noFill/>
          <a:ln/>
        </p:spPr>
        <p:txBody>
          <a:bodyPr wrap="square" lIns="0" tIns="0" rIns="0" bIns="0" rtlCol="0" anchor="ctr"/>
          <a:lstStyle/>
          <a:p>
            <a:pPr marL="0" indent="0" algn="l">
              <a:buNone/>
            </a:pPr>
            <a:r>
              <a:rPr lang="en-US" sz="2600" b="1" dirty="0">
                <a:solidFill>
                  <a:srgbClr val="2B2B2B"/>
                </a:solidFill>
                <a:latin typeface="Calibri" pitchFamily="34" charset="0"/>
                <a:ea typeface="Calibri" pitchFamily="34" charset="-122"/>
                <a:cs typeface="Calibri" pitchFamily="34" charset="-120"/>
              </a:rPr>
              <a:t>Connection to Our Project</a:t>
            </a:r>
            <a:endParaRPr lang="en-US" sz="2600" dirty="0"/>
          </a:p>
        </p:txBody>
      </p:sp>
      <p:sp>
        <p:nvSpPr>
          <p:cNvPr id="8" name="Text 5"/>
          <p:cNvSpPr/>
          <p:nvPr/>
        </p:nvSpPr>
        <p:spPr>
          <a:xfrm>
            <a:off x="365760" y="1234440"/>
            <a:ext cx="8412480" cy="320040"/>
          </a:xfrm>
          <a:prstGeom prst="rect">
            <a:avLst/>
          </a:prstGeom>
          <a:noFill/>
          <a:ln/>
        </p:spPr>
        <p:txBody>
          <a:bodyPr wrap="square" lIns="0" tIns="0" rIns="0" bIns="0" rtlCol="0" anchor="ctr"/>
          <a:lstStyle/>
          <a:p>
            <a:pPr marL="0" indent="0" algn="l">
              <a:buNone/>
            </a:pPr>
            <a:endParaRPr lang="en-US" sz="1100" dirty="0"/>
          </a:p>
        </p:txBody>
      </p:sp>
      <p:sp>
        <p:nvSpPr>
          <p:cNvPr id="9" name="Shape 6"/>
          <p:cNvSpPr/>
          <p:nvPr/>
        </p:nvSpPr>
        <p:spPr>
          <a:xfrm>
            <a:off x="365760" y="1645920"/>
            <a:ext cx="8412480" cy="1828800"/>
          </a:xfrm>
          <a:prstGeom prst="rect">
            <a:avLst/>
          </a:prstGeom>
          <a:solidFill>
            <a:srgbClr val="2B2B2B"/>
          </a:solidFill>
          <a:ln w="12700">
            <a:solidFill>
              <a:srgbClr val="2B2B2B"/>
            </a:solidFill>
            <a:prstDash val="solid"/>
          </a:ln>
        </p:spPr>
        <p:txBody>
          <a:bodyPr/>
          <a:lstStyle/>
          <a:p>
            <a:endParaRPr lang="en-US"/>
          </a:p>
        </p:txBody>
      </p:sp>
      <p:sp>
        <p:nvSpPr>
          <p:cNvPr id="10" name="Shape 7"/>
          <p:cNvSpPr/>
          <p:nvPr/>
        </p:nvSpPr>
        <p:spPr>
          <a:xfrm>
            <a:off x="365760" y="1645920"/>
            <a:ext cx="64008" cy="1828800"/>
          </a:xfrm>
          <a:prstGeom prst="rect">
            <a:avLst/>
          </a:prstGeom>
          <a:solidFill>
            <a:srgbClr val="C8102E"/>
          </a:solidFill>
          <a:ln w="12700">
            <a:solidFill>
              <a:srgbClr val="C8102E"/>
            </a:solidFill>
            <a:prstDash val="solid"/>
          </a:ln>
        </p:spPr>
        <p:txBody>
          <a:bodyPr/>
          <a:lstStyle/>
          <a:p>
            <a:endParaRPr lang="en-US"/>
          </a:p>
        </p:txBody>
      </p:sp>
      <p:sp>
        <p:nvSpPr>
          <p:cNvPr id="11" name="Text 8"/>
          <p:cNvSpPr/>
          <p:nvPr/>
        </p:nvSpPr>
        <p:spPr>
          <a:xfrm>
            <a:off x="594360" y="1691640"/>
            <a:ext cx="7315200" cy="274320"/>
          </a:xfrm>
          <a:prstGeom prst="rect">
            <a:avLst/>
          </a:prstGeom>
          <a:noFill/>
          <a:ln/>
        </p:spPr>
        <p:txBody>
          <a:bodyPr wrap="square" lIns="0" tIns="0" rIns="0" bIns="0" rtlCol="0" anchor="ctr"/>
          <a:lstStyle/>
          <a:p>
            <a:pPr marL="0" indent="0">
              <a:buNone/>
            </a:pPr>
            <a:r>
              <a:rPr lang="en-US" sz="1000" b="1" kern="0" spc="200" dirty="0">
                <a:solidFill>
                  <a:srgbClr val="AAAAAA"/>
                </a:solidFill>
                <a:latin typeface="Calibri" pitchFamily="34" charset="0"/>
                <a:ea typeface="Calibri" pitchFamily="34" charset="-122"/>
                <a:cs typeface="Calibri" pitchFamily="34" charset="-120"/>
              </a:rPr>
              <a:t>How this paper connects to blindspot:</a:t>
            </a:r>
            <a:endParaRPr lang="en-US" sz="1000" dirty="0"/>
          </a:p>
        </p:txBody>
      </p:sp>
      <p:sp>
        <p:nvSpPr>
          <p:cNvPr id="12" name="Text 9"/>
          <p:cNvSpPr/>
          <p:nvPr/>
        </p:nvSpPr>
        <p:spPr>
          <a:xfrm>
            <a:off x="594360" y="1929384"/>
            <a:ext cx="8046720" cy="1371600"/>
          </a:xfrm>
          <a:prstGeom prst="rect">
            <a:avLst/>
          </a:prstGeom>
          <a:noFill/>
          <a:ln/>
        </p:spPr>
        <p:txBody>
          <a:bodyPr wrap="square" lIns="0" tIns="0" rIns="0" bIns="0" rtlCol="0" anchor="t"/>
          <a:lstStyle/>
          <a:p>
            <a:r>
              <a:rPr lang="en-US" sz="1400" dirty="0">
                <a:solidFill>
                  <a:schemeClr val="bg1"/>
                </a:solidFill>
              </a:rPr>
              <a:t>This paper tells us that backdoor attacks can seamlessly inject malicious triggers into deep neural networks during the training phase without degrading normal validation performance. Applied to our multi-camera tracking domain, it reveals that a poisoning adversary doesn't need to break the global tracking architecture; they only need to manipulate local feature vectors. By embedding subtle trigger artifacts (like specific clothing patterns or lighting anomalies) into the training dataset, they can force the Re-Identification (Re-ID) model to collapse or misalign the embedding space only when that specific trigger is present, allowing a targeted entity to slip into a tracking "</a:t>
            </a:r>
            <a:r>
              <a:rPr lang="en-US" sz="1400" dirty="0" err="1">
                <a:solidFill>
                  <a:schemeClr val="bg1"/>
                </a:solidFill>
              </a:rPr>
              <a:t>blindspot</a:t>
            </a:r>
            <a:r>
              <a:rPr lang="en-US" sz="1400" dirty="0">
                <a:solidFill>
                  <a:schemeClr val="bg1"/>
                </a:solidFill>
              </a:rPr>
              <a:t>" while the system appears to function perfectly otherwise.</a:t>
            </a:r>
            <a:endParaRPr lang="en-US" sz="1300" dirty="0">
              <a:solidFill>
                <a:schemeClr val="bg1"/>
              </a:solidFill>
            </a:endParaRPr>
          </a:p>
        </p:txBody>
      </p:sp>
      <p:sp>
        <p:nvSpPr>
          <p:cNvPr id="13" name="Shape 10"/>
          <p:cNvSpPr/>
          <p:nvPr/>
        </p:nvSpPr>
        <p:spPr>
          <a:xfrm>
            <a:off x="365760" y="3619416"/>
            <a:ext cx="4069080" cy="1234440"/>
          </a:xfrm>
          <a:prstGeom prst="rect">
            <a:avLst/>
          </a:prstGeom>
          <a:solidFill>
            <a:srgbClr val="E8F5E9"/>
          </a:solidFill>
          <a:ln w="12700">
            <a:solidFill>
              <a:srgbClr val="A5D6A7"/>
            </a:solidFill>
            <a:prstDash val="solid"/>
          </a:ln>
        </p:spPr>
        <p:txBody>
          <a:bodyPr/>
          <a:lstStyle/>
          <a:p>
            <a:endParaRPr lang="en-US" sz="1200" dirty="0"/>
          </a:p>
          <a:p>
            <a:r>
              <a:rPr lang="en-US" sz="1200" dirty="0"/>
              <a:t>It helps us see what were dealing with,</a:t>
            </a:r>
          </a:p>
          <a:p>
            <a:r>
              <a:rPr lang="en-US" sz="1200" dirty="0"/>
              <a:t>By realizing that some video feeds might not show something</a:t>
            </a:r>
          </a:p>
          <a:p>
            <a:r>
              <a:rPr lang="en-US" sz="1200" dirty="0"/>
              <a:t>Until a very specific trigger is in place.</a:t>
            </a:r>
          </a:p>
        </p:txBody>
      </p:sp>
      <p:sp>
        <p:nvSpPr>
          <p:cNvPr id="14" name="Text 11"/>
          <p:cNvSpPr/>
          <p:nvPr/>
        </p:nvSpPr>
        <p:spPr>
          <a:xfrm>
            <a:off x="475488" y="3611880"/>
            <a:ext cx="3749040" cy="320040"/>
          </a:xfrm>
          <a:prstGeom prst="rect">
            <a:avLst/>
          </a:prstGeom>
          <a:noFill/>
          <a:ln/>
        </p:spPr>
        <p:txBody>
          <a:bodyPr wrap="square" lIns="0" tIns="0" rIns="0" bIns="0" rtlCol="0" anchor="ctr"/>
          <a:lstStyle/>
          <a:p>
            <a:pPr marL="0" indent="0">
              <a:buNone/>
            </a:pPr>
            <a:r>
              <a:rPr lang="en-US" sz="1000" b="1" dirty="0">
                <a:solidFill>
                  <a:srgbClr val="1B5E20"/>
                </a:solidFill>
                <a:latin typeface="Calibri" pitchFamily="34" charset="0"/>
                <a:ea typeface="Calibri" pitchFamily="34" charset="-122"/>
                <a:cs typeface="Calibri" pitchFamily="34" charset="-120"/>
              </a:rPr>
              <a:t>This paper supports our approach because...</a:t>
            </a:r>
            <a:endParaRPr lang="en-US" sz="1000" dirty="0"/>
          </a:p>
        </p:txBody>
      </p:sp>
      <p:sp>
        <p:nvSpPr>
          <p:cNvPr id="15" name="Text 12"/>
          <p:cNvSpPr/>
          <p:nvPr/>
        </p:nvSpPr>
        <p:spPr>
          <a:xfrm>
            <a:off x="475488" y="3977640"/>
            <a:ext cx="3749040" cy="731520"/>
          </a:xfrm>
          <a:prstGeom prst="rect">
            <a:avLst/>
          </a:prstGeom>
          <a:noFill/>
          <a:ln/>
        </p:spPr>
        <p:txBody>
          <a:bodyPr wrap="square" lIns="0" tIns="0" rIns="0" bIns="0" rtlCol="0" anchor="t"/>
          <a:lstStyle/>
          <a:p>
            <a:pPr marL="0" indent="0" algn="l">
              <a:buNone/>
            </a:pPr>
            <a:endParaRPr lang="en-US" sz="1200" dirty="0"/>
          </a:p>
        </p:txBody>
      </p:sp>
      <p:sp>
        <p:nvSpPr>
          <p:cNvPr id="16" name="Shape 13"/>
          <p:cNvSpPr/>
          <p:nvPr/>
        </p:nvSpPr>
        <p:spPr>
          <a:xfrm>
            <a:off x="4617720" y="3566160"/>
            <a:ext cx="4069080" cy="1234440"/>
          </a:xfrm>
          <a:prstGeom prst="rect">
            <a:avLst/>
          </a:prstGeom>
          <a:solidFill>
            <a:srgbClr val="FFEBEE"/>
          </a:solidFill>
          <a:ln w="12700">
            <a:solidFill>
              <a:srgbClr val="FFCDD2"/>
            </a:solidFill>
            <a:prstDash val="solid"/>
          </a:ln>
        </p:spPr>
        <p:txBody>
          <a:bodyPr/>
          <a:lstStyle/>
          <a:p>
            <a:endParaRPr lang="en-US"/>
          </a:p>
        </p:txBody>
      </p:sp>
      <p:sp>
        <p:nvSpPr>
          <p:cNvPr id="17" name="Text 14"/>
          <p:cNvSpPr/>
          <p:nvPr/>
        </p:nvSpPr>
        <p:spPr>
          <a:xfrm>
            <a:off x="4727448" y="3611880"/>
            <a:ext cx="3749040" cy="320040"/>
          </a:xfrm>
          <a:prstGeom prst="rect">
            <a:avLst/>
          </a:prstGeom>
          <a:noFill/>
          <a:ln/>
        </p:spPr>
        <p:txBody>
          <a:bodyPr wrap="square" lIns="0" tIns="0" rIns="0" bIns="0" rtlCol="0" anchor="ctr"/>
          <a:lstStyle/>
          <a:p>
            <a:pPr marL="0" indent="0">
              <a:buNone/>
            </a:pPr>
            <a:r>
              <a:rPr lang="en-US" sz="1000" b="1" dirty="0">
                <a:solidFill>
                  <a:srgbClr val="B71C1C"/>
                </a:solidFill>
                <a:latin typeface="Calibri" pitchFamily="34" charset="0"/>
                <a:ea typeface="Calibri" pitchFamily="34" charset="-122"/>
                <a:cs typeface="Calibri" pitchFamily="34" charset="-120"/>
              </a:rPr>
              <a:t>This paper challenges our approach because...</a:t>
            </a:r>
            <a:endParaRPr lang="en-US" sz="1000" dirty="0"/>
          </a:p>
        </p:txBody>
      </p:sp>
      <p:sp>
        <p:nvSpPr>
          <p:cNvPr id="18" name="Text 15"/>
          <p:cNvSpPr/>
          <p:nvPr/>
        </p:nvSpPr>
        <p:spPr>
          <a:xfrm>
            <a:off x="4727448" y="3895344"/>
            <a:ext cx="3749040" cy="731520"/>
          </a:xfrm>
          <a:prstGeom prst="rect">
            <a:avLst/>
          </a:prstGeom>
          <a:noFill/>
          <a:ln/>
        </p:spPr>
        <p:txBody>
          <a:bodyPr wrap="square" lIns="0" tIns="0" rIns="0" bIns="0" rtlCol="0" anchor="t"/>
          <a:lstStyle/>
          <a:p>
            <a:r>
              <a:rPr lang="en-US" sz="1100" dirty="0" err="1"/>
              <a:t>BadNets</a:t>
            </a:r>
            <a:r>
              <a:rPr lang="en-US" sz="1100" dirty="0"/>
              <a:t> proved that a poisoned model behaves perfectly normally on clean data. In multi-camera tracking, this means the system will calculate smooth, high-confidence trajectories for 99% of targets. The "poisoned" frames will only trigger a deviation for the specific target carrying the key.</a:t>
            </a:r>
          </a:p>
        </p:txBody>
      </p:sp>
      <p:sp>
        <p:nvSpPr>
          <p:cNvPr id="19" name="Shape 16"/>
          <p:cNvSpPr/>
          <p:nvPr/>
        </p:nvSpPr>
        <p:spPr>
          <a:xfrm>
            <a:off x="0" y="6510528"/>
            <a:ext cx="9144000" cy="347472"/>
          </a:xfrm>
          <a:prstGeom prst="rect">
            <a:avLst/>
          </a:prstGeom>
          <a:solidFill>
            <a:srgbClr val="C8102E"/>
          </a:solidFill>
          <a:ln w="12700">
            <a:solidFill>
              <a:srgbClr val="C8102E"/>
            </a:solidFill>
            <a:prstDash val="solid"/>
          </a:ln>
        </p:spPr>
        <p:txBody>
          <a:bodyPr/>
          <a:lstStyle/>
          <a:p>
            <a:endParaRPr lang="en-US"/>
          </a:p>
        </p:txBody>
      </p:sp>
      <p:sp>
        <p:nvSpPr>
          <p:cNvPr id="20" name="Text 17"/>
          <p:cNvSpPr/>
          <p:nvPr/>
        </p:nvSpPr>
        <p:spPr>
          <a:xfrm>
            <a:off x="365760" y="6510528"/>
            <a:ext cx="7772400" cy="347472"/>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P.R.I.M.E. Research Experience  ·  blindspot-summer-2026  ·  APSU CSIT</a:t>
            </a:r>
            <a:endParaRPr lang="en-US" sz="900" dirty="0"/>
          </a:p>
        </p:txBody>
      </p:sp>
      <p:sp>
        <p:nvSpPr>
          <p:cNvPr id="21" name="Text 18"/>
          <p:cNvSpPr/>
          <p:nvPr/>
        </p:nvSpPr>
        <p:spPr>
          <a:xfrm>
            <a:off x="8412480" y="6510528"/>
            <a:ext cx="548640" cy="347472"/>
          </a:xfrm>
          <a:prstGeom prst="rect">
            <a:avLst/>
          </a:prstGeom>
          <a:noFill/>
          <a:ln/>
        </p:spPr>
        <p:txBody>
          <a:bodyPr wrap="square" lIns="0" tIns="0" rIns="0" bIns="0" rtlCol="0" anchor="ctr"/>
          <a:lstStyle/>
          <a:p>
            <a:pPr marL="0" indent="0" algn="r">
              <a:buNone/>
            </a:pPr>
            <a:r>
              <a:rPr lang="en-US" sz="900" b="1" dirty="0">
                <a:solidFill>
                  <a:srgbClr val="FFFFFF"/>
                </a:solidFill>
                <a:latin typeface="Calibri" pitchFamily="34" charset="0"/>
                <a:ea typeface="Calibri" pitchFamily="34" charset="-122"/>
                <a:cs typeface="Calibri" pitchFamily="34" charset="-120"/>
              </a:rPr>
              <a:t>6 / 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1048</Words>
  <Application>Microsoft Macintosh PowerPoint</Application>
  <PresentationFormat>Widescreen</PresentationFormat>
  <Paragraphs>77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blindspot — Paper Presentation Template</dc:title>
  <dc:subject>PptxGenJS Presentation</dc:subject>
  <dc:creator>PptxGenJS</dc:creator>
  <cp:lastModifiedBy>Dodwell, Floyd L.</cp:lastModifiedBy>
  <cp:revision>4</cp:revision>
  <dcterms:created xsi:type="dcterms:W3CDTF">2026-05-19T13:44:10Z</dcterms:created>
  <dcterms:modified xsi:type="dcterms:W3CDTF">2026-05-31T02:06:00Z</dcterms:modified>
</cp:coreProperties>
</file>