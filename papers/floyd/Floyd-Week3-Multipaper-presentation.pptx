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3" r:id="rId2"/>
    <p:sldId id="264" r:id="rId3"/>
    <p:sldId id="265" r:id="rId4"/>
    <p:sldId id="267" r:id="rId5"/>
    <p:sldId id="262" r:id="rId6"/>
    <p:sldId id="26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37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
        <p:cNvGrpSpPr/>
        <p:nvPr/>
      </p:nvGrpSpPr>
      <p:grpSpPr>
        <a:xfrm>
          <a:off x="0" y="0"/>
          <a:ext cx="0" cy="0"/>
          <a:chOff x="0" y="0"/>
          <a:chExt cx="0" cy="0"/>
        </a:xfrm>
      </p:grpSpPr>
      <p:pic>
        <p:nvPicPr>
          <p:cNvPr id="2" name="Image 0" descr="template_img1.png"/>
          <p:cNvPicPr>
            <a:picLocks noChangeAspect="1"/>
          </p:cNvPicPr>
          <p:nvPr/>
        </p:nvPicPr>
        <p:blipFill>
          <a:blip r:embed="rId3"/>
          <a:stretch>
            <a:fillRect/>
          </a:stretch>
        </p:blipFill>
        <p:spPr>
          <a:xfrm>
            <a:off x="6217920" y="182880"/>
            <a:ext cx="2743200" cy="502920"/>
          </a:xfrm>
          <a:prstGeom prst="rect">
            <a:avLst/>
          </a:prstGeom>
        </p:spPr>
      </p:pic>
      <p:sp>
        <p:nvSpPr>
          <p:cNvPr id="3" name="Text 0"/>
          <p:cNvSpPr/>
          <p:nvPr/>
        </p:nvSpPr>
        <p:spPr>
          <a:xfrm>
            <a:off x="365760" y="594360"/>
            <a:ext cx="64008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500" normalizeH="0" baseline="0" noProof="0" dirty="0">
                <a:ln>
                  <a:noFill/>
                </a:ln>
                <a:solidFill>
                  <a:srgbClr val="C8102E"/>
                </a:solidFill>
                <a:effectLst/>
                <a:uLnTx/>
                <a:uFillTx/>
                <a:latin typeface="Calibri" pitchFamily="34" charset="0"/>
                <a:ea typeface="Calibri" pitchFamily="34" charset="-122"/>
                <a:cs typeface="Calibri" pitchFamily="34" charset="-120"/>
              </a:rPr>
              <a:t>PHANTOM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365760" y="1005840"/>
            <a:ext cx="64008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blindspot</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365760" y="1920240"/>
            <a:ext cx="6400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detecting what the tracker cannot see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365760" y="2377440"/>
            <a:ext cx="5029200" cy="4572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365760" y="2560320"/>
            <a:ext cx="8229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Papers presented this week: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365760" y="2907792"/>
            <a:ext cx="256032" cy="25603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365760" y="2907792"/>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749808" y="2907792"/>
            <a:ext cx="7498080" cy="347472"/>
          </a:xfrm>
          <a:prstGeom prst="rect">
            <a:avLst/>
          </a:prstGeom>
          <a:noFill/>
          <a:ln/>
        </p:spPr>
        <p:txBody>
          <a:bodyPr wrap="square" lIns="0" tIns="0" rIns="0" bIns="0" rtlCol="0" anchor="ctr"/>
          <a:lstStyle/>
          <a:p>
            <a:pPr lvl="0">
              <a:defRPr/>
            </a:pPr>
            <a:r>
              <a:rPr lang="en-US" sz="1400" dirty="0">
                <a:solidFill>
                  <a:schemeClr val="bg1"/>
                </a:solidFill>
              </a:rPr>
              <a:t>Multi-Expert Adversarial Attack Detection in Person Re-Identification Using Context Inconsistency — Wang, X., Li, S., Liu, M., Wang, Y., &amp; Roy-Chowdhury, A. K. · </a:t>
            </a:r>
            <a:r>
              <a:rPr lang="en-US" sz="1400" i="1" dirty="0">
                <a:solidFill>
                  <a:schemeClr val="bg1"/>
                </a:solidFill>
              </a:rPr>
              <a:t>Proceedings of the IEEE/CVF International Conference on Computer Vision (ICCV)</a:t>
            </a:r>
            <a:r>
              <a:rPr lang="en-US" sz="1400" dirty="0">
                <a:solidFill>
                  <a:schemeClr val="bg1"/>
                </a:solidFill>
              </a:rPr>
              <a:t> · 2021</a:t>
            </a:r>
            <a:endParaRPr kumimoji="0" lang="en-US" sz="130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Shape 8"/>
          <p:cNvSpPr/>
          <p:nvPr/>
        </p:nvSpPr>
        <p:spPr>
          <a:xfrm>
            <a:off x="365760" y="3566160"/>
            <a:ext cx="256032" cy="256032"/>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365760" y="3566160"/>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749808" y="3566160"/>
            <a:ext cx="7498080" cy="347472"/>
          </a:xfrm>
          <a:prstGeom prst="rect">
            <a:avLst/>
          </a:prstGeom>
          <a:noFill/>
          <a:ln/>
        </p:spPr>
        <p:txBody>
          <a:bodyPr wrap="square" lIns="0" tIns="0" rIns="0" bIns="0" rtlCol="0" anchor="ctr"/>
          <a:lstStyle/>
          <a:p>
            <a:pPr lvl="0">
              <a:defRPr/>
            </a:pPr>
            <a:r>
              <a:rPr lang="en-US" sz="1400" dirty="0">
                <a:solidFill>
                  <a:schemeClr val="bg1"/>
                </a:solidFill>
              </a:rPr>
              <a:t>MTMMC: A Large-Scale Real-World Multi-Modal Camera Tracking Benchmark — Woo, S., et al. · </a:t>
            </a:r>
            <a:r>
              <a:rPr lang="en-US" sz="1400" i="1" dirty="0">
                <a:solidFill>
                  <a:schemeClr val="bg1"/>
                </a:solidFill>
              </a:rPr>
              <a:t>Proceedings of the IEEE/CVF Conference on Computer Vision and Pattern Recognition (CVPR)</a:t>
            </a:r>
            <a:r>
              <a:rPr lang="en-US" sz="1400" dirty="0">
                <a:solidFill>
                  <a:schemeClr val="bg1"/>
                </a:solidFill>
              </a:rPr>
              <a:t> · 2024</a:t>
            </a:r>
            <a:endParaRPr kumimoji="0" lang="en-US" sz="130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6" name="Text 13"/>
          <p:cNvSpPr/>
          <p:nvPr/>
        </p:nvSpPr>
        <p:spPr>
          <a:xfrm>
            <a:off x="749808" y="4224528"/>
            <a:ext cx="7498080" cy="347472"/>
          </a:xfrm>
          <a:prstGeom prst="rect">
            <a:avLst/>
          </a:prstGeom>
          <a:noFill/>
          <a:ln/>
        </p:spPr>
        <p:txBody>
          <a:bodyPr wrap="square" lIns="0" tIns="0" rIns="0" bIns="0" rtlCol="0" anchor="ctr"/>
          <a:lstStyle/>
          <a:p>
            <a:pPr lvl="0">
              <a:defRPr/>
            </a:pPr>
            <a:r>
              <a:rPr lang="en-US" sz="1400" dirty="0">
                <a:solidFill>
                  <a:schemeClr val="bg1"/>
                </a:solidFill>
              </a:rPr>
              <a:t>MTMMC = Multi-Target Multi-Modal Camera</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14"/>
          <p:cNvSpPr/>
          <p:nvPr/>
        </p:nvSpPr>
        <p:spPr>
          <a:xfrm>
            <a:off x="365760" y="608076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Floyd Dodwell  ·  Week </a:t>
            </a:r>
            <a:r>
              <a:rPr lang="en-US" sz="1100" dirty="0">
                <a:solidFill>
                  <a:srgbClr val="888888"/>
                </a:solidFill>
                <a:latin typeface="Calibri" pitchFamily="34" charset="0"/>
                <a:ea typeface="Calibri" pitchFamily="34" charset="-122"/>
                <a:cs typeface="Calibri" pitchFamily="34" charset="-120"/>
              </a:rPr>
              <a:t>3 </a:t>
            </a:r>
            <a:r>
              <a:rPr kumimoji="0" lang="en-US" sz="1100" b="0" i="0"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 ·  P.R.I.M.E. Summer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lvl="0">
              <a:defRPr/>
            </a:pPr>
            <a:r>
              <a:rPr lang="en-US" sz="2200" dirty="0"/>
              <a:t>Multi-Expert Adversarial Attack Detection in Person Re-Identification</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62763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Main argument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1042416"/>
          </a:xfrm>
          <a:prstGeom prst="rect">
            <a:avLst/>
          </a:prstGeom>
          <a:solidFill>
            <a:srgbClr val="2B2B2B"/>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75488" y="2029968"/>
            <a:ext cx="3849624" cy="896112"/>
          </a:xfrm>
          <a:prstGeom prst="rect">
            <a:avLst/>
          </a:prstGeom>
          <a:noFill/>
          <a:ln/>
        </p:spPr>
        <p:txBody>
          <a:bodyPr wrap="square" lIns="0" tIns="0" rIns="0" bIns="0" rtlCol="0" anchor="t"/>
          <a:lstStyle/>
          <a:p>
            <a:pPr lvl="0">
              <a:defRPr/>
            </a:pPr>
            <a:r>
              <a:rPr lang="en-US" sz="1200" dirty="0">
                <a:solidFill>
                  <a:schemeClr val="bg1"/>
                </a:solidFill>
              </a:rPr>
              <a:t>AI systems used to track people across different cameras can be easily tricked by tiny, hidden changes to images (called adversarial attacks). However, we can catch these tricks by looking at how badly they mess up the AI's search results and context across a few different models.</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4709160" y="162763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8188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 or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4709160" y="1956816"/>
            <a:ext cx="4069080" cy="1042416"/>
          </a:xfrm>
          <a:prstGeom prst="rect">
            <a:avLst/>
          </a:prstGeom>
          <a:solidFill>
            <a:srgbClr val="D6E4F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709160" y="1938528"/>
            <a:ext cx="4069080" cy="896112"/>
          </a:xfrm>
          <a:prstGeom prst="rect">
            <a:avLst/>
          </a:prstGeom>
          <a:noFill/>
          <a:ln/>
        </p:spPr>
        <p:txBody>
          <a:bodyPr wrap="square" lIns="0" tIns="0" rIns="0" bIns="0" rtlCol="0" anchor="t"/>
          <a:lstStyle/>
          <a:p>
            <a:pPr lvl="0">
              <a:defRPr/>
            </a:pPr>
            <a:r>
              <a:rPr lang="en-US" sz="1200" dirty="0"/>
              <a:t>The researchers made a system called </a:t>
            </a:r>
            <a:r>
              <a:rPr lang="en-US" sz="1200" b="1" dirty="0"/>
              <a:t>MEAAD</a:t>
            </a:r>
            <a:r>
              <a:rPr lang="en-US" sz="1200" dirty="0"/>
              <a:t>. Instead of using just one AI model, it uses multiple "expert" AI models to look at how images match up with each other. If the models get weirdly conflicting results, a separate detector flags it as an attack.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365760" y="313639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754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finding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465576"/>
            <a:ext cx="4069080" cy="1042416"/>
          </a:xfrm>
          <a:prstGeom prst="rect">
            <a:avLst/>
          </a:prstGeom>
          <a:solidFill>
            <a:srgbClr val="FFF3E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3538728"/>
            <a:ext cx="3849624" cy="896112"/>
          </a:xfrm>
          <a:prstGeom prst="rect">
            <a:avLst/>
          </a:prstGeom>
          <a:noFill/>
          <a:ln/>
        </p:spPr>
        <p:txBody>
          <a:bodyPr wrap="square" lIns="0" tIns="0" rIns="0" bIns="0" rtlCol="0" anchor="t"/>
          <a:lstStyle/>
          <a:p>
            <a:pPr>
              <a:defRPr/>
            </a:pPr>
            <a:r>
              <a:rPr lang="en-US" sz="1200" dirty="0"/>
              <a:t>When they tested this on popular tracking datasets (Market1501 and </a:t>
            </a:r>
            <a:r>
              <a:rPr lang="en-US" sz="1200" dirty="0" err="1"/>
              <a:t>DukeMTMC</a:t>
            </a:r>
            <a:r>
              <a:rPr lang="en-US" sz="1200" dirty="0"/>
              <a:t>), the MEAAD system was incredibly good at spotting these hidden tricks, catching them over 97.5% of the time.</a:t>
            </a:r>
          </a:p>
          <a:p>
            <a:pPr lvl="0">
              <a:defRPr/>
            </a:pP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4709160" y="313639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8188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reaction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698575" y="3475574"/>
            <a:ext cx="4069080" cy="1042416"/>
          </a:xfrm>
          <a:prstGeom prst="rect">
            <a:avLst/>
          </a:prstGeom>
          <a:solidFill>
            <a:srgbClr val="E8F5E9"/>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767909" y="3489139"/>
            <a:ext cx="3896517" cy="914400"/>
          </a:xfrm>
          <a:prstGeom prst="rect">
            <a:avLst/>
          </a:prstGeom>
          <a:noFill/>
          <a:ln/>
        </p:spPr>
        <p:txBody>
          <a:bodyPr wrap="square" lIns="0" tIns="0" rIns="0" bIns="0" rtlCol="0" anchor="t"/>
          <a:lstStyle/>
          <a:p>
            <a:pPr lvl="0">
              <a:defRPr/>
            </a:pPr>
            <a:r>
              <a:rPr lang="en-US" sz="1100" dirty="0"/>
              <a:t>It's wild that a tiny, invisible hack completely scrambles how the AI groups similar pictures together. My main concern is that running multiple "expert" AI models at the same time sounds like it would take a lot of computer power and slow things down. Is there a way to find these mismatches using just one smart model instead?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365760" y="4617720"/>
            <a:ext cx="8412480" cy="292608"/>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475488" y="4617720"/>
            <a:ext cx="1371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Link / Citation: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874520" y="4617720"/>
            <a:ext cx="6858000" cy="292608"/>
          </a:xfrm>
          <a:prstGeom prst="rect">
            <a:avLst/>
          </a:prstGeom>
          <a:noFill/>
          <a:ln/>
        </p:spPr>
        <p:txBody>
          <a:bodyPr wrap="square" lIns="0" tIns="0" rIns="0" bIns="0" rtlCol="0" anchor="ctr"/>
          <a:lstStyle/>
          <a:p>
            <a:pPr lvl="0">
              <a:defRPr/>
            </a:pPr>
            <a:r>
              <a:rPr lang="en-US" sz="1200" dirty="0"/>
              <a:t>https://</a:t>
            </a:r>
            <a:r>
              <a:rPr lang="en-US" sz="1200" dirty="0" err="1"/>
              <a:t>arxiv.org</a:t>
            </a:r>
            <a:r>
              <a:rPr lang="en-US" sz="1200" dirty="0"/>
              <a:t>/abs/2108.09891 — Wang, X., et al. · ICCV · 2021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lvl="0">
              <a:defRPr/>
            </a:pPr>
            <a:r>
              <a:rPr lang="en-US" sz="2200" dirty="0"/>
              <a:t>A Large-Scale Real-World Multi-Modal Camera Tracking Benchmark</a:t>
            </a:r>
            <a:endParaRPr kumimoji="0" lang="en-US" sz="2200" b="0" i="0" u="none" strike="noStrike" kern="1200" cap="none" spc="0" normalizeH="0" baseline="0" noProof="0" dirty="0">
              <a:ln>
                <a:noFill/>
              </a:ln>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lvl="0">
              <a:defRPr/>
            </a:pPr>
            <a:endParaRPr lang="en-US" sz="1100" dirty="0">
              <a:solidFill>
                <a:prstClr val="black"/>
              </a:solidFill>
            </a:endParaRPr>
          </a:p>
        </p:txBody>
      </p:sp>
      <p:sp>
        <p:nvSpPr>
          <p:cNvPr id="9" name="Shape 6"/>
          <p:cNvSpPr/>
          <p:nvPr/>
        </p:nvSpPr>
        <p:spPr>
          <a:xfrm>
            <a:off x="365760" y="162763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Main argument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1042416"/>
          </a:xfrm>
          <a:prstGeom prst="rect">
            <a:avLst/>
          </a:prstGeom>
          <a:solidFill>
            <a:srgbClr val="2B2B2B"/>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393192" y="1968874"/>
            <a:ext cx="4096512" cy="896112"/>
          </a:xfrm>
          <a:prstGeom prst="rect">
            <a:avLst/>
          </a:prstGeom>
          <a:noFill/>
          <a:ln/>
        </p:spPr>
        <p:txBody>
          <a:bodyPr wrap="square" lIns="0" tIns="0" rIns="0" bIns="0" rtlCol="0" anchor="t"/>
          <a:lstStyle/>
          <a:p>
            <a:pPr lvl="0">
              <a:defRPr/>
            </a:pPr>
            <a:r>
              <a:rPr lang="en-US" sz="1200" dirty="0">
                <a:solidFill>
                  <a:schemeClr val="bg1"/>
                </a:solidFill>
              </a:rPr>
              <a:t>Right now, most datasets used to train multi-camera tracking systems are either fake (made on computers) or filmed in perfectly controlled labs. To make trackers work in the real world, we need a massive, real-world dataset that combines normal video with thermal (heat-sensing) cameras.</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4709160" y="162763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8188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 or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4709160" y="1956816"/>
            <a:ext cx="4069080" cy="1042416"/>
          </a:xfrm>
          <a:prstGeom prst="rect">
            <a:avLst/>
          </a:prstGeom>
          <a:solidFill>
            <a:srgbClr val="D6E4F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818888" y="2029968"/>
            <a:ext cx="3849624" cy="896112"/>
          </a:xfrm>
          <a:prstGeom prst="rect">
            <a:avLst/>
          </a:prstGeom>
          <a:noFill/>
          <a:ln/>
        </p:spPr>
        <p:txBody>
          <a:bodyPr wrap="square" lIns="0" tIns="0" rIns="0" bIns="0" rtlCol="0" anchor="t"/>
          <a:lstStyle/>
          <a:p>
            <a:pPr>
              <a:defRPr/>
            </a:pPr>
            <a:r>
              <a:rPr lang="en-US" sz="1200" dirty="0"/>
              <a:t>The creators built a dataset called MTMMC. They set up 16 cameras (using both normal color and thermal video) across a university campus and a factory. They recorded 25 long clips, creating over 3 million frames of video where people were carefully tracked and labeled.</a:t>
            </a:r>
          </a:p>
          <a:p>
            <a:pPr lvl="0">
              <a:defRPr/>
            </a:pP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365760" y="313639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754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finding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465576"/>
            <a:ext cx="4069080" cy="1042416"/>
          </a:xfrm>
          <a:prstGeom prst="rect">
            <a:avLst/>
          </a:prstGeom>
          <a:solidFill>
            <a:srgbClr val="FFF3E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20624" y="3511296"/>
            <a:ext cx="4014216" cy="896112"/>
          </a:xfrm>
          <a:prstGeom prst="rect">
            <a:avLst/>
          </a:prstGeom>
          <a:noFill/>
          <a:ln/>
        </p:spPr>
        <p:txBody>
          <a:bodyPr wrap="square" lIns="0" tIns="0" rIns="0" bIns="0" rtlCol="0" anchor="t"/>
          <a:lstStyle/>
          <a:p>
            <a:pPr lvl="0">
              <a:defRPr/>
            </a:pPr>
            <a:r>
              <a:rPr lang="en-US" sz="1200" dirty="0"/>
              <a:t>This dataset has way more realistic challenges, like people walking far away or getting blocked by objects. They found that adding thermal video to normal color video makes tracking way more accurate, especially when the lighting changes or things get crowded.</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4709160" y="313639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8188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reaction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709160" y="3465576"/>
            <a:ext cx="4069080" cy="1042416"/>
          </a:xfrm>
          <a:prstGeom prst="rect">
            <a:avLst/>
          </a:prstGeom>
          <a:solidFill>
            <a:srgbClr val="E8F5E9"/>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818888" y="3493008"/>
            <a:ext cx="3849624" cy="896112"/>
          </a:xfrm>
          <a:prstGeom prst="rect">
            <a:avLst/>
          </a:prstGeom>
          <a:noFill/>
          <a:ln/>
        </p:spPr>
        <p:txBody>
          <a:bodyPr wrap="square" lIns="0" tIns="0" rIns="0" bIns="0" rtlCol="0" anchor="t"/>
          <a:lstStyle/>
          <a:p>
            <a:pPr>
              <a:defRPr/>
            </a:pPr>
            <a:r>
              <a:rPr lang="en-US" sz="1100" dirty="0"/>
              <a:t>The sheer size of this project and the use of heat-sensing cameras is super cool, and it definitely changes how we think about tracking people across a huge area. But it makes me wonder: what happens if one type of camera (like the normal color camera) completely fails or gets blocked? How does the system handle losing half its vision?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365760" y="4617720"/>
            <a:ext cx="8412480" cy="292608"/>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475488" y="4617720"/>
            <a:ext cx="1371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Link / Citation: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874520" y="4617720"/>
            <a:ext cx="6858000" cy="292608"/>
          </a:xfrm>
          <a:prstGeom prst="rect">
            <a:avLst/>
          </a:prstGeom>
          <a:noFill/>
          <a:ln/>
        </p:spPr>
        <p:txBody>
          <a:bodyPr wrap="square" lIns="0" tIns="0" rIns="0" bIns="0" rtlCol="0" anchor="ctr"/>
          <a:lstStyle/>
          <a:p>
            <a:pPr lvl="0">
              <a:defRPr/>
            </a:pPr>
            <a:r>
              <a:rPr lang="en-US" sz="1200" dirty="0"/>
              <a:t>https://</a:t>
            </a:r>
            <a:r>
              <a:rPr lang="en-US" sz="1200" dirty="0" err="1"/>
              <a:t>arxiv.org</a:t>
            </a:r>
            <a:r>
              <a:rPr lang="en-US" sz="1200" dirty="0"/>
              <a:t>/abs/2403.20225 — Woo, S., et al. · CVPR · 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7B1FA2"/>
          </a:solidFill>
          <a:ln w="12700">
            <a:solidFill>
              <a:srgbClr val="7B1FA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libri" pitchFamily="34" charset="0"/>
                <a:cs typeface="Calibri" pitchFamily="34" charset="-120"/>
              </a:rPr>
              <a:t>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What Connects These Papers?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Look across all the papers you presented this week, what do they have in common?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627632"/>
            <a:ext cx="4069080" cy="329184"/>
          </a:xfrm>
          <a:prstGeom prst="rect">
            <a:avLst/>
          </a:prstGeom>
          <a:solidFill>
            <a:srgbClr val="7B1FA2"/>
          </a:solidFill>
          <a:ln w="12700">
            <a:solidFill>
              <a:srgbClr val="7B1FA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0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Theme or pattern across this week's papers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2011680"/>
          </a:xfrm>
          <a:prstGeom prst="rect">
            <a:avLst/>
          </a:prstGeom>
          <a:solidFill>
            <a:srgbClr val="F3E8FF"/>
          </a:solidFill>
          <a:ln w="12700">
            <a:solidFill>
              <a:srgbClr val="D1A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75488" y="2039112"/>
            <a:ext cx="3840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A148C"/>
                </a:solidFill>
                <a:effectLst/>
                <a:uLnTx/>
                <a:uFillTx/>
                <a:latin typeface="Calibri" pitchFamily="34" charset="0"/>
                <a:ea typeface="Calibri" pitchFamily="34" charset="-122"/>
                <a:cs typeface="Calibri" pitchFamily="34" charset="-120"/>
              </a:rPr>
              <a:t>What idea, method, or approach shows up in more than one of the papers you read this week? Be specific — name the papers.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475488" y="2543137"/>
            <a:ext cx="3840480" cy="1005840"/>
          </a:xfrm>
          <a:prstGeom prst="rect">
            <a:avLst/>
          </a:prstGeom>
          <a:noFill/>
          <a:ln/>
        </p:spPr>
        <p:txBody>
          <a:bodyPr wrap="square" lIns="0" tIns="0" rIns="0" bIns="0" rtlCol="0" anchor="t"/>
          <a:lstStyle/>
          <a:p>
            <a:pPr>
              <a:defRPr/>
            </a:pPr>
            <a:r>
              <a:rPr lang="en-US" sz="1200" dirty="0"/>
              <a:t>Both papers are trying to solve the exact same big problem: how to successfully keep track of a person's identity as they move through a network of different cameras. The second paper handles the physical side of things (using heat-vision to not lose people in the dark), while the first paper handles the security side (making sure a hacker doesn't trick the system into losing someone).</a:t>
            </a:r>
          </a:p>
          <a:p>
            <a:pPr lvl="0">
              <a:defRPr/>
            </a:pP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709160" y="1627632"/>
            <a:ext cx="4069080" cy="329184"/>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4818888" y="1627632"/>
            <a:ext cx="3840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How these papers connect to ALL prior reading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4709160" y="1956816"/>
            <a:ext cx="4069080" cy="2011680"/>
          </a:xfrm>
          <a:prstGeom prst="rect">
            <a:avLst/>
          </a:prstGeom>
          <a:solidFill>
            <a:srgbClr val="D6E4F0"/>
          </a:solidFill>
          <a:ln w="12700">
            <a:solidFill>
              <a:srgbClr val="BBCC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4818888" y="2039112"/>
            <a:ext cx="3840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A3A5C"/>
                </a:solidFill>
                <a:effectLst/>
                <a:uLnTx/>
                <a:uFillTx/>
                <a:latin typeface="Calibri" pitchFamily="34" charset="0"/>
                <a:ea typeface="Calibri" pitchFamily="34" charset="-122"/>
                <a:cs typeface="Calibri" pitchFamily="34" charset="-120"/>
              </a:rPr>
              <a:t>Do these papers agree with, contradict, or extend what you read in earlier weeks? Name specific prior papers.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4818888" y="2395728"/>
            <a:ext cx="3840480" cy="1005840"/>
          </a:xfrm>
          <a:prstGeom prst="rect">
            <a:avLst/>
          </a:prstGeom>
          <a:noFill/>
          <a:ln/>
        </p:spPr>
        <p:txBody>
          <a:bodyPr wrap="square" lIns="0" tIns="0" rIns="0" bIns="0" rtlCol="0" anchor="t"/>
          <a:lstStyle/>
          <a:p>
            <a:pPr>
              <a:defRPr/>
            </a:pPr>
            <a:r>
              <a:rPr lang="en-US" sz="1200" dirty="0"/>
              <a:t>Before, I was looking at how camera systems can have backdoors, self poisoned data, and how hackers can change small pixels to mess with identification, all the papers that I’ve read talk about the factors(lighting, bad quality) which means that these factors are the biggest out of everything.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4096512"/>
            <a:ext cx="8412480" cy="310896"/>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4096512"/>
            <a:ext cx="819302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is still missing across everything you have read?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365760" y="4407408"/>
            <a:ext cx="8412480" cy="475488"/>
          </a:xfrm>
          <a:prstGeom prst="rect">
            <a:avLst/>
          </a:prstGeom>
          <a:solidFill>
            <a:srgbClr val="E8F5E9"/>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75488" y="4434840"/>
            <a:ext cx="8193024" cy="420624"/>
          </a:xfrm>
          <a:prstGeom prst="rect">
            <a:avLst/>
          </a:prstGeom>
          <a:noFill/>
          <a:ln/>
        </p:spPr>
        <p:txBody>
          <a:bodyPr wrap="square" lIns="0" tIns="0" rIns="0" bIns="0" rtlCol="0" anchor="ctr"/>
          <a:lstStyle/>
          <a:p>
            <a:pPr lvl="0">
              <a:defRPr/>
            </a:pPr>
            <a:r>
              <a:rPr lang="en-US" sz="1200" dirty="0"/>
              <a:t>A vital gap remains at the intersection of tracking architecture and security: How do adversarial attacks impact multi-modal, multi-camera tracking systems over prolonged durations?</a:t>
            </a:r>
            <a:endParaRPr kumimoji="0" lang="en-US" sz="12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P.R.I.M.E. · blindspot-summer-2026 · Paper Presentation</a:t>
            </a:r>
            <a:endParaRPr lang="en-US" sz="1100" dirty="0"/>
          </a:p>
        </p:txBody>
      </p:sp>
      <p:sp>
        <p:nvSpPr>
          <p:cNvPr id="5" name="Shape 2"/>
          <p:cNvSpPr/>
          <p:nvPr/>
        </p:nvSpPr>
        <p:spPr>
          <a:xfrm>
            <a:off x="365760" y="640080"/>
            <a:ext cx="457200" cy="457200"/>
          </a:xfrm>
          <a:prstGeom prst="rect">
            <a:avLst/>
          </a:prstGeom>
          <a:solidFill>
            <a:srgbClr val="2B2B2B"/>
          </a:solidFill>
          <a:ln w="12700">
            <a:solidFill>
              <a:srgbClr val="2B2B2B"/>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b="1" dirty="0">
                <a:solidFill>
                  <a:srgbClr val="FFFFFF"/>
                </a:solidFill>
                <a:latin typeface="Calibri" pitchFamily="34" charset="0"/>
                <a:cs typeface="Calibri" pitchFamily="34" charset="-120"/>
              </a:rPr>
              <a:t>5</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Synthesis: Connecting the Papers</a:t>
            </a:r>
            <a:endParaRPr lang="en-US" sz="2600" dirty="0"/>
          </a:p>
        </p:txBody>
      </p:sp>
      <p:sp>
        <p:nvSpPr>
          <p:cNvPr id="8" name="Text 5"/>
          <p:cNvSpPr/>
          <p:nvPr/>
        </p:nvSpPr>
        <p:spPr>
          <a:xfrm>
            <a:off x="365760" y="1234440"/>
            <a:ext cx="8412480" cy="292608"/>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Starting from week 3, use this slide to connect ALL the papers you have read </a:t>
            </a:r>
            <a:r>
              <a:rPr lang="en-US" sz="1100" i="1">
                <a:solidFill>
                  <a:srgbClr val="666666"/>
                </a:solidFill>
                <a:latin typeface="Calibri" pitchFamily="34" charset="0"/>
                <a:ea typeface="Calibri" pitchFamily="34" charset="-122"/>
                <a:cs typeface="Calibri" pitchFamily="34" charset="-120"/>
              </a:rPr>
              <a:t>so far, not </a:t>
            </a:r>
            <a:r>
              <a:rPr lang="en-US" sz="1100" i="1" dirty="0">
                <a:solidFill>
                  <a:srgbClr val="666666"/>
                </a:solidFill>
                <a:latin typeface="Calibri" pitchFamily="34" charset="0"/>
                <a:ea typeface="Calibri" pitchFamily="34" charset="-122"/>
                <a:cs typeface="Calibri" pitchFamily="34" charset="-120"/>
              </a:rPr>
              <a:t>just this week's paper.</a:t>
            </a:r>
            <a:endParaRPr lang="en-US" sz="1100" dirty="0"/>
          </a:p>
        </p:txBody>
      </p:sp>
      <p:sp>
        <p:nvSpPr>
          <p:cNvPr id="9" name="Shape 6"/>
          <p:cNvSpPr/>
          <p:nvPr/>
        </p:nvSpPr>
        <p:spPr>
          <a:xfrm>
            <a:off x="365760"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365760"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9"/>
          <p:cNvSpPr/>
          <p:nvPr/>
        </p:nvSpPr>
        <p:spPr>
          <a:xfrm>
            <a:off x="749808"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What pattern connects the papers?</a:t>
            </a:r>
            <a:endParaRPr lang="en-US" sz="1100" dirty="0"/>
          </a:p>
        </p:txBody>
      </p:sp>
      <p:sp>
        <p:nvSpPr>
          <p:cNvPr id="13" name="Shape 10"/>
          <p:cNvSpPr/>
          <p:nvPr/>
        </p:nvSpPr>
        <p:spPr>
          <a:xfrm>
            <a:off x="365760" y="2011680"/>
            <a:ext cx="2651760" cy="2377440"/>
          </a:xfrm>
          <a:prstGeom prst="rect">
            <a:avLst/>
          </a:prstGeom>
          <a:solidFill>
            <a:srgbClr val="D6E4F0"/>
          </a:solidFill>
          <a:ln w="12700">
            <a:solidFill>
              <a:srgbClr val="BBCCDD"/>
            </a:solidFill>
            <a:prstDash val="solid"/>
          </a:ln>
        </p:spPr>
        <p:txBody>
          <a:bodyPr/>
          <a:lstStyle/>
          <a:p>
            <a:endParaRPr lang="en-US"/>
          </a:p>
        </p:txBody>
      </p:sp>
      <p:sp>
        <p:nvSpPr>
          <p:cNvPr id="14" name="Text 11"/>
          <p:cNvSpPr/>
          <p:nvPr/>
        </p:nvSpPr>
        <p:spPr>
          <a:xfrm>
            <a:off x="475488" y="2103120"/>
            <a:ext cx="2432304" cy="822960"/>
          </a:xfrm>
          <a:prstGeom prst="rect">
            <a:avLst/>
          </a:prstGeom>
          <a:noFill/>
          <a:ln/>
        </p:spPr>
        <p:txBody>
          <a:bodyPr wrap="square" lIns="0" tIns="0" rIns="0" bIns="0" rtlCol="0" anchor="t"/>
          <a:lstStyle/>
          <a:p>
            <a:pPr marL="0" indent="0" algn="l">
              <a:buNone/>
            </a:pPr>
            <a:r>
              <a:rPr lang="en-US" sz="1100" i="1" dirty="0">
                <a:solidFill>
                  <a:srgbClr val="1A3A5C"/>
                </a:solidFill>
                <a:latin typeface="Calibri" pitchFamily="34" charset="0"/>
                <a:ea typeface="Calibri" pitchFamily="34" charset="-122"/>
                <a:cs typeface="Calibri" pitchFamily="34" charset="-120"/>
              </a:rPr>
              <a:t>What theme, idea, or approach shows up across multiple papers you have read? Name at least two papers in your answer.</a:t>
            </a:r>
            <a:endParaRPr lang="en-US" sz="1100" dirty="0"/>
          </a:p>
        </p:txBody>
      </p:sp>
      <p:sp>
        <p:nvSpPr>
          <p:cNvPr id="15" name="Text 12"/>
          <p:cNvSpPr/>
          <p:nvPr/>
        </p:nvSpPr>
        <p:spPr>
          <a:xfrm>
            <a:off x="475488" y="2720340"/>
            <a:ext cx="2432304" cy="1280160"/>
          </a:xfrm>
          <a:prstGeom prst="rect">
            <a:avLst/>
          </a:prstGeom>
          <a:noFill/>
          <a:ln/>
        </p:spPr>
        <p:txBody>
          <a:bodyPr wrap="square" lIns="0" tIns="0" rIns="0" bIns="0" rtlCol="0" anchor="t"/>
          <a:lstStyle/>
          <a:p>
            <a:r>
              <a:rPr lang="en-US" sz="1100" dirty="0"/>
              <a:t>The main pattern is looking at relationships across cameras. The tracking paper uses physical clues (time, space, and heat signatures) to connect the dots, while the security paper uses math clues (how the AI groups data) to double-check that those connections make sense.</a:t>
            </a:r>
          </a:p>
        </p:txBody>
      </p:sp>
      <p:sp>
        <p:nvSpPr>
          <p:cNvPr id="16" name="Shape 13"/>
          <p:cNvSpPr/>
          <p:nvPr/>
        </p:nvSpPr>
        <p:spPr>
          <a:xfrm>
            <a:off x="3172968"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17" name="Shape 14"/>
          <p:cNvSpPr/>
          <p:nvPr/>
        </p:nvSpPr>
        <p:spPr>
          <a:xfrm>
            <a:off x="3172968"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18" name="Text 15"/>
          <p:cNvSpPr/>
          <p:nvPr/>
        </p:nvSpPr>
        <p:spPr>
          <a:xfrm>
            <a:off x="3172968"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6"/>
          <p:cNvSpPr/>
          <p:nvPr/>
        </p:nvSpPr>
        <p:spPr>
          <a:xfrm>
            <a:off x="3557016"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Where is the gap?</a:t>
            </a:r>
            <a:endParaRPr lang="en-US" sz="1100" dirty="0"/>
          </a:p>
        </p:txBody>
      </p:sp>
      <p:sp>
        <p:nvSpPr>
          <p:cNvPr id="20" name="Shape 17"/>
          <p:cNvSpPr/>
          <p:nvPr/>
        </p:nvSpPr>
        <p:spPr>
          <a:xfrm>
            <a:off x="3172968" y="2011680"/>
            <a:ext cx="2651760" cy="2377440"/>
          </a:xfrm>
          <a:prstGeom prst="rect">
            <a:avLst/>
          </a:prstGeom>
          <a:solidFill>
            <a:srgbClr val="FFF8E1"/>
          </a:solidFill>
          <a:ln w="12700">
            <a:solidFill>
              <a:srgbClr val="FFD54F"/>
            </a:solidFill>
            <a:prstDash val="solid"/>
          </a:ln>
        </p:spPr>
        <p:txBody>
          <a:bodyPr/>
          <a:lstStyle/>
          <a:p>
            <a:endParaRPr lang="en-US"/>
          </a:p>
        </p:txBody>
      </p:sp>
      <p:sp>
        <p:nvSpPr>
          <p:cNvPr id="21" name="Text 18"/>
          <p:cNvSpPr/>
          <p:nvPr/>
        </p:nvSpPr>
        <p:spPr>
          <a:xfrm>
            <a:off x="3282696" y="2103120"/>
            <a:ext cx="2432304" cy="822960"/>
          </a:xfrm>
          <a:prstGeom prst="rect">
            <a:avLst/>
          </a:prstGeom>
          <a:noFill/>
          <a:ln/>
        </p:spPr>
        <p:txBody>
          <a:bodyPr wrap="square" lIns="0" tIns="0" rIns="0" bIns="0" rtlCol="0" anchor="t"/>
          <a:lstStyle/>
          <a:p>
            <a:pPr marL="0" indent="0" algn="l">
              <a:buNone/>
            </a:pPr>
            <a:r>
              <a:rPr lang="en-US" sz="1100" i="1" dirty="0">
                <a:solidFill>
                  <a:srgbClr val="5D4037"/>
                </a:solidFill>
                <a:latin typeface="Calibri" pitchFamily="34" charset="0"/>
                <a:ea typeface="Calibri" pitchFamily="34" charset="-122"/>
                <a:cs typeface="Calibri" pitchFamily="34" charset="-120"/>
              </a:rPr>
              <a:t>What has NOT been done yet across all the papers you have read? How does PHANTOM fill that gap?</a:t>
            </a:r>
            <a:endParaRPr lang="en-US" sz="1100" dirty="0"/>
          </a:p>
        </p:txBody>
      </p:sp>
      <p:sp>
        <p:nvSpPr>
          <p:cNvPr id="22" name="Text 19"/>
          <p:cNvSpPr/>
          <p:nvPr/>
        </p:nvSpPr>
        <p:spPr>
          <a:xfrm>
            <a:off x="3282696" y="2651760"/>
            <a:ext cx="2432304" cy="1280160"/>
          </a:xfrm>
          <a:prstGeom prst="rect">
            <a:avLst/>
          </a:prstGeom>
          <a:noFill/>
          <a:ln/>
        </p:spPr>
        <p:txBody>
          <a:bodyPr wrap="square" lIns="0" tIns="0" rIns="0" bIns="0" rtlCol="0" anchor="t"/>
          <a:lstStyle/>
          <a:p>
            <a:r>
              <a:rPr lang="en-US" sz="1100" dirty="0"/>
              <a:t>Right now, people treat "fixing bad lighting" and "stopping hackers" as two totally separate problems. No one has made a benchmark to test how a tracker holds up against security hacks while a person is actively moving between different cameras. PHANTOM bridges this gap by testing everything..</a:t>
            </a:r>
          </a:p>
          <a:p>
            <a:endParaRPr lang="en-US" sz="1100" dirty="0"/>
          </a:p>
        </p:txBody>
      </p:sp>
      <p:sp>
        <p:nvSpPr>
          <p:cNvPr id="23" name="Shape 20"/>
          <p:cNvSpPr/>
          <p:nvPr/>
        </p:nvSpPr>
        <p:spPr>
          <a:xfrm>
            <a:off x="5980176"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24" name="Shape 21"/>
          <p:cNvSpPr/>
          <p:nvPr/>
        </p:nvSpPr>
        <p:spPr>
          <a:xfrm>
            <a:off x="5980176"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25" name="Text 22"/>
          <p:cNvSpPr/>
          <p:nvPr/>
        </p:nvSpPr>
        <p:spPr>
          <a:xfrm>
            <a:off x="5980176"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Text 23"/>
          <p:cNvSpPr/>
          <p:nvPr/>
        </p:nvSpPr>
        <p:spPr>
          <a:xfrm>
            <a:off x="6364224"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Which paper surprised you most and why?</a:t>
            </a:r>
            <a:endParaRPr lang="en-US" sz="1100" dirty="0"/>
          </a:p>
        </p:txBody>
      </p:sp>
      <p:sp>
        <p:nvSpPr>
          <p:cNvPr id="27" name="Shape 24"/>
          <p:cNvSpPr/>
          <p:nvPr/>
        </p:nvSpPr>
        <p:spPr>
          <a:xfrm>
            <a:off x="5980176" y="2011680"/>
            <a:ext cx="2651760" cy="2377440"/>
          </a:xfrm>
          <a:prstGeom prst="rect">
            <a:avLst/>
          </a:prstGeom>
          <a:solidFill>
            <a:srgbClr val="E8F5E9"/>
          </a:solidFill>
          <a:ln w="12700">
            <a:solidFill>
              <a:srgbClr val="A5D6A7"/>
            </a:solidFill>
            <a:prstDash val="solid"/>
          </a:ln>
        </p:spPr>
        <p:txBody>
          <a:bodyPr/>
          <a:lstStyle/>
          <a:p>
            <a:endParaRPr lang="en-US"/>
          </a:p>
        </p:txBody>
      </p:sp>
      <p:sp>
        <p:nvSpPr>
          <p:cNvPr id="28" name="Text 25"/>
          <p:cNvSpPr/>
          <p:nvPr/>
        </p:nvSpPr>
        <p:spPr>
          <a:xfrm>
            <a:off x="6089904" y="2103120"/>
            <a:ext cx="2432304" cy="822960"/>
          </a:xfrm>
          <a:prstGeom prst="rect">
            <a:avLst/>
          </a:prstGeom>
          <a:noFill/>
          <a:ln/>
        </p:spPr>
        <p:txBody>
          <a:bodyPr wrap="square" lIns="0" tIns="0" rIns="0" bIns="0" rtlCol="0" anchor="t"/>
          <a:lstStyle/>
          <a:p>
            <a:pPr marL="0" indent="0" algn="l">
              <a:buNone/>
            </a:pPr>
            <a:r>
              <a:rPr lang="en-US" sz="1100" i="1" dirty="0">
                <a:solidFill>
                  <a:srgbClr val="1B5E20"/>
                </a:solidFill>
                <a:latin typeface="Calibri" pitchFamily="34" charset="0"/>
                <a:ea typeface="Calibri" pitchFamily="34" charset="-122"/>
                <a:cs typeface="Calibri" pitchFamily="34" charset="-120"/>
              </a:rPr>
              <a:t>Pick one paper from any week. What did it say that you did not expect — and did it change how you think about the project?</a:t>
            </a:r>
            <a:endParaRPr lang="en-US" sz="1100" dirty="0"/>
          </a:p>
        </p:txBody>
      </p:sp>
      <p:sp>
        <p:nvSpPr>
          <p:cNvPr id="29" name="Text 26"/>
          <p:cNvSpPr/>
          <p:nvPr/>
        </p:nvSpPr>
        <p:spPr>
          <a:xfrm>
            <a:off x="6089904" y="2651760"/>
            <a:ext cx="2432304" cy="1280160"/>
          </a:xfrm>
          <a:prstGeom prst="rect">
            <a:avLst/>
          </a:prstGeom>
          <a:noFill/>
          <a:ln/>
        </p:spPr>
        <p:txBody>
          <a:bodyPr wrap="square" lIns="0" tIns="0" rIns="0" bIns="0" rtlCol="0" anchor="t"/>
          <a:lstStyle/>
          <a:p>
            <a:r>
              <a:rPr lang="en-US" sz="1100" dirty="0"/>
              <a:t>The security paper (Wang et al., 2021) surprised me the most. I thought the only way to stop a hack was to fix the image or fix the model itself. It was eye-opening to see that you can catch a hack just by watching how oddly the </a:t>
            </a:r>
            <a:r>
              <a:rPr lang="en-US" sz="1100" i="1" dirty="0"/>
              <a:t>other</a:t>
            </a:r>
            <a:r>
              <a:rPr lang="en-US" sz="1100" dirty="0"/>
              <a:t> search results behave. It changes how we can design our own project's defenses.</a:t>
            </a:r>
          </a:p>
          <a:p>
            <a:endParaRPr lang="en-US" sz="1100" dirty="0"/>
          </a:p>
        </p:txBody>
      </p:sp>
      <p:sp>
        <p:nvSpPr>
          <p:cNvPr id="30" name="Shape 27"/>
          <p:cNvSpPr/>
          <p:nvPr/>
        </p:nvSpPr>
        <p:spPr>
          <a:xfrm>
            <a:off x="365760" y="5852160"/>
            <a:ext cx="8412480" cy="530352"/>
          </a:xfrm>
          <a:prstGeom prst="rect">
            <a:avLst/>
          </a:prstGeom>
          <a:solidFill>
            <a:srgbClr val="2B2B2B"/>
          </a:solidFill>
          <a:ln w="12700">
            <a:solidFill>
              <a:srgbClr val="2B2B2B"/>
            </a:solidFill>
            <a:prstDash val="solid"/>
          </a:ln>
        </p:spPr>
        <p:txBody>
          <a:bodyPr/>
          <a:lstStyle/>
          <a:p>
            <a:endParaRPr lang="en-US"/>
          </a:p>
        </p:txBody>
      </p:sp>
      <p:sp>
        <p:nvSpPr>
          <p:cNvPr id="31" name="Text 28"/>
          <p:cNvSpPr/>
          <p:nvPr/>
        </p:nvSpPr>
        <p:spPr>
          <a:xfrm>
            <a:off x="548640" y="5852160"/>
            <a:ext cx="8046720" cy="53035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This slide is pre-writing your Week 8 literature review. The patterns you identify here become the themes that organize the paper.</a:t>
            </a:r>
            <a:endParaRPr lang="en-US" sz="1200" dirty="0"/>
          </a:p>
        </p:txBody>
      </p:sp>
      <p:sp>
        <p:nvSpPr>
          <p:cNvPr id="32" name="Shape 29"/>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33" name="Text 30"/>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34" name="Text 31"/>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6/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libri" pitchFamily="34" charset="0"/>
                <a:cs typeface="Calibri" pitchFamily="34" charset="-120"/>
              </a:rPr>
              <a:t>6</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One Question for the Group</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61872"/>
            <a:ext cx="84124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719072"/>
            <a:ext cx="8412480" cy="2377440"/>
          </a:xfrm>
          <a:prstGeom prst="rect">
            <a:avLst/>
          </a:prstGeom>
          <a:solidFill>
            <a:srgbClr val="FFFFFF">
              <a:alpha val="8000"/>
            </a:srgbClr>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365760" y="1719072"/>
            <a:ext cx="64008" cy="237744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594360" y="1810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1188720" y="1810512"/>
            <a:ext cx="7406640" cy="2194560"/>
          </a:xfrm>
          <a:prstGeom prst="rect">
            <a:avLst/>
          </a:prstGeom>
          <a:noFill/>
          <a:ln/>
        </p:spPr>
        <p:txBody>
          <a:bodyPr wrap="square" lIns="0" tIns="0" rIns="0" bIns="0" rtlCol="0" anchor="ctr"/>
          <a:lstStyle/>
          <a:p>
            <a:pPr lvl="0">
              <a:defRPr/>
            </a:pPr>
            <a:r>
              <a:rPr lang="en-US" sz="2000" dirty="0">
                <a:solidFill>
                  <a:schemeClr val="bg1"/>
                </a:solidFill>
              </a:rPr>
              <a:t>If a tracking network uses both normal video and thermal video across 16 cameras, how can we build a lightweight detector to stop a hack on just one camera's color feed from breaking the whole global tracking system if in a scenario they all use different video types(thermal, normal, color coded)?</a:t>
            </a:r>
            <a:endParaRPr kumimoji="0" lang="en-US" sz="2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365760" y="4279392"/>
            <a:ext cx="8412480" cy="822960"/>
          </a:xfrm>
          <a:prstGeom prst="rect">
            <a:avLst/>
          </a:prstGeom>
          <a:solidFill>
            <a:srgbClr val="FFFFFF">
              <a:alpha val="6000"/>
            </a:srgbClr>
          </a:solidFill>
          <a:ln w="12700">
            <a:solidFill>
              <a:srgbClr val="4444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48640" y="4306824"/>
            <a:ext cx="804672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3460</TotalTime>
  <Words>1471</Words>
  <Application>Microsoft Macintosh PowerPoint</Application>
  <PresentationFormat>Widescreen</PresentationFormat>
  <Paragraphs>88</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blindspot — Paper Presentation Template</dc:title>
  <dc:subject>PptxGenJS Presentation</dc:subject>
  <dc:creator>PptxGenJS</dc:creator>
  <cp:lastModifiedBy>Dodwell, Floyd L.</cp:lastModifiedBy>
  <cp:revision>7</cp:revision>
  <dcterms:created xsi:type="dcterms:W3CDTF">2026-05-19T13:44:10Z</dcterms:created>
  <dcterms:modified xsi:type="dcterms:W3CDTF">2026-06-07T18:43:52Z</dcterms:modified>
</cp:coreProperties>
</file>