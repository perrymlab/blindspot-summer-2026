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2OJyScB6kL6e9fddh5yM9sKoT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5" name="Google Shape;5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0" name="Google Shape;9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5" name="Google Shape;12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8" name="Google Shape;15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9" name="Google Shape;17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9" name="Google Shape;209;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4" name="Google Shape;23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3" name="Google Shape;2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2" name="Google Shape;29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0" name="Google Shape;33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B2B"/>
        </a:solidFill>
      </p:bgPr>
    </p:bg>
    <p:spTree>
      <p:nvGrpSpPr>
        <p:cNvPr id="11" name="Shape 11"/>
        <p:cNvGrpSpPr/>
        <p:nvPr/>
      </p:nvGrpSpPr>
      <p:grpSpPr>
        <a:xfrm>
          <a:off x="0" y="0"/>
          <a:ext cx="0" cy="0"/>
          <a:chOff x="0" y="0"/>
          <a:chExt cx="0" cy="0"/>
        </a:xfrm>
      </p:grpSpPr>
      <p:pic>
        <p:nvPicPr>
          <p:cNvPr descr="template_img1.png" id="12" name="Google Shape;12;p1"/>
          <p:cNvPicPr preferRelativeResize="0"/>
          <p:nvPr/>
        </p:nvPicPr>
        <p:blipFill rotWithShape="1">
          <a:blip r:embed="rId3">
            <a:alphaModFix/>
          </a:blip>
          <a:srcRect b="0" l="0" r="0" t="0"/>
          <a:stretch/>
        </p:blipFill>
        <p:spPr>
          <a:xfrm>
            <a:off x="6217920" y="182880"/>
            <a:ext cx="2743200" cy="502920"/>
          </a:xfrm>
          <a:prstGeom prst="rect">
            <a:avLst/>
          </a:prstGeom>
          <a:noFill/>
          <a:ln>
            <a:noFill/>
          </a:ln>
        </p:spPr>
      </p:pic>
      <p:sp>
        <p:nvSpPr>
          <p:cNvPr id="13" name="Google Shape;13;p1"/>
          <p:cNvSpPr/>
          <p:nvPr/>
        </p:nvSpPr>
        <p:spPr>
          <a:xfrm>
            <a:off x="365760" y="594360"/>
            <a:ext cx="64008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102E"/>
              </a:buClr>
              <a:buSzPts val="1500"/>
              <a:buFont typeface="Calibri"/>
              <a:buNone/>
            </a:pPr>
            <a:r>
              <a:rPr b="1" i="0" lang="en-US" sz="1500" u="none" cap="none" strike="noStrike">
                <a:solidFill>
                  <a:srgbClr val="C8102E"/>
                </a:solidFill>
                <a:latin typeface="Calibri"/>
                <a:ea typeface="Calibri"/>
                <a:cs typeface="Calibri"/>
                <a:sym typeface="Calibri"/>
              </a:rPr>
              <a:t>PHANTOM</a:t>
            </a:r>
            <a:endParaRPr b="0" i="0" sz="1500" u="none" cap="none" strike="noStrike">
              <a:solidFill>
                <a:srgbClr val="000000"/>
              </a:solidFill>
              <a:latin typeface="Calibri"/>
              <a:ea typeface="Calibri"/>
              <a:cs typeface="Calibri"/>
              <a:sym typeface="Calibri"/>
            </a:endParaRPr>
          </a:p>
        </p:txBody>
      </p:sp>
      <p:sp>
        <p:nvSpPr>
          <p:cNvPr id="14" name="Google Shape;14;p1"/>
          <p:cNvSpPr/>
          <p:nvPr/>
        </p:nvSpPr>
        <p:spPr>
          <a:xfrm>
            <a:off x="365760" y="1005840"/>
            <a:ext cx="640080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Georgia"/>
              <a:buNone/>
            </a:pPr>
            <a:r>
              <a:rPr b="1" i="0" lang="en-US" sz="4600" u="none" cap="none" strike="noStrike">
                <a:solidFill>
                  <a:srgbClr val="FFFFFF"/>
                </a:solidFill>
                <a:latin typeface="Georgia"/>
                <a:ea typeface="Georgia"/>
                <a:cs typeface="Georgia"/>
                <a:sym typeface="Georgia"/>
              </a:rPr>
              <a:t>blindspot</a:t>
            </a:r>
            <a:endParaRPr b="0" i="0" sz="4600" u="none" cap="none" strike="noStrike">
              <a:solidFill>
                <a:srgbClr val="000000"/>
              </a:solidFill>
              <a:latin typeface="Calibri"/>
              <a:ea typeface="Calibri"/>
              <a:cs typeface="Calibri"/>
              <a:sym typeface="Calibri"/>
            </a:endParaRPr>
          </a:p>
        </p:txBody>
      </p:sp>
      <p:sp>
        <p:nvSpPr>
          <p:cNvPr id="15" name="Google Shape;15;p1"/>
          <p:cNvSpPr/>
          <p:nvPr/>
        </p:nvSpPr>
        <p:spPr>
          <a:xfrm>
            <a:off x="365760" y="1920240"/>
            <a:ext cx="6400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AAAAA"/>
              </a:buClr>
              <a:buSzPts val="1300"/>
              <a:buFont typeface="Calibri"/>
              <a:buNone/>
            </a:pPr>
            <a:r>
              <a:rPr b="0" i="1" lang="en-US" sz="1300" u="none" cap="none" strike="noStrike">
                <a:solidFill>
                  <a:srgbClr val="AAAAAA"/>
                </a:solidFill>
                <a:latin typeface="Calibri"/>
                <a:ea typeface="Calibri"/>
                <a:cs typeface="Calibri"/>
                <a:sym typeface="Calibri"/>
              </a:rPr>
              <a:t>detecting what the tracker cannot see</a:t>
            </a:r>
            <a:endParaRPr b="0" i="0" sz="1300" u="none" cap="none" strike="noStrike">
              <a:solidFill>
                <a:srgbClr val="000000"/>
              </a:solidFill>
              <a:latin typeface="Calibri"/>
              <a:ea typeface="Calibri"/>
              <a:cs typeface="Calibri"/>
              <a:sym typeface="Calibri"/>
            </a:endParaRPr>
          </a:p>
        </p:txBody>
      </p:sp>
      <p:sp>
        <p:nvSpPr>
          <p:cNvPr id="16" name="Google Shape;16;p1"/>
          <p:cNvSpPr/>
          <p:nvPr/>
        </p:nvSpPr>
        <p:spPr>
          <a:xfrm>
            <a:off x="365760" y="2377440"/>
            <a:ext cx="5029200" cy="4572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 name="Google Shape;17;p1"/>
          <p:cNvSpPr/>
          <p:nvPr/>
        </p:nvSpPr>
        <p:spPr>
          <a:xfrm>
            <a:off x="365760" y="256032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AAAAA"/>
              </a:buClr>
              <a:buSzPts val="1200"/>
              <a:buFont typeface="Calibri"/>
              <a:buNone/>
            </a:pPr>
            <a:r>
              <a:rPr b="1" i="0" lang="en-US" sz="1200" u="none" cap="none" strike="noStrike">
                <a:solidFill>
                  <a:srgbClr val="AAAAAA"/>
                </a:solidFill>
                <a:latin typeface="Calibri"/>
                <a:ea typeface="Calibri"/>
                <a:cs typeface="Calibri"/>
                <a:sym typeface="Calibri"/>
              </a:rPr>
              <a:t>Papers presented this week:</a:t>
            </a:r>
            <a:endParaRPr b="0" i="0" sz="1200" u="none" cap="none" strike="noStrike">
              <a:solidFill>
                <a:srgbClr val="000000"/>
              </a:solidFill>
              <a:latin typeface="Calibri"/>
              <a:ea typeface="Calibri"/>
              <a:cs typeface="Calibri"/>
              <a:sym typeface="Calibri"/>
            </a:endParaRPr>
          </a:p>
        </p:txBody>
      </p:sp>
      <p:sp>
        <p:nvSpPr>
          <p:cNvPr id="18" name="Google Shape;18;p1"/>
          <p:cNvSpPr/>
          <p:nvPr/>
        </p:nvSpPr>
        <p:spPr>
          <a:xfrm>
            <a:off x="365760" y="2907792"/>
            <a:ext cx="256032" cy="25603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 name="Google Shape;19;p1"/>
          <p:cNvSpPr/>
          <p:nvPr/>
        </p:nvSpPr>
        <p:spPr>
          <a:xfrm>
            <a:off x="365760" y="2907792"/>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rgbClr val="000000"/>
              </a:solidFill>
              <a:latin typeface="Calibri"/>
              <a:ea typeface="Calibri"/>
              <a:cs typeface="Calibri"/>
              <a:sym typeface="Calibri"/>
            </a:endParaRPr>
          </a:p>
        </p:txBody>
      </p:sp>
      <p:sp>
        <p:nvSpPr>
          <p:cNvPr id="20" name="Google Shape;20;p1"/>
          <p:cNvSpPr/>
          <p:nvPr/>
        </p:nvSpPr>
        <p:spPr>
          <a:xfrm>
            <a:off x="749808" y="2907792"/>
            <a:ext cx="74980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300"/>
              <a:buFont typeface="Calibri"/>
              <a:buNone/>
            </a:pPr>
            <a:r>
              <a:rPr lang="en-US" sz="1100">
                <a:solidFill>
                  <a:schemeClr val="lt2"/>
                </a:solidFill>
              </a:rPr>
              <a:t>HIJACKING TRACKER: A POWERFUL ADVERSARIAL ATTACK ON VISUAL TRACKING </a:t>
            </a:r>
            <a:r>
              <a:rPr i="0" lang="en-US" sz="1100" u="none" cap="none" strike="noStrike">
                <a:solidFill>
                  <a:schemeClr val="lt2"/>
                </a:solidFill>
              </a:rPr>
              <a:t> — Xiyu Yan, Xuesong Chen, Yong Jiang, Shu-Tao Xia, Yong Zhao, Feng Zheng · </a:t>
            </a:r>
            <a:r>
              <a:rPr i="1" lang="en-US" sz="1100">
                <a:solidFill>
                  <a:schemeClr val="lt2"/>
                </a:solidFill>
              </a:rPr>
              <a:t>ICASSP 2020 - 2020 IEEE International Conference on Acoustics, Speech and Signal Processing (ICASSP)</a:t>
            </a:r>
            <a:r>
              <a:rPr lang="en-US" sz="1100">
                <a:solidFill>
                  <a:schemeClr val="lt2"/>
                </a:solidFill>
              </a:rPr>
              <a:t> </a:t>
            </a:r>
            <a:r>
              <a:rPr i="0" lang="en-US" sz="1100" u="none" cap="none" strike="noStrike">
                <a:solidFill>
                  <a:schemeClr val="lt2"/>
                </a:solidFill>
              </a:rPr>
              <a:t> · </a:t>
            </a:r>
            <a:r>
              <a:rPr lang="en-US" sz="1100">
                <a:solidFill>
                  <a:schemeClr val="lt2"/>
                </a:solidFill>
              </a:rPr>
              <a:t>2020</a:t>
            </a:r>
            <a:endParaRPr i="0" sz="1100" u="none" cap="none" strike="noStrike">
              <a:solidFill>
                <a:schemeClr val="lt2"/>
              </a:solidFill>
            </a:endParaRPr>
          </a:p>
        </p:txBody>
      </p:sp>
      <p:sp>
        <p:nvSpPr>
          <p:cNvPr id="21" name="Google Shape;21;p1"/>
          <p:cNvSpPr/>
          <p:nvPr/>
        </p:nvSpPr>
        <p:spPr>
          <a:xfrm>
            <a:off x="365760" y="3566160"/>
            <a:ext cx="256032" cy="256032"/>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 name="Google Shape;22;p1"/>
          <p:cNvSpPr/>
          <p:nvPr/>
        </p:nvSpPr>
        <p:spPr>
          <a:xfrm>
            <a:off x="365760" y="3566160"/>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rgbClr val="000000"/>
              </a:solidFill>
              <a:latin typeface="Calibri"/>
              <a:ea typeface="Calibri"/>
              <a:cs typeface="Calibri"/>
              <a:sym typeface="Calibri"/>
            </a:endParaRPr>
          </a:p>
        </p:txBody>
      </p:sp>
      <p:sp>
        <p:nvSpPr>
          <p:cNvPr id="23" name="Google Shape;23;p1"/>
          <p:cNvSpPr/>
          <p:nvPr/>
        </p:nvSpPr>
        <p:spPr>
          <a:xfrm>
            <a:off x="749808" y="3566160"/>
            <a:ext cx="74980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300"/>
              <a:buFont typeface="Calibri"/>
              <a:buNone/>
            </a:pPr>
            <a:r>
              <a:rPr lang="en-US" sz="1100">
                <a:solidFill>
                  <a:schemeClr val="lt1"/>
                </a:solidFill>
              </a:rPr>
              <a:t>Robust Filtering for Multi-Object Tracking Against Stealthy Measurement-Oriented Adversarial Attacks </a:t>
            </a:r>
            <a:r>
              <a:rPr i="0" lang="en-US" sz="1100" u="none" cap="none" strike="noStrike">
                <a:solidFill>
                  <a:schemeClr val="lt1"/>
                </a:solidFill>
              </a:rPr>
              <a:t>— </a:t>
            </a:r>
            <a:r>
              <a:rPr lang="en-US" sz="1100">
                <a:solidFill>
                  <a:schemeClr val="lt1"/>
                </a:solidFill>
              </a:rPr>
              <a:t>V. Ghorbani </a:t>
            </a:r>
            <a:r>
              <a:rPr i="1" lang="en-US" sz="1100">
                <a:solidFill>
                  <a:schemeClr val="lt1"/>
                </a:solidFill>
              </a:rPr>
              <a:t>et al</a:t>
            </a:r>
            <a:r>
              <a:rPr lang="en-US" sz="1100">
                <a:solidFill>
                  <a:schemeClr val="lt1"/>
                </a:solidFill>
              </a:rPr>
              <a:t>. </a:t>
            </a:r>
            <a:r>
              <a:rPr i="0" lang="en-US" sz="1100" u="none" cap="none" strike="noStrike">
                <a:solidFill>
                  <a:schemeClr val="lt1"/>
                </a:solidFill>
              </a:rPr>
              <a:t>· </a:t>
            </a:r>
            <a:r>
              <a:rPr i="1" lang="en-US" sz="1100">
                <a:solidFill>
                  <a:schemeClr val="lt1"/>
                </a:solidFill>
              </a:rPr>
              <a:t>IEEE Transactions on Signal Processing</a:t>
            </a:r>
            <a:r>
              <a:rPr lang="en-US" sz="1100">
                <a:solidFill>
                  <a:schemeClr val="lt1"/>
                </a:solidFill>
              </a:rPr>
              <a:t> </a:t>
            </a:r>
            <a:r>
              <a:rPr i="0" lang="en-US" sz="1100" u="none" cap="none" strike="noStrike">
                <a:solidFill>
                  <a:schemeClr val="lt1"/>
                </a:solidFill>
              </a:rPr>
              <a:t> · 202</a:t>
            </a:r>
            <a:r>
              <a:rPr lang="en-US" sz="1100">
                <a:solidFill>
                  <a:schemeClr val="lt1"/>
                </a:solidFill>
              </a:rPr>
              <a:t>6</a:t>
            </a:r>
            <a:endParaRPr i="0" sz="1100" u="none" cap="none" strike="noStrike">
              <a:solidFill>
                <a:schemeClr val="lt1"/>
              </a:solidFill>
            </a:endParaRPr>
          </a:p>
        </p:txBody>
      </p:sp>
      <p:sp>
        <p:nvSpPr>
          <p:cNvPr id="24" name="Google Shape;24;p1"/>
          <p:cNvSpPr/>
          <p:nvPr/>
        </p:nvSpPr>
        <p:spPr>
          <a:xfrm>
            <a:off x="365760" y="4224528"/>
            <a:ext cx="256032" cy="256032"/>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5" name="Google Shape;25;p1"/>
          <p:cNvSpPr/>
          <p:nvPr/>
        </p:nvSpPr>
        <p:spPr>
          <a:xfrm>
            <a:off x="365760" y="4224528"/>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rgbClr val="000000"/>
              </a:solidFill>
              <a:latin typeface="Calibri"/>
              <a:ea typeface="Calibri"/>
              <a:cs typeface="Calibri"/>
              <a:sym typeface="Calibri"/>
            </a:endParaRPr>
          </a:p>
        </p:txBody>
      </p:sp>
      <p:sp>
        <p:nvSpPr>
          <p:cNvPr id="26" name="Google Shape;26;p1"/>
          <p:cNvSpPr/>
          <p:nvPr/>
        </p:nvSpPr>
        <p:spPr>
          <a:xfrm>
            <a:off x="749808" y="4224528"/>
            <a:ext cx="74980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300"/>
              <a:buFont typeface="Calibri"/>
              <a:buNone/>
            </a:pPr>
            <a:r>
              <a:rPr b="0" i="0" lang="en-US" sz="1300" u="none" cap="none" strike="noStrike">
                <a:solidFill>
                  <a:srgbClr val="CCCCCC"/>
                </a:solidFill>
                <a:latin typeface="Calibri"/>
                <a:ea typeface="Calibri"/>
                <a:cs typeface="Calibri"/>
                <a:sym typeface="Calibri"/>
              </a:rPr>
              <a:t>[Optional — Click to enter if you found a third paper]</a:t>
            </a:r>
            <a:endParaRPr b="0" i="0" sz="1300" u="none" cap="none" strike="noStrike">
              <a:solidFill>
                <a:srgbClr val="000000"/>
              </a:solidFill>
              <a:latin typeface="Calibri"/>
              <a:ea typeface="Calibri"/>
              <a:cs typeface="Calibri"/>
              <a:sym typeface="Calibri"/>
            </a:endParaRPr>
          </a:p>
        </p:txBody>
      </p:sp>
      <p:sp>
        <p:nvSpPr>
          <p:cNvPr id="27" name="Google Shape;27;p1"/>
          <p:cNvSpPr/>
          <p:nvPr/>
        </p:nvSpPr>
        <p:spPr>
          <a:xfrm>
            <a:off x="365760" y="608076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100"/>
              <a:buFont typeface="Calibri"/>
              <a:buNone/>
            </a:pPr>
            <a:r>
              <a:rPr b="0" i="0" lang="en-US" sz="1100" u="none" cap="none" strike="noStrike">
                <a:solidFill>
                  <a:srgbClr val="888888"/>
                </a:solidFill>
                <a:latin typeface="Calibri"/>
                <a:ea typeface="Calibri"/>
                <a:cs typeface="Calibri"/>
                <a:sym typeface="Calibri"/>
              </a:rPr>
              <a:t>[</a:t>
            </a:r>
            <a:r>
              <a:rPr lang="en-US" sz="1100">
                <a:solidFill>
                  <a:srgbClr val="888888"/>
                </a:solidFill>
                <a:latin typeface="Calibri"/>
                <a:ea typeface="Calibri"/>
                <a:cs typeface="Calibri"/>
                <a:sym typeface="Calibri"/>
              </a:rPr>
              <a:t>Christine</a:t>
            </a:r>
            <a:r>
              <a:rPr b="0" i="0" lang="en-US" sz="1100" u="none" cap="none" strike="noStrike">
                <a:solidFill>
                  <a:srgbClr val="888888"/>
                </a:solidFill>
                <a:latin typeface="Calibri"/>
                <a:ea typeface="Calibri"/>
                <a:cs typeface="Calibri"/>
                <a:sym typeface="Calibri"/>
              </a:rPr>
              <a:t>]  ·  Week [</a:t>
            </a:r>
            <a:r>
              <a:rPr lang="en-US" sz="1100">
                <a:solidFill>
                  <a:srgbClr val="888888"/>
                </a:solidFill>
                <a:latin typeface="Calibri"/>
                <a:ea typeface="Calibri"/>
                <a:cs typeface="Calibri"/>
                <a:sym typeface="Calibri"/>
              </a:rPr>
              <a:t>3</a:t>
            </a:r>
            <a:r>
              <a:rPr b="0" i="0" lang="en-US" sz="1100" u="none" cap="none" strike="noStrike">
                <a:solidFill>
                  <a:srgbClr val="888888"/>
                </a:solidFill>
                <a:latin typeface="Calibri"/>
                <a:ea typeface="Calibri"/>
                <a:cs typeface="Calibri"/>
                <a:sym typeface="Calibri"/>
              </a:rPr>
              <a:t>]  ·  P.R.I.M.E. Summer 2026</a:t>
            </a:r>
            <a:endParaRPr b="0" i="0" sz="1100" u="none" cap="none" strike="noStrike">
              <a:solidFill>
                <a:srgbClr val="000000"/>
              </a:solidFill>
              <a:latin typeface="Calibri"/>
              <a:ea typeface="Calibri"/>
              <a:cs typeface="Calibri"/>
              <a:sym typeface="Calibri"/>
            </a:endParaRPr>
          </a:p>
        </p:txBody>
      </p:sp>
      <p:sp>
        <p:nvSpPr>
          <p:cNvPr id="28" name="Google Shape;28;p1"/>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9" name="Google Shape;29;p1"/>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30" name="Google Shape;30;p1"/>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 / 7</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2B2B2B"/>
        </a:solidFill>
      </p:bgPr>
    </p:bg>
    <p:spTree>
      <p:nvGrpSpPr>
        <p:cNvPr id="35" name="Shape 35"/>
        <p:cNvGrpSpPr/>
        <p:nvPr/>
      </p:nvGrpSpPr>
      <p:grpSpPr>
        <a:xfrm>
          <a:off x="0" y="0"/>
          <a:ext cx="0" cy="0"/>
          <a:chOff x="0" y="0"/>
          <a:chExt cx="0" cy="0"/>
        </a:xfrm>
      </p:grpSpPr>
      <p:pic>
        <p:nvPicPr>
          <p:cNvPr descr="template_img1.png" id="36" name="Google Shape;36;p2"/>
          <p:cNvPicPr preferRelativeResize="0"/>
          <p:nvPr/>
        </p:nvPicPr>
        <p:blipFill rotWithShape="1">
          <a:blip r:embed="rId3">
            <a:alphaModFix/>
          </a:blip>
          <a:srcRect b="0" l="0" r="0" t="0"/>
          <a:stretch/>
        </p:blipFill>
        <p:spPr>
          <a:xfrm>
            <a:off x="6217920" y="182880"/>
            <a:ext cx="2743200" cy="502920"/>
          </a:xfrm>
          <a:prstGeom prst="rect">
            <a:avLst/>
          </a:prstGeom>
          <a:noFill/>
          <a:ln>
            <a:noFill/>
          </a:ln>
        </p:spPr>
      </p:pic>
      <p:sp>
        <p:nvSpPr>
          <p:cNvPr id="37" name="Google Shape;37;p2"/>
          <p:cNvSpPr/>
          <p:nvPr/>
        </p:nvSpPr>
        <p:spPr>
          <a:xfrm>
            <a:off x="365760" y="822960"/>
            <a:ext cx="5486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Georgia"/>
              <a:buNone/>
            </a:pPr>
            <a:r>
              <a:rPr b="1" i="0" lang="en-US" sz="5400" u="none" cap="none" strike="noStrike">
                <a:solidFill>
                  <a:srgbClr val="FFFFFF"/>
                </a:solidFill>
                <a:latin typeface="Georgia"/>
                <a:ea typeface="Georgia"/>
                <a:cs typeface="Georgia"/>
                <a:sym typeface="Georgia"/>
              </a:rPr>
              <a:t>blindspot</a:t>
            </a:r>
            <a:endParaRPr b="0" i="0" sz="5400" u="none" cap="none" strike="noStrike">
              <a:solidFill>
                <a:schemeClr val="dk1"/>
              </a:solidFill>
              <a:latin typeface="Calibri"/>
              <a:ea typeface="Calibri"/>
              <a:cs typeface="Calibri"/>
              <a:sym typeface="Calibri"/>
            </a:endParaRPr>
          </a:p>
        </p:txBody>
      </p:sp>
      <p:sp>
        <p:nvSpPr>
          <p:cNvPr id="38" name="Google Shape;38;p2"/>
          <p:cNvSpPr/>
          <p:nvPr/>
        </p:nvSpPr>
        <p:spPr>
          <a:xfrm>
            <a:off x="365760" y="1874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400"/>
              <a:buFont typeface="Calibri"/>
              <a:buNone/>
            </a:pPr>
            <a:r>
              <a:rPr b="0" i="1" lang="en-US" sz="1400" u="none" cap="none" strike="noStrike">
                <a:solidFill>
                  <a:srgbClr val="AAAAAA"/>
                </a:solidFill>
                <a:latin typeface="Calibri"/>
                <a:ea typeface="Calibri"/>
                <a:cs typeface="Calibri"/>
                <a:sym typeface="Calibri"/>
              </a:rPr>
              <a:t>detecting what the tracker cannot see</a:t>
            </a:r>
            <a:endParaRPr b="0" i="0" sz="1400" u="none" cap="none" strike="noStrike">
              <a:solidFill>
                <a:schemeClr val="dk1"/>
              </a:solidFill>
              <a:latin typeface="Calibri"/>
              <a:ea typeface="Calibri"/>
              <a:cs typeface="Calibri"/>
              <a:sym typeface="Calibri"/>
            </a:endParaRPr>
          </a:p>
        </p:txBody>
      </p:sp>
      <p:sp>
        <p:nvSpPr>
          <p:cNvPr id="39" name="Google Shape;39;p2"/>
          <p:cNvSpPr/>
          <p:nvPr/>
        </p:nvSpPr>
        <p:spPr>
          <a:xfrm>
            <a:off x="365760" y="2377440"/>
            <a:ext cx="5029200" cy="4572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365760" y="2560320"/>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Paper title:</a:t>
            </a:r>
            <a:endParaRPr sz="1100">
              <a:solidFill>
                <a:schemeClr val="dk1"/>
              </a:solidFill>
              <a:latin typeface="Calibri"/>
              <a:ea typeface="Calibri"/>
              <a:cs typeface="Calibri"/>
              <a:sym typeface="Calibri"/>
            </a:endParaRPr>
          </a:p>
        </p:txBody>
      </p:sp>
      <p:sp>
        <p:nvSpPr>
          <p:cNvPr id="41" name="Google Shape;41;p2"/>
          <p:cNvSpPr/>
          <p:nvPr/>
        </p:nvSpPr>
        <p:spPr>
          <a:xfrm>
            <a:off x="1737360" y="2560320"/>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[Click to enter full paper title]</a:t>
            </a:r>
            <a:endParaRPr sz="1300">
              <a:solidFill>
                <a:schemeClr val="dk1"/>
              </a:solidFill>
              <a:latin typeface="Calibri"/>
              <a:ea typeface="Calibri"/>
              <a:cs typeface="Calibri"/>
              <a:sym typeface="Calibri"/>
            </a:endParaRPr>
          </a:p>
        </p:txBody>
      </p:sp>
      <p:sp>
        <p:nvSpPr>
          <p:cNvPr id="42" name="Google Shape;42;p2"/>
          <p:cNvSpPr/>
          <p:nvPr/>
        </p:nvSpPr>
        <p:spPr>
          <a:xfrm>
            <a:off x="365760" y="3035808"/>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Authors:</a:t>
            </a:r>
            <a:endParaRPr sz="1100">
              <a:solidFill>
                <a:schemeClr val="dk1"/>
              </a:solidFill>
              <a:latin typeface="Calibri"/>
              <a:ea typeface="Calibri"/>
              <a:cs typeface="Calibri"/>
              <a:sym typeface="Calibri"/>
            </a:endParaRPr>
          </a:p>
        </p:txBody>
      </p:sp>
      <p:sp>
        <p:nvSpPr>
          <p:cNvPr id="43" name="Google Shape;43;p2"/>
          <p:cNvSpPr/>
          <p:nvPr/>
        </p:nvSpPr>
        <p:spPr>
          <a:xfrm>
            <a:off x="1737360" y="3035808"/>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[Author names]</a:t>
            </a:r>
            <a:endParaRPr sz="1300">
              <a:solidFill>
                <a:schemeClr val="dk1"/>
              </a:solidFill>
              <a:latin typeface="Calibri"/>
              <a:ea typeface="Calibri"/>
              <a:cs typeface="Calibri"/>
              <a:sym typeface="Calibri"/>
            </a:endParaRPr>
          </a:p>
        </p:txBody>
      </p:sp>
      <p:sp>
        <p:nvSpPr>
          <p:cNvPr id="44" name="Google Shape;44;p2"/>
          <p:cNvSpPr/>
          <p:nvPr/>
        </p:nvSpPr>
        <p:spPr>
          <a:xfrm>
            <a:off x="365760" y="3511296"/>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Venue &amp; year:</a:t>
            </a:r>
            <a:endParaRPr sz="1100">
              <a:solidFill>
                <a:schemeClr val="dk1"/>
              </a:solidFill>
              <a:latin typeface="Calibri"/>
              <a:ea typeface="Calibri"/>
              <a:cs typeface="Calibri"/>
              <a:sym typeface="Calibri"/>
            </a:endParaRPr>
          </a:p>
        </p:txBody>
      </p:sp>
      <p:sp>
        <p:nvSpPr>
          <p:cNvPr id="45" name="Google Shape;45;p2"/>
          <p:cNvSpPr/>
          <p:nvPr/>
        </p:nvSpPr>
        <p:spPr>
          <a:xfrm>
            <a:off x="1737360" y="3511296"/>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[Conference / Journal · Year]</a:t>
            </a:r>
            <a:endParaRPr sz="1300">
              <a:solidFill>
                <a:schemeClr val="dk1"/>
              </a:solidFill>
              <a:latin typeface="Calibri"/>
              <a:ea typeface="Calibri"/>
              <a:cs typeface="Calibri"/>
              <a:sym typeface="Calibri"/>
            </a:endParaRPr>
          </a:p>
        </p:txBody>
      </p:sp>
      <p:sp>
        <p:nvSpPr>
          <p:cNvPr id="46" name="Google Shape;46;p2"/>
          <p:cNvSpPr/>
          <p:nvPr/>
        </p:nvSpPr>
        <p:spPr>
          <a:xfrm>
            <a:off x="365760" y="3986784"/>
            <a:ext cx="1280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100"/>
              <a:buFont typeface="Calibri"/>
              <a:buNone/>
            </a:pPr>
            <a:r>
              <a:rPr b="1" lang="en-US" sz="1100">
                <a:solidFill>
                  <a:srgbClr val="AAAAAA"/>
                </a:solidFill>
                <a:latin typeface="Calibri"/>
                <a:ea typeface="Calibri"/>
                <a:cs typeface="Calibri"/>
                <a:sym typeface="Calibri"/>
              </a:rPr>
              <a:t>Link:</a:t>
            </a:r>
            <a:endParaRPr sz="1100">
              <a:solidFill>
                <a:schemeClr val="dk1"/>
              </a:solidFill>
              <a:latin typeface="Calibri"/>
              <a:ea typeface="Calibri"/>
              <a:cs typeface="Calibri"/>
              <a:sym typeface="Calibri"/>
            </a:endParaRPr>
          </a:p>
        </p:txBody>
      </p:sp>
      <p:sp>
        <p:nvSpPr>
          <p:cNvPr id="47" name="Google Shape;47;p2"/>
          <p:cNvSpPr/>
          <p:nvPr/>
        </p:nvSpPr>
        <p:spPr>
          <a:xfrm>
            <a:off x="1737360" y="3986784"/>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[arxiv.org/abs/... or DOI]</a:t>
            </a:r>
            <a:endParaRPr sz="1300">
              <a:solidFill>
                <a:schemeClr val="dk1"/>
              </a:solidFill>
              <a:latin typeface="Calibri"/>
              <a:ea typeface="Calibri"/>
              <a:cs typeface="Calibri"/>
              <a:sym typeface="Calibri"/>
            </a:endParaRPr>
          </a:p>
        </p:txBody>
      </p:sp>
      <p:sp>
        <p:nvSpPr>
          <p:cNvPr id="48" name="Google Shape;48;p2"/>
          <p:cNvSpPr/>
          <p:nvPr/>
        </p:nvSpPr>
        <p:spPr>
          <a:xfrm>
            <a:off x="365760" y="60350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88888"/>
              </a:buClr>
              <a:buSzPts val="1100"/>
              <a:buFont typeface="Calibri"/>
              <a:buNone/>
            </a:pPr>
            <a:r>
              <a:rPr lang="en-US" sz="1100">
                <a:solidFill>
                  <a:srgbClr val="888888"/>
                </a:solidFill>
                <a:latin typeface="Calibri"/>
                <a:ea typeface="Calibri"/>
                <a:cs typeface="Calibri"/>
                <a:sym typeface="Calibri"/>
              </a:rPr>
              <a:t>[Your name]  ·  Week [N]  ·  P.R.I.M.E. Summer 2026</a:t>
            </a:r>
            <a:endParaRPr sz="1100">
              <a:solidFill>
                <a:schemeClr val="dk1"/>
              </a:solidFill>
              <a:latin typeface="Calibri"/>
              <a:ea typeface="Calibri"/>
              <a:cs typeface="Calibri"/>
              <a:sym typeface="Calibri"/>
            </a:endParaRPr>
          </a:p>
        </p:txBody>
      </p:sp>
      <p:sp>
        <p:nvSpPr>
          <p:cNvPr id="49" name="Google Shape;49;p2"/>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51" name="Google Shape;51;p2"/>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 / 7</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56" name="Shape 56"/>
        <p:cNvGrpSpPr/>
        <p:nvPr/>
      </p:nvGrpSpPr>
      <p:grpSpPr>
        <a:xfrm>
          <a:off x="0" y="0"/>
          <a:ext cx="0" cy="0"/>
          <a:chOff x="0" y="0"/>
          <a:chExt cx="0" cy="0"/>
        </a:xfrm>
      </p:grpSpPr>
      <p:sp>
        <p:nvSpPr>
          <p:cNvPr id="57" name="Google Shape;57;p3"/>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mplate_img1.png" id="58" name="Google Shape;58;p3"/>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59" name="Google Shape;59;p3"/>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P.R.I.M.E. · blindspot-summer-2026 · Multi-Paper Presentation</a:t>
            </a:r>
            <a:endParaRPr b="0" i="0" sz="1100" u="none" cap="none" strike="noStrike">
              <a:solidFill>
                <a:srgbClr val="000000"/>
              </a:solidFill>
              <a:latin typeface="Calibri"/>
              <a:ea typeface="Calibri"/>
              <a:cs typeface="Calibri"/>
              <a:sym typeface="Calibri"/>
            </a:endParaRPr>
          </a:p>
        </p:txBody>
      </p:sp>
      <p:sp>
        <p:nvSpPr>
          <p:cNvPr id="60" name="Google Shape;60;p3"/>
          <p:cNvSpPr/>
          <p:nvPr/>
        </p:nvSpPr>
        <p:spPr>
          <a:xfrm>
            <a:off x="365760" y="667512"/>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1" name="Google Shape;61;p3"/>
          <p:cNvSpPr/>
          <p:nvPr/>
        </p:nvSpPr>
        <p:spPr>
          <a:xfrm>
            <a:off x="365760" y="667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rgbClr val="000000"/>
              </a:solidFill>
              <a:latin typeface="Calibri"/>
              <a:ea typeface="Calibri"/>
              <a:cs typeface="Calibri"/>
              <a:sym typeface="Calibri"/>
            </a:endParaRPr>
          </a:p>
        </p:txBody>
      </p:sp>
      <p:sp>
        <p:nvSpPr>
          <p:cNvPr id="62" name="Google Shape;62;p3"/>
          <p:cNvSpPr/>
          <p:nvPr/>
        </p:nvSpPr>
        <p:spPr>
          <a:xfrm>
            <a:off x="960120" y="667512"/>
            <a:ext cx="7498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2600"/>
              <a:buFont typeface="Calibri"/>
              <a:buNone/>
            </a:pPr>
            <a:r>
              <a:rPr b="1" i="0" lang="en-US" sz="2600" u="none" cap="none" strike="noStrike">
                <a:solidFill>
                  <a:srgbClr val="2B2B2B"/>
                </a:solidFill>
                <a:latin typeface="Calibri"/>
                <a:ea typeface="Calibri"/>
                <a:cs typeface="Calibri"/>
                <a:sym typeface="Calibri"/>
              </a:rPr>
              <a:t>Paper 1</a:t>
            </a:r>
            <a:endParaRPr b="0" i="0" sz="2600" u="none" cap="none" strike="noStrike">
              <a:solidFill>
                <a:srgbClr val="000000"/>
              </a:solidFill>
              <a:latin typeface="Calibri"/>
              <a:ea typeface="Calibri"/>
              <a:cs typeface="Calibri"/>
              <a:sym typeface="Calibri"/>
            </a:endParaRPr>
          </a:p>
        </p:txBody>
      </p:sp>
      <p:sp>
        <p:nvSpPr>
          <p:cNvPr id="63" name="Google Shape;63;p3"/>
          <p:cNvSpPr/>
          <p:nvPr/>
        </p:nvSpPr>
        <p:spPr>
          <a:xfrm>
            <a:off x="365760" y="1234440"/>
            <a:ext cx="8412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100"/>
              <a:buFont typeface="Calibri"/>
              <a:buNone/>
            </a:pPr>
            <a:r>
              <a:rPr b="0" i="1" lang="en-US" sz="1100" u="none" cap="none" strike="noStrike">
                <a:solidFill>
                  <a:srgbClr val="888888"/>
                </a:solidFill>
                <a:latin typeface="Calibri"/>
                <a:ea typeface="Calibri"/>
                <a:cs typeface="Calibri"/>
                <a:sym typeface="Calibri"/>
              </a:rPr>
              <a:t>Cover all four fields: argument, method, key finding, and your reaction</a:t>
            </a:r>
            <a:endParaRPr b="0" i="0" sz="1100" u="none" cap="none" strike="noStrike">
              <a:solidFill>
                <a:srgbClr val="000000"/>
              </a:solidFill>
              <a:latin typeface="Calibri"/>
              <a:ea typeface="Calibri"/>
              <a:cs typeface="Calibri"/>
              <a:sym typeface="Calibri"/>
            </a:endParaRPr>
          </a:p>
        </p:txBody>
      </p:sp>
      <p:sp>
        <p:nvSpPr>
          <p:cNvPr id="64" name="Google Shape;64;p3"/>
          <p:cNvSpPr/>
          <p:nvPr/>
        </p:nvSpPr>
        <p:spPr>
          <a:xfrm>
            <a:off x="365760" y="1627632"/>
            <a:ext cx="4069080" cy="329184"/>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 name="Google Shape;65;p3"/>
          <p:cNvSpPr/>
          <p:nvPr/>
        </p:nvSpPr>
        <p:spPr>
          <a:xfrm>
            <a:off x="475488" y="162763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Main argument</a:t>
            </a:r>
            <a:endParaRPr b="0" i="0" sz="1200" u="none" cap="none" strike="noStrike">
              <a:solidFill>
                <a:srgbClr val="000000"/>
              </a:solidFill>
              <a:latin typeface="Calibri"/>
              <a:ea typeface="Calibri"/>
              <a:cs typeface="Calibri"/>
              <a:sym typeface="Calibri"/>
            </a:endParaRPr>
          </a:p>
        </p:txBody>
      </p:sp>
      <p:sp>
        <p:nvSpPr>
          <p:cNvPr id="66" name="Google Shape;66;p3"/>
          <p:cNvSpPr/>
          <p:nvPr/>
        </p:nvSpPr>
        <p:spPr>
          <a:xfrm>
            <a:off x="365760" y="1956816"/>
            <a:ext cx="4069080" cy="1042416"/>
          </a:xfrm>
          <a:prstGeom prst="rect">
            <a:avLst/>
          </a:prstGeom>
          <a:solidFill>
            <a:srgbClr val="2B2B2B"/>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7" name="Google Shape;67;p3"/>
          <p:cNvSpPr/>
          <p:nvPr/>
        </p:nvSpPr>
        <p:spPr>
          <a:xfrm>
            <a:off x="475488" y="202996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lang="en-US" sz="1200">
                <a:solidFill>
                  <a:schemeClr val="lt1"/>
                </a:solidFill>
                <a:latin typeface="Calibri"/>
                <a:ea typeface="Calibri"/>
                <a:cs typeface="Calibri"/>
                <a:sym typeface="Calibri"/>
              </a:rPr>
              <a:t>This paper claims that by </a:t>
            </a:r>
            <a:r>
              <a:rPr lang="en-US" sz="1200">
                <a:solidFill>
                  <a:schemeClr val="lt1"/>
                </a:solidFill>
                <a:latin typeface="Calibri"/>
                <a:ea typeface="Calibri"/>
                <a:cs typeface="Calibri"/>
                <a:sym typeface="Calibri"/>
              </a:rPr>
              <a:t>making adversarial perturbations to video frames to hijack the bounding boxes and mislead the trackers by modifying the location and shape of the bounding boxes. </a:t>
            </a:r>
            <a:endParaRPr b="0" i="0" sz="1200" u="none" cap="none" strike="noStrike">
              <a:solidFill>
                <a:schemeClr val="lt1"/>
              </a:solidFill>
              <a:latin typeface="Calibri"/>
              <a:ea typeface="Calibri"/>
              <a:cs typeface="Calibri"/>
              <a:sym typeface="Calibri"/>
            </a:endParaRPr>
          </a:p>
        </p:txBody>
      </p:sp>
      <p:sp>
        <p:nvSpPr>
          <p:cNvPr id="68" name="Google Shape;68;p3"/>
          <p:cNvSpPr/>
          <p:nvPr/>
        </p:nvSpPr>
        <p:spPr>
          <a:xfrm>
            <a:off x="4709160" y="1627632"/>
            <a:ext cx="4069080" cy="329184"/>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 name="Google Shape;69;p3"/>
          <p:cNvSpPr/>
          <p:nvPr/>
        </p:nvSpPr>
        <p:spPr>
          <a:xfrm>
            <a:off x="4818888" y="162763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Method or evidence</a:t>
            </a:r>
            <a:endParaRPr b="0" i="0" sz="1200" u="none" cap="none" strike="noStrike">
              <a:solidFill>
                <a:srgbClr val="000000"/>
              </a:solidFill>
              <a:latin typeface="Calibri"/>
              <a:ea typeface="Calibri"/>
              <a:cs typeface="Calibri"/>
              <a:sym typeface="Calibri"/>
            </a:endParaRPr>
          </a:p>
        </p:txBody>
      </p:sp>
      <p:sp>
        <p:nvSpPr>
          <p:cNvPr id="70" name="Google Shape;70;p3"/>
          <p:cNvSpPr/>
          <p:nvPr/>
        </p:nvSpPr>
        <p:spPr>
          <a:xfrm>
            <a:off x="4709160" y="1956816"/>
            <a:ext cx="4069080" cy="1042416"/>
          </a:xfrm>
          <a:prstGeom prst="rect">
            <a:avLst/>
          </a:prstGeom>
          <a:solidFill>
            <a:srgbClr val="D6E4F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 name="Google Shape;71;p3"/>
          <p:cNvSpPr/>
          <p:nvPr/>
        </p:nvSpPr>
        <p:spPr>
          <a:xfrm>
            <a:off x="4818888" y="202996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3A5C"/>
              </a:buClr>
              <a:buSzPts val="1200"/>
              <a:buFont typeface="Calibri"/>
              <a:buNone/>
            </a:pPr>
            <a:r>
              <a:rPr b="0" i="1" lang="en-US" sz="1200" u="none" cap="none" strike="noStrike">
                <a:solidFill>
                  <a:srgbClr val="1A3A5C"/>
                </a:solidFill>
                <a:latin typeface="Calibri"/>
                <a:ea typeface="Calibri"/>
                <a:cs typeface="Calibri"/>
                <a:sym typeface="Calibri"/>
              </a:rPr>
              <a:t>[</a:t>
            </a:r>
            <a:r>
              <a:rPr i="1" lang="en-US" sz="1200">
                <a:solidFill>
                  <a:srgbClr val="1A3A5C"/>
                </a:solidFill>
                <a:latin typeface="Calibri"/>
                <a:ea typeface="Calibri"/>
                <a:cs typeface="Calibri"/>
                <a:sym typeface="Calibri"/>
              </a:rPr>
              <a:t>The </a:t>
            </a:r>
            <a:r>
              <a:rPr i="1" lang="en-US" sz="1200">
                <a:solidFill>
                  <a:srgbClr val="1A3A5C"/>
                </a:solidFill>
                <a:latin typeface="Calibri"/>
                <a:ea typeface="Calibri"/>
                <a:cs typeface="Calibri"/>
                <a:sym typeface="Calibri"/>
              </a:rPr>
              <a:t>authors</a:t>
            </a:r>
            <a:r>
              <a:rPr i="1" lang="en-US" sz="1200">
                <a:solidFill>
                  <a:srgbClr val="1A3A5C"/>
                </a:solidFill>
                <a:latin typeface="Calibri"/>
                <a:ea typeface="Calibri"/>
                <a:cs typeface="Calibri"/>
                <a:sym typeface="Calibri"/>
              </a:rPr>
              <a:t> used OTB2015 for the dataset and performed this attack on SiamRPN, SiamRPN++, and RT-MDNet.</a:t>
            </a:r>
            <a:endParaRPr b="0" i="0" sz="1200" u="none" cap="none" strike="noStrike">
              <a:solidFill>
                <a:srgbClr val="000000"/>
              </a:solidFill>
              <a:latin typeface="Calibri"/>
              <a:ea typeface="Calibri"/>
              <a:cs typeface="Calibri"/>
              <a:sym typeface="Calibri"/>
            </a:endParaRPr>
          </a:p>
        </p:txBody>
      </p:sp>
      <p:sp>
        <p:nvSpPr>
          <p:cNvPr id="72" name="Google Shape;72;p3"/>
          <p:cNvSpPr/>
          <p:nvPr/>
        </p:nvSpPr>
        <p:spPr>
          <a:xfrm>
            <a:off x="365760" y="3136392"/>
            <a:ext cx="4069080" cy="329184"/>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 name="Google Shape;73;p3"/>
          <p:cNvSpPr/>
          <p:nvPr/>
        </p:nvSpPr>
        <p:spPr>
          <a:xfrm>
            <a:off x="475488" y="313639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Key finding</a:t>
            </a:r>
            <a:endParaRPr b="0" i="0" sz="1200" u="none" cap="none" strike="noStrike">
              <a:solidFill>
                <a:srgbClr val="000000"/>
              </a:solidFill>
              <a:latin typeface="Calibri"/>
              <a:ea typeface="Calibri"/>
              <a:cs typeface="Calibri"/>
              <a:sym typeface="Calibri"/>
            </a:endParaRPr>
          </a:p>
        </p:txBody>
      </p:sp>
      <p:sp>
        <p:nvSpPr>
          <p:cNvPr id="74" name="Google Shape;74;p3"/>
          <p:cNvSpPr/>
          <p:nvPr/>
        </p:nvSpPr>
        <p:spPr>
          <a:xfrm>
            <a:off x="365760" y="3465576"/>
            <a:ext cx="4069080" cy="1042416"/>
          </a:xfrm>
          <a:prstGeom prst="rect">
            <a:avLst/>
          </a:prstGeom>
          <a:solidFill>
            <a:srgbClr val="FFF3E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 name="Google Shape;75;p3"/>
          <p:cNvSpPr/>
          <p:nvPr/>
        </p:nvSpPr>
        <p:spPr>
          <a:xfrm>
            <a:off x="475488" y="353872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C4700"/>
              </a:buClr>
              <a:buSzPts val="1200"/>
              <a:buFont typeface="Calibri"/>
              <a:buNone/>
            </a:pPr>
            <a:r>
              <a:rPr lang="en-US" sz="1200">
                <a:solidFill>
                  <a:schemeClr val="dk2"/>
                </a:solidFill>
                <a:latin typeface="Calibri"/>
                <a:ea typeface="Calibri"/>
                <a:cs typeface="Calibri"/>
                <a:sym typeface="Calibri"/>
              </a:rPr>
              <a:t>The single most important result was that the authors found that they could </a:t>
            </a:r>
            <a:r>
              <a:rPr lang="en-US" sz="1200">
                <a:solidFill>
                  <a:schemeClr val="dk2"/>
                </a:solidFill>
                <a:latin typeface="Calibri"/>
                <a:ea typeface="Calibri"/>
                <a:cs typeface="Calibri"/>
                <a:sym typeface="Calibri"/>
              </a:rPr>
              <a:t>consistently</a:t>
            </a:r>
            <a:r>
              <a:rPr lang="en-US" sz="1200">
                <a:solidFill>
                  <a:schemeClr val="dk2"/>
                </a:solidFill>
                <a:latin typeface="Calibri"/>
                <a:ea typeface="Calibri"/>
                <a:cs typeface="Calibri"/>
                <a:sym typeface="Calibri"/>
              </a:rPr>
              <a:t> force trackers to follow </a:t>
            </a:r>
            <a:r>
              <a:rPr lang="en-US" sz="1200">
                <a:solidFill>
                  <a:schemeClr val="dk2"/>
                </a:solidFill>
                <a:latin typeface="Calibri"/>
                <a:ea typeface="Calibri"/>
                <a:cs typeface="Calibri"/>
                <a:sym typeface="Calibri"/>
              </a:rPr>
              <a:t>the</a:t>
            </a:r>
            <a:r>
              <a:rPr lang="en-US" sz="1200">
                <a:solidFill>
                  <a:schemeClr val="dk2"/>
                </a:solidFill>
                <a:latin typeface="Calibri"/>
                <a:ea typeface="Calibri"/>
                <a:cs typeface="Calibri"/>
                <a:sym typeface="Calibri"/>
              </a:rPr>
              <a:t> wrong object. They used two metrics to show this: precision and success rate. </a:t>
            </a:r>
            <a:endParaRPr b="0" sz="1200" u="none" cap="none" strike="noStrike">
              <a:solidFill>
                <a:schemeClr val="dk2"/>
              </a:solidFill>
              <a:latin typeface="Calibri"/>
              <a:ea typeface="Calibri"/>
              <a:cs typeface="Calibri"/>
              <a:sym typeface="Calibri"/>
            </a:endParaRPr>
          </a:p>
        </p:txBody>
      </p:sp>
      <p:sp>
        <p:nvSpPr>
          <p:cNvPr id="76" name="Google Shape;76;p3"/>
          <p:cNvSpPr/>
          <p:nvPr/>
        </p:nvSpPr>
        <p:spPr>
          <a:xfrm>
            <a:off x="4709160" y="3136392"/>
            <a:ext cx="4069080" cy="329184"/>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 name="Google Shape;77;p3"/>
          <p:cNvSpPr/>
          <p:nvPr/>
        </p:nvSpPr>
        <p:spPr>
          <a:xfrm>
            <a:off x="4818888" y="313639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Your reaction</a:t>
            </a:r>
            <a:endParaRPr b="0" i="0" sz="1200" u="none" cap="none" strike="noStrike">
              <a:solidFill>
                <a:srgbClr val="000000"/>
              </a:solidFill>
              <a:latin typeface="Calibri"/>
              <a:ea typeface="Calibri"/>
              <a:cs typeface="Calibri"/>
              <a:sym typeface="Calibri"/>
            </a:endParaRPr>
          </a:p>
        </p:txBody>
      </p:sp>
      <p:sp>
        <p:nvSpPr>
          <p:cNvPr id="78" name="Google Shape;78;p3"/>
          <p:cNvSpPr/>
          <p:nvPr/>
        </p:nvSpPr>
        <p:spPr>
          <a:xfrm>
            <a:off x="4709160" y="3465576"/>
            <a:ext cx="4069080" cy="1042416"/>
          </a:xfrm>
          <a:prstGeom prst="rect">
            <a:avLst/>
          </a:prstGeom>
          <a:solidFill>
            <a:srgbClr val="E8F5E9"/>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 name="Google Shape;79;p3"/>
          <p:cNvSpPr/>
          <p:nvPr/>
        </p:nvSpPr>
        <p:spPr>
          <a:xfrm>
            <a:off x="4818888" y="353872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5E20"/>
              </a:buClr>
              <a:buSzPts val="1200"/>
              <a:buFont typeface="Calibri"/>
              <a:buNone/>
            </a:pPr>
            <a:r>
              <a:rPr lang="en-US" sz="1200">
                <a:solidFill>
                  <a:srgbClr val="1B5E20"/>
                </a:solidFill>
                <a:latin typeface="Calibri"/>
                <a:ea typeface="Calibri"/>
                <a:cs typeface="Calibri"/>
                <a:sym typeface="Calibri"/>
              </a:rPr>
              <a:t>A question that this paper raises could be: </a:t>
            </a:r>
            <a:r>
              <a:rPr lang="en-US" sz="1200">
                <a:solidFill>
                  <a:srgbClr val="1B5E20"/>
                </a:solidFill>
                <a:latin typeface="Calibri"/>
                <a:ea typeface="Calibri"/>
                <a:cs typeface="Calibri"/>
                <a:sym typeface="Calibri"/>
              </a:rPr>
              <a:t>Can an attacker achieve the same type of identity hijacking by manipulating the tracker's appearance embeddings instead of modifying the input images? </a:t>
            </a:r>
            <a:endParaRPr b="0" sz="1200" u="none" cap="none" strike="noStrike">
              <a:solidFill>
                <a:srgbClr val="000000"/>
              </a:solidFill>
              <a:latin typeface="Calibri"/>
              <a:ea typeface="Calibri"/>
              <a:cs typeface="Calibri"/>
              <a:sym typeface="Calibri"/>
            </a:endParaRPr>
          </a:p>
        </p:txBody>
      </p:sp>
      <p:sp>
        <p:nvSpPr>
          <p:cNvPr id="80" name="Google Shape;80;p3"/>
          <p:cNvSpPr/>
          <p:nvPr/>
        </p:nvSpPr>
        <p:spPr>
          <a:xfrm>
            <a:off x="365760" y="4617720"/>
            <a:ext cx="8412480" cy="292608"/>
          </a:xfrm>
          <a:prstGeom prst="rect">
            <a:avLst/>
          </a:prstGeom>
          <a:solidFill>
            <a:srgbClr val="E8E8E8"/>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1" name="Google Shape;81;p3"/>
          <p:cNvSpPr/>
          <p:nvPr/>
        </p:nvSpPr>
        <p:spPr>
          <a:xfrm>
            <a:off x="475488" y="4617720"/>
            <a:ext cx="1371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000"/>
              <a:buFont typeface="Calibri"/>
              <a:buNone/>
            </a:pPr>
            <a:r>
              <a:rPr b="1" i="0" lang="en-US" sz="1000" u="none" cap="none" strike="noStrike">
                <a:solidFill>
                  <a:srgbClr val="2B2B2B"/>
                </a:solidFill>
                <a:latin typeface="Calibri"/>
                <a:ea typeface="Calibri"/>
                <a:cs typeface="Calibri"/>
                <a:sym typeface="Calibri"/>
              </a:rPr>
              <a:t>Link / Citation:</a:t>
            </a:r>
            <a:endParaRPr b="0" i="0" sz="1000" u="none" cap="none" strike="noStrike">
              <a:solidFill>
                <a:srgbClr val="000000"/>
              </a:solidFill>
              <a:latin typeface="Calibri"/>
              <a:ea typeface="Calibri"/>
              <a:cs typeface="Calibri"/>
              <a:sym typeface="Calibri"/>
            </a:endParaRPr>
          </a:p>
        </p:txBody>
      </p:sp>
      <p:sp>
        <p:nvSpPr>
          <p:cNvPr id="82" name="Google Shape;82;p3"/>
          <p:cNvSpPr/>
          <p:nvPr/>
        </p:nvSpPr>
        <p:spPr>
          <a:xfrm>
            <a:off x="1874520" y="4617720"/>
            <a:ext cx="685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000"/>
              <a:buFont typeface="Calibri"/>
              <a:buNone/>
            </a:pPr>
            <a:r>
              <a:rPr lang="en-US" sz="1000">
                <a:solidFill>
                  <a:schemeClr val="dk2"/>
                </a:solidFill>
                <a:highlight>
                  <a:schemeClr val="lt2"/>
                </a:highlight>
              </a:rPr>
              <a:t>doi: 10.1109/ICASSP40776.2020.9053574.</a:t>
            </a:r>
            <a:r>
              <a:rPr lang="en-US" sz="1100">
                <a:solidFill>
                  <a:schemeClr val="dk2"/>
                </a:solidFill>
                <a:highlight>
                  <a:schemeClr val="lt2"/>
                </a:highlight>
              </a:rPr>
              <a:t> </a:t>
            </a:r>
            <a:endParaRPr b="0" i="0" sz="1000" u="none" cap="none" strike="noStrike">
              <a:solidFill>
                <a:schemeClr val="dk2"/>
              </a:solidFill>
              <a:highlight>
                <a:schemeClr val="lt2"/>
              </a:highlight>
              <a:latin typeface="Calibri"/>
              <a:ea typeface="Calibri"/>
              <a:cs typeface="Calibri"/>
              <a:sym typeface="Calibri"/>
            </a:endParaRPr>
          </a:p>
        </p:txBody>
      </p:sp>
      <p:sp>
        <p:nvSpPr>
          <p:cNvPr id="83" name="Google Shape;83;p3"/>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4" name="Google Shape;84;p3"/>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85" name="Google Shape;85;p3"/>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 / 7</a:t>
            </a:r>
            <a:endParaRPr b="0" i="0" sz="900" u="none" cap="none" strike="noStrike">
              <a:solidFill>
                <a:srgbClr val="000000"/>
              </a:solidFill>
              <a:latin typeface="Calibri"/>
              <a:ea typeface="Calibri"/>
              <a:cs typeface="Calibri"/>
              <a:sym typeface="Calibri"/>
            </a:endParaRPr>
          </a:p>
        </p:txBody>
      </p:sp>
      <p:pic>
        <p:nvPicPr>
          <p:cNvPr id="86" name="Google Shape;86;p3"/>
          <p:cNvPicPr preferRelativeResize="0"/>
          <p:nvPr/>
        </p:nvPicPr>
        <p:blipFill>
          <a:blip r:embed="rId4">
            <a:alphaModFix/>
          </a:blip>
          <a:stretch>
            <a:fillRect/>
          </a:stretch>
        </p:blipFill>
        <p:spPr>
          <a:xfrm>
            <a:off x="365750" y="4992438"/>
            <a:ext cx="4219549" cy="1435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91" name="Shape 91"/>
        <p:cNvGrpSpPr/>
        <p:nvPr/>
      </p:nvGrpSpPr>
      <p:grpSpPr>
        <a:xfrm>
          <a:off x="0" y="0"/>
          <a:ext cx="0" cy="0"/>
          <a:chOff x="0" y="0"/>
          <a:chExt cx="0" cy="0"/>
        </a:xfrm>
      </p:grpSpPr>
      <p:sp>
        <p:nvSpPr>
          <p:cNvPr id="92" name="Google Shape;92;p4"/>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mplate_img1.png" id="93" name="Google Shape;93;p4"/>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94" name="Google Shape;94;p4"/>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P.R.I.M.E. · blindspot-summer-2026 · Multi-Paper Presentation</a:t>
            </a:r>
            <a:endParaRPr b="0" i="0" sz="1100" u="none" cap="none" strike="noStrike">
              <a:solidFill>
                <a:srgbClr val="000000"/>
              </a:solidFill>
              <a:latin typeface="Calibri"/>
              <a:ea typeface="Calibri"/>
              <a:cs typeface="Calibri"/>
              <a:sym typeface="Calibri"/>
            </a:endParaRPr>
          </a:p>
        </p:txBody>
      </p:sp>
      <p:sp>
        <p:nvSpPr>
          <p:cNvPr id="95" name="Google Shape;95;p4"/>
          <p:cNvSpPr/>
          <p:nvPr/>
        </p:nvSpPr>
        <p:spPr>
          <a:xfrm>
            <a:off x="365760" y="667512"/>
            <a:ext cx="457200" cy="457200"/>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 name="Google Shape;96;p4"/>
          <p:cNvSpPr/>
          <p:nvPr/>
        </p:nvSpPr>
        <p:spPr>
          <a:xfrm>
            <a:off x="365760" y="667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sp>
        <p:nvSpPr>
          <p:cNvPr id="97" name="Google Shape;97;p4"/>
          <p:cNvSpPr/>
          <p:nvPr/>
        </p:nvSpPr>
        <p:spPr>
          <a:xfrm>
            <a:off x="960120" y="667512"/>
            <a:ext cx="7498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2600"/>
              <a:buFont typeface="Calibri"/>
              <a:buNone/>
            </a:pPr>
            <a:r>
              <a:rPr b="1" i="0" lang="en-US" sz="2600" u="none" cap="none" strike="noStrike">
                <a:solidFill>
                  <a:srgbClr val="2B2B2B"/>
                </a:solidFill>
                <a:latin typeface="Calibri"/>
                <a:ea typeface="Calibri"/>
                <a:cs typeface="Calibri"/>
                <a:sym typeface="Calibri"/>
              </a:rPr>
              <a:t>Paper 2</a:t>
            </a:r>
            <a:endParaRPr b="0" i="0" sz="2600" u="none" cap="none" strike="noStrike">
              <a:solidFill>
                <a:srgbClr val="000000"/>
              </a:solidFill>
              <a:latin typeface="Calibri"/>
              <a:ea typeface="Calibri"/>
              <a:cs typeface="Calibri"/>
              <a:sym typeface="Calibri"/>
            </a:endParaRPr>
          </a:p>
        </p:txBody>
      </p:sp>
      <p:sp>
        <p:nvSpPr>
          <p:cNvPr id="98" name="Google Shape;98;p4"/>
          <p:cNvSpPr/>
          <p:nvPr/>
        </p:nvSpPr>
        <p:spPr>
          <a:xfrm>
            <a:off x="365760" y="1234440"/>
            <a:ext cx="8412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i="1" lang="en-US" sz="1100">
                <a:solidFill>
                  <a:srgbClr val="888888"/>
                </a:solidFill>
                <a:latin typeface="Calibri"/>
                <a:ea typeface="Calibri"/>
                <a:cs typeface="Calibri"/>
                <a:sym typeface="Calibri"/>
              </a:rPr>
              <a:t>Cover all four fields: argument, method, key finding, and your reaction</a:t>
            </a:r>
            <a:endParaRPr sz="1100">
              <a:solidFill>
                <a:srgbClr val="000000"/>
              </a:solidFill>
              <a:latin typeface="Calibri"/>
              <a:ea typeface="Calibri"/>
              <a:cs typeface="Calibri"/>
              <a:sym typeface="Calibri"/>
            </a:endParaRPr>
          </a:p>
        </p:txBody>
      </p:sp>
      <p:sp>
        <p:nvSpPr>
          <p:cNvPr id="99" name="Google Shape;99;p4"/>
          <p:cNvSpPr/>
          <p:nvPr/>
        </p:nvSpPr>
        <p:spPr>
          <a:xfrm>
            <a:off x="365760" y="1627632"/>
            <a:ext cx="4069080" cy="329184"/>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4"/>
          <p:cNvSpPr/>
          <p:nvPr/>
        </p:nvSpPr>
        <p:spPr>
          <a:xfrm>
            <a:off x="475488" y="162763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Main argument</a:t>
            </a:r>
            <a:endParaRPr b="0" i="0" sz="1200" u="none" cap="none" strike="noStrike">
              <a:solidFill>
                <a:srgbClr val="000000"/>
              </a:solidFill>
              <a:latin typeface="Calibri"/>
              <a:ea typeface="Calibri"/>
              <a:cs typeface="Calibri"/>
              <a:sym typeface="Calibri"/>
            </a:endParaRPr>
          </a:p>
        </p:txBody>
      </p:sp>
      <p:sp>
        <p:nvSpPr>
          <p:cNvPr id="101" name="Google Shape;101;p4"/>
          <p:cNvSpPr/>
          <p:nvPr/>
        </p:nvSpPr>
        <p:spPr>
          <a:xfrm>
            <a:off x="365760" y="1956816"/>
            <a:ext cx="4069080" cy="1042416"/>
          </a:xfrm>
          <a:prstGeom prst="rect">
            <a:avLst/>
          </a:prstGeom>
          <a:solidFill>
            <a:srgbClr val="2B2B2B"/>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2" name="Google Shape;102;p4"/>
          <p:cNvSpPr/>
          <p:nvPr/>
        </p:nvSpPr>
        <p:spPr>
          <a:xfrm>
            <a:off x="475488" y="202996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lang="en-US" sz="1300">
                <a:solidFill>
                  <a:srgbClr val="FFFFFF"/>
                </a:solidFill>
              </a:rPr>
              <a:t>This paper argues that tracking systems can defend </a:t>
            </a:r>
            <a:r>
              <a:rPr lang="en-US" sz="1300">
                <a:solidFill>
                  <a:srgbClr val="FFFFFF"/>
                </a:solidFill>
              </a:rPr>
              <a:t>against</a:t>
            </a:r>
            <a:r>
              <a:rPr lang="en-US" sz="1300">
                <a:solidFill>
                  <a:srgbClr val="FFFFFF"/>
                </a:solidFill>
              </a:rPr>
              <a:t> fake ghost </a:t>
            </a:r>
            <a:r>
              <a:rPr lang="en-US" sz="1300">
                <a:solidFill>
                  <a:srgbClr val="FFFFFF"/>
                </a:solidFill>
              </a:rPr>
              <a:t>targets by detecting measurements that do not agree with observations from nearby sensors.</a:t>
            </a:r>
            <a:endParaRPr sz="1300" u="none" cap="none" strike="noStrike">
              <a:solidFill>
                <a:srgbClr val="000000"/>
              </a:solidFill>
            </a:endParaRPr>
          </a:p>
        </p:txBody>
      </p:sp>
      <p:sp>
        <p:nvSpPr>
          <p:cNvPr id="103" name="Google Shape;103;p4"/>
          <p:cNvSpPr/>
          <p:nvPr/>
        </p:nvSpPr>
        <p:spPr>
          <a:xfrm>
            <a:off x="4709160" y="1627632"/>
            <a:ext cx="4069080" cy="329184"/>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4" name="Google Shape;104;p4"/>
          <p:cNvSpPr/>
          <p:nvPr/>
        </p:nvSpPr>
        <p:spPr>
          <a:xfrm>
            <a:off x="4818888" y="162763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Method or evidence</a:t>
            </a:r>
            <a:endParaRPr b="0" i="0" sz="1200" u="none" cap="none" strike="noStrike">
              <a:solidFill>
                <a:srgbClr val="000000"/>
              </a:solidFill>
              <a:latin typeface="Calibri"/>
              <a:ea typeface="Calibri"/>
              <a:cs typeface="Calibri"/>
              <a:sym typeface="Calibri"/>
            </a:endParaRPr>
          </a:p>
        </p:txBody>
      </p:sp>
      <p:sp>
        <p:nvSpPr>
          <p:cNvPr id="105" name="Google Shape;105;p4"/>
          <p:cNvSpPr/>
          <p:nvPr/>
        </p:nvSpPr>
        <p:spPr>
          <a:xfrm>
            <a:off x="4709160" y="1956816"/>
            <a:ext cx="4069080" cy="1042416"/>
          </a:xfrm>
          <a:prstGeom prst="rect">
            <a:avLst/>
          </a:prstGeom>
          <a:solidFill>
            <a:srgbClr val="D6E4F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6" name="Google Shape;106;p4"/>
          <p:cNvSpPr/>
          <p:nvPr/>
        </p:nvSpPr>
        <p:spPr>
          <a:xfrm>
            <a:off x="4818888" y="202996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3A5C"/>
              </a:buClr>
              <a:buSzPts val="1200"/>
              <a:buFont typeface="Calibri"/>
              <a:buNone/>
            </a:pPr>
            <a:r>
              <a:rPr lang="en-US" sz="1300">
                <a:solidFill>
                  <a:srgbClr val="1A3A5C"/>
                </a:solidFill>
              </a:rPr>
              <a:t>They used a simulated MSMOT </a:t>
            </a:r>
            <a:r>
              <a:rPr lang="en-US" sz="1300">
                <a:solidFill>
                  <a:srgbClr val="1A3A5C"/>
                </a:solidFill>
              </a:rPr>
              <a:t>environment</a:t>
            </a:r>
            <a:r>
              <a:rPr lang="en-US" sz="1300">
                <a:solidFill>
                  <a:srgbClr val="1A3A5C"/>
                </a:solidFill>
              </a:rPr>
              <a:t> in which they injected adversarial ghost measurements into the simulation to test whether the ALARM can reject them</a:t>
            </a:r>
            <a:endParaRPr sz="1300" u="none" cap="none" strike="noStrike">
              <a:solidFill>
                <a:srgbClr val="000000"/>
              </a:solidFill>
            </a:endParaRPr>
          </a:p>
        </p:txBody>
      </p:sp>
      <p:sp>
        <p:nvSpPr>
          <p:cNvPr id="107" name="Google Shape;107;p4"/>
          <p:cNvSpPr/>
          <p:nvPr/>
        </p:nvSpPr>
        <p:spPr>
          <a:xfrm>
            <a:off x="365760" y="3136392"/>
            <a:ext cx="4069080" cy="329184"/>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 name="Google Shape;108;p4"/>
          <p:cNvSpPr/>
          <p:nvPr/>
        </p:nvSpPr>
        <p:spPr>
          <a:xfrm>
            <a:off x="475488" y="313639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Key finding</a:t>
            </a:r>
            <a:endParaRPr b="0" i="0" sz="1200" u="none" cap="none" strike="noStrike">
              <a:solidFill>
                <a:srgbClr val="000000"/>
              </a:solidFill>
              <a:latin typeface="Calibri"/>
              <a:ea typeface="Calibri"/>
              <a:cs typeface="Calibri"/>
              <a:sym typeface="Calibri"/>
            </a:endParaRPr>
          </a:p>
        </p:txBody>
      </p:sp>
      <p:sp>
        <p:nvSpPr>
          <p:cNvPr id="109" name="Google Shape;109;p4"/>
          <p:cNvSpPr/>
          <p:nvPr/>
        </p:nvSpPr>
        <p:spPr>
          <a:xfrm>
            <a:off x="365760" y="3465576"/>
            <a:ext cx="4069080" cy="1042416"/>
          </a:xfrm>
          <a:prstGeom prst="rect">
            <a:avLst/>
          </a:prstGeom>
          <a:solidFill>
            <a:srgbClr val="FFF3E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 name="Google Shape;110;p4"/>
          <p:cNvSpPr/>
          <p:nvPr/>
        </p:nvSpPr>
        <p:spPr>
          <a:xfrm>
            <a:off x="475488" y="353872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C4700"/>
              </a:buClr>
              <a:buSzPts val="1200"/>
              <a:buFont typeface="Calibri"/>
              <a:buNone/>
            </a:pPr>
            <a:r>
              <a:rPr lang="en-US" sz="1300">
                <a:solidFill>
                  <a:srgbClr val="7C4700"/>
                </a:solidFill>
              </a:rPr>
              <a:t>The most important finding was that the ALARM consistently produced lower tracking errors and execution times than a standard filtering approach using up to 20 ghost targets.</a:t>
            </a:r>
            <a:endParaRPr sz="1300" u="none" cap="none" strike="noStrike">
              <a:solidFill>
                <a:srgbClr val="000000"/>
              </a:solidFill>
            </a:endParaRPr>
          </a:p>
        </p:txBody>
      </p:sp>
      <p:sp>
        <p:nvSpPr>
          <p:cNvPr id="111" name="Google Shape;111;p4"/>
          <p:cNvSpPr/>
          <p:nvPr/>
        </p:nvSpPr>
        <p:spPr>
          <a:xfrm>
            <a:off x="4709160" y="3136392"/>
            <a:ext cx="4069080" cy="329184"/>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 name="Google Shape;112;p4"/>
          <p:cNvSpPr/>
          <p:nvPr/>
        </p:nvSpPr>
        <p:spPr>
          <a:xfrm>
            <a:off x="4818888" y="3136392"/>
            <a:ext cx="3849624"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Your reaction</a:t>
            </a:r>
            <a:endParaRPr b="0" i="0" sz="1200" u="none" cap="none" strike="noStrike">
              <a:solidFill>
                <a:srgbClr val="000000"/>
              </a:solidFill>
              <a:latin typeface="Calibri"/>
              <a:ea typeface="Calibri"/>
              <a:cs typeface="Calibri"/>
              <a:sym typeface="Calibri"/>
            </a:endParaRPr>
          </a:p>
        </p:txBody>
      </p:sp>
      <p:sp>
        <p:nvSpPr>
          <p:cNvPr id="113" name="Google Shape;113;p4"/>
          <p:cNvSpPr/>
          <p:nvPr/>
        </p:nvSpPr>
        <p:spPr>
          <a:xfrm>
            <a:off x="4709160" y="3465576"/>
            <a:ext cx="4069080" cy="1042416"/>
          </a:xfrm>
          <a:prstGeom prst="rect">
            <a:avLst/>
          </a:prstGeom>
          <a:solidFill>
            <a:srgbClr val="E8F5E9"/>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 name="Google Shape;114;p4"/>
          <p:cNvSpPr/>
          <p:nvPr/>
        </p:nvSpPr>
        <p:spPr>
          <a:xfrm>
            <a:off x="4818888" y="3538728"/>
            <a:ext cx="3849624" cy="8961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5E20"/>
              </a:buClr>
              <a:buSzPts val="1200"/>
              <a:buFont typeface="Calibri"/>
              <a:buNone/>
            </a:pPr>
            <a:r>
              <a:rPr lang="en-US" sz="1300">
                <a:solidFill>
                  <a:srgbClr val="1B5E20"/>
                </a:solidFill>
              </a:rPr>
              <a:t>Can an attack silently corrupt identity associations without creating obvious false targets?</a:t>
            </a:r>
            <a:endParaRPr sz="1300" u="none" cap="none" strike="noStrike">
              <a:solidFill>
                <a:srgbClr val="000000"/>
              </a:solidFill>
            </a:endParaRPr>
          </a:p>
        </p:txBody>
      </p:sp>
      <p:sp>
        <p:nvSpPr>
          <p:cNvPr id="115" name="Google Shape;115;p4"/>
          <p:cNvSpPr/>
          <p:nvPr/>
        </p:nvSpPr>
        <p:spPr>
          <a:xfrm>
            <a:off x="365760" y="4617720"/>
            <a:ext cx="8412480" cy="292608"/>
          </a:xfrm>
          <a:prstGeom prst="rect">
            <a:avLst/>
          </a:prstGeom>
          <a:solidFill>
            <a:srgbClr val="E8E8E8"/>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 name="Google Shape;116;p4"/>
          <p:cNvSpPr/>
          <p:nvPr/>
        </p:nvSpPr>
        <p:spPr>
          <a:xfrm>
            <a:off x="475488" y="4617720"/>
            <a:ext cx="1371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1000"/>
              <a:buFont typeface="Calibri"/>
              <a:buNone/>
            </a:pPr>
            <a:r>
              <a:rPr b="1" i="0" lang="en-US" sz="1000" u="none" cap="none" strike="noStrike">
                <a:solidFill>
                  <a:srgbClr val="2B2B2B"/>
                </a:solidFill>
                <a:latin typeface="Calibri"/>
                <a:ea typeface="Calibri"/>
                <a:cs typeface="Calibri"/>
                <a:sym typeface="Calibri"/>
              </a:rPr>
              <a:t>Link / Citation:</a:t>
            </a:r>
            <a:endParaRPr b="0" i="0" sz="1000" u="none" cap="none" strike="noStrike">
              <a:solidFill>
                <a:srgbClr val="000000"/>
              </a:solidFill>
              <a:latin typeface="Calibri"/>
              <a:ea typeface="Calibri"/>
              <a:cs typeface="Calibri"/>
              <a:sym typeface="Calibri"/>
            </a:endParaRPr>
          </a:p>
        </p:txBody>
      </p:sp>
      <p:sp>
        <p:nvSpPr>
          <p:cNvPr id="117" name="Google Shape;117;p4"/>
          <p:cNvSpPr/>
          <p:nvPr/>
        </p:nvSpPr>
        <p:spPr>
          <a:xfrm>
            <a:off x="1874520" y="4617720"/>
            <a:ext cx="68580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000"/>
              <a:buFont typeface="Calibri"/>
              <a:buNone/>
            </a:pPr>
            <a:r>
              <a:rPr lang="en-US" sz="1000">
                <a:solidFill>
                  <a:srgbClr val="333333"/>
                </a:solidFill>
              </a:rPr>
              <a:t>doi: 10.1109/TSP.2026.3697369</a:t>
            </a:r>
            <a:r>
              <a:rPr lang="en-US" sz="1100">
                <a:solidFill>
                  <a:schemeClr val="dk1"/>
                </a:solidFill>
              </a:rPr>
              <a:t> </a:t>
            </a:r>
            <a:endParaRPr b="0" i="0" sz="1000" u="none" cap="none" strike="noStrike">
              <a:solidFill>
                <a:srgbClr val="000000"/>
              </a:solidFill>
              <a:latin typeface="Calibri"/>
              <a:ea typeface="Calibri"/>
              <a:cs typeface="Calibri"/>
              <a:sym typeface="Calibri"/>
            </a:endParaRPr>
          </a:p>
        </p:txBody>
      </p:sp>
      <p:sp>
        <p:nvSpPr>
          <p:cNvPr id="118" name="Google Shape;118;p4"/>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 name="Google Shape;119;p4"/>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120" name="Google Shape;120;p4"/>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 / 7</a:t>
            </a:r>
            <a:endParaRPr b="0" i="0" sz="900" u="none" cap="none" strike="noStrike">
              <a:solidFill>
                <a:srgbClr val="000000"/>
              </a:solidFill>
              <a:latin typeface="Calibri"/>
              <a:ea typeface="Calibri"/>
              <a:cs typeface="Calibri"/>
              <a:sym typeface="Calibri"/>
            </a:endParaRPr>
          </a:p>
        </p:txBody>
      </p:sp>
      <p:pic>
        <p:nvPicPr>
          <p:cNvPr id="121" name="Google Shape;121;p4"/>
          <p:cNvPicPr preferRelativeResize="0"/>
          <p:nvPr/>
        </p:nvPicPr>
        <p:blipFill>
          <a:blip r:embed="rId4">
            <a:alphaModFix/>
          </a:blip>
          <a:stretch>
            <a:fillRect/>
          </a:stretch>
        </p:blipFill>
        <p:spPr>
          <a:xfrm>
            <a:off x="365760" y="4910326"/>
            <a:ext cx="5844766" cy="15653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7F7F7"/>
        </a:solidFill>
      </p:bgPr>
    </p:bg>
    <p:spTree>
      <p:nvGrpSpPr>
        <p:cNvPr id="126" name="Shape 126"/>
        <p:cNvGrpSpPr/>
        <p:nvPr/>
      </p:nvGrpSpPr>
      <p:grpSpPr>
        <a:xfrm>
          <a:off x="0" y="0"/>
          <a:ext cx="0" cy="0"/>
          <a:chOff x="0" y="0"/>
          <a:chExt cx="0" cy="0"/>
        </a:xfrm>
      </p:grpSpPr>
      <p:sp>
        <p:nvSpPr>
          <p:cNvPr id="127" name="Google Shape;127;p5"/>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mplate_img1.png" id="128" name="Google Shape;128;p5"/>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29" name="Google Shape;129;p5"/>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P.R.I.M.E. · blindspot-summer-2026 · Multi-Paper Presentation</a:t>
            </a:r>
            <a:endParaRPr b="0" i="0" sz="1100" u="none" cap="none" strike="noStrike">
              <a:solidFill>
                <a:srgbClr val="000000"/>
              </a:solidFill>
              <a:latin typeface="Calibri"/>
              <a:ea typeface="Calibri"/>
              <a:cs typeface="Calibri"/>
              <a:sym typeface="Calibri"/>
            </a:endParaRPr>
          </a:p>
        </p:txBody>
      </p:sp>
      <p:sp>
        <p:nvSpPr>
          <p:cNvPr id="130" name="Google Shape;130;p5"/>
          <p:cNvSpPr/>
          <p:nvPr/>
        </p:nvSpPr>
        <p:spPr>
          <a:xfrm>
            <a:off x="365760" y="667512"/>
            <a:ext cx="457200" cy="457200"/>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5"/>
          <p:cNvSpPr/>
          <p:nvPr/>
        </p:nvSpPr>
        <p:spPr>
          <a:xfrm>
            <a:off x="365760" y="667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rgbClr val="000000"/>
              </a:solidFill>
              <a:latin typeface="Calibri"/>
              <a:ea typeface="Calibri"/>
              <a:cs typeface="Calibri"/>
              <a:sym typeface="Calibri"/>
            </a:endParaRPr>
          </a:p>
        </p:txBody>
      </p:sp>
      <p:sp>
        <p:nvSpPr>
          <p:cNvPr id="132" name="Google Shape;132;p5"/>
          <p:cNvSpPr/>
          <p:nvPr/>
        </p:nvSpPr>
        <p:spPr>
          <a:xfrm>
            <a:off x="960120" y="667512"/>
            <a:ext cx="7498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2600"/>
              <a:buFont typeface="Calibri"/>
              <a:buNone/>
            </a:pPr>
            <a:r>
              <a:rPr b="1" i="0" lang="en-US" sz="2600" u="none" cap="none" strike="noStrike">
                <a:solidFill>
                  <a:srgbClr val="2B2B2B"/>
                </a:solidFill>
                <a:latin typeface="Calibri"/>
                <a:ea typeface="Calibri"/>
                <a:cs typeface="Calibri"/>
                <a:sym typeface="Calibri"/>
              </a:rPr>
              <a:t>Paper 3 — Optional</a:t>
            </a:r>
            <a:endParaRPr b="0" i="0" sz="2600" u="none" cap="none" strike="noStrike">
              <a:solidFill>
                <a:srgbClr val="000000"/>
              </a:solidFill>
              <a:latin typeface="Calibri"/>
              <a:ea typeface="Calibri"/>
              <a:cs typeface="Calibri"/>
              <a:sym typeface="Calibri"/>
            </a:endParaRPr>
          </a:p>
        </p:txBody>
      </p:sp>
      <p:sp>
        <p:nvSpPr>
          <p:cNvPr id="133" name="Google Shape;133;p5"/>
          <p:cNvSpPr/>
          <p:nvPr/>
        </p:nvSpPr>
        <p:spPr>
          <a:xfrm>
            <a:off x="365760" y="1234440"/>
            <a:ext cx="8412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100"/>
              <a:buFont typeface="Calibri"/>
              <a:buNone/>
            </a:pPr>
            <a:r>
              <a:rPr b="0" i="1" lang="en-US" sz="1100" u="none" cap="none" strike="noStrike">
                <a:solidFill>
                  <a:srgbClr val="888888"/>
                </a:solidFill>
                <a:latin typeface="Calibri"/>
                <a:ea typeface="Calibri"/>
                <a:cs typeface="Calibri"/>
                <a:sym typeface="Calibri"/>
              </a:rPr>
              <a:t>Use this slide if you found a third paper. Skip it if you only found two.</a:t>
            </a:r>
            <a:endParaRPr b="0" i="0" sz="1100" u="none" cap="none" strike="noStrike">
              <a:solidFill>
                <a:srgbClr val="000000"/>
              </a:solidFill>
              <a:latin typeface="Calibri"/>
              <a:ea typeface="Calibri"/>
              <a:cs typeface="Calibri"/>
              <a:sym typeface="Calibri"/>
            </a:endParaRPr>
          </a:p>
        </p:txBody>
      </p:sp>
      <p:sp>
        <p:nvSpPr>
          <p:cNvPr id="134" name="Google Shape;134;p5"/>
          <p:cNvSpPr/>
          <p:nvPr/>
        </p:nvSpPr>
        <p:spPr>
          <a:xfrm>
            <a:off x="365760" y="1627632"/>
            <a:ext cx="8412480" cy="384048"/>
          </a:xfrm>
          <a:prstGeom prst="rect">
            <a:avLst/>
          </a:prstGeom>
          <a:solidFill>
            <a:srgbClr val="FFF8E1"/>
          </a:solidFill>
          <a:ln cap="flat" cmpd="sng" w="12700">
            <a:solidFill>
              <a:srgbClr val="FFD54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5"/>
          <p:cNvSpPr/>
          <p:nvPr/>
        </p:nvSpPr>
        <p:spPr>
          <a:xfrm>
            <a:off x="502920" y="1627632"/>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D4037"/>
              </a:buClr>
              <a:buSzPts val="1100"/>
              <a:buFont typeface="Calibri"/>
              <a:buNone/>
            </a:pPr>
            <a:r>
              <a:rPr b="0" i="1" lang="en-US" sz="1100" u="none" cap="none" strike="noStrike">
                <a:solidFill>
                  <a:srgbClr val="5D4037"/>
                </a:solidFill>
                <a:latin typeface="Calibri"/>
                <a:ea typeface="Calibri"/>
                <a:cs typeface="Calibri"/>
                <a:sym typeface="Calibri"/>
              </a:rPr>
              <a:t>If you only found 2 papers this week, leave this slide blank and move straight to slide 5.</a:t>
            </a:r>
            <a:endParaRPr b="0" i="0" sz="1100" u="none" cap="none" strike="noStrike">
              <a:solidFill>
                <a:srgbClr val="000000"/>
              </a:solidFill>
              <a:latin typeface="Calibri"/>
              <a:ea typeface="Calibri"/>
              <a:cs typeface="Calibri"/>
              <a:sym typeface="Calibri"/>
            </a:endParaRPr>
          </a:p>
        </p:txBody>
      </p:sp>
      <p:sp>
        <p:nvSpPr>
          <p:cNvPr id="136" name="Google Shape;136;p5"/>
          <p:cNvSpPr/>
          <p:nvPr/>
        </p:nvSpPr>
        <p:spPr>
          <a:xfrm>
            <a:off x="365760" y="2130552"/>
            <a:ext cx="4069080" cy="31089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7" name="Google Shape;137;p5"/>
          <p:cNvSpPr/>
          <p:nvPr/>
        </p:nvSpPr>
        <p:spPr>
          <a:xfrm>
            <a:off x="475488" y="2130552"/>
            <a:ext cx="384962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Main argument</a:t>
            </a:r>
            <a:endParaRPr b="0" i="0" sz="1200" u="none" cap="none" strike="noStrike">
              <a:solidFill>
                <a:srgbClr val="000000"/>
              </a:solidFill>
              <a:latin typeface="Calibri"/>
              <a:ea typeface="Calibri"/>
              <a:cs typeface="Calibri"/>
              <a:sym typeface="Calibri"/>
            </a:endParaRPr>
          </a:p>
        </p:txBody>
      </p:sp>
      <p:sp>
        <p:nvSpPr>
          <p:cNvPr id="138" name="Google Shape;138;p5"/>
          <p:cNvSpPr/>
          <p:nvPr/>
        </p:nvSpPr>
        <p:spPr>
          <a:xfrm>
            <a:off x="365760" y="2441448"/>
            <a:ext cx="4069080" cy="923544"/>
          </a:xfrm>
          <a:prstGeom prst="rect">
            <a:avLst/>
          </a:prstGeom>
          <a:solidFill>
            <a:srgbClr val="2B2B2B"/>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5"/>
          <p:cNvSpPr/>
          <p:nvPr/>
        </p:nvSpPr>
        <p:spPr>
          <a:xfrm>
            <a:off x="475488" y="2514600"/>
            <a:ext cx="384962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[One sentence: what does this paper claim?]</a:t>
            </a:r>
            <a:endParaRPr b="0" i="0" sz="1200" u="none" cap="none" strike="noStrike">
              <a:solidFill>
                <a:srgbClr val="000000"/>
              </a:solidFill>
              <a:latin typeface="Calibri"/>
              <a:ea typeface="Calibri"/>
              <a:cs typeface="Calibri"/>
              <a:sym typeface="Calibri"/>
            </a:endParaRPr>
          </a:p>
        </p:txBody>
      </p:sp>
      <p:sp>
        <p:nvSpPr>
          <p:cNvPr id="140" name="Google Shape;140;p5"/>
          <p:cNvSpPr/>
          <p:nvPr/>
        </p:nvSpPr>
        <p:spPr>
          <a:xfrm>
            <a:off x="4709160" y="2130552"/>
            <a:ext cx="4069080" cy="31089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1" name="Google Shape;141;p5"/>
          <p:cNvSpPr/>
          <p:nvPr/>
        </p:nvSpPr>
        <p:spPr>
          <a:xfrm>
            <a:off x="4818888" y="2130552"/>
            <a:ext cx="384962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Method or evidence</a:t>
            </a:r>
            <a:endParaRPr b="0" i="0" sz="1200" u="none" cap="none" strike="noStrike">
              <a:solidFill>
                <a:srgbClr val="000000"/>
              </a:solidFill>
              <a:latin typeface="Calibri"/>
              <a:ea typeface="Calibri"/>
              <a:cs typeface="Calibri"/>
              <a:sym typeface="Calibri"/>
            </a:endParaRPr>
          </a:p>
        </p:txBody>
      </p:sp>
      <p:sp>
        <p:nvSpPr>
          <p:cNvPr id="142" name="Google Shape;142;p5"/>
          <p:cNvSpPr/>
          <p:nvPr/>
        </p:nvSpPr>
        <p:spPr>
          <a:xfrm>
            <a:off x="4709160" y="2441448"/>
            <a:ext cx="4069080" cy="923544"/>
          </a:xfrm>
          <a:prstGeom prst="rect">
            <a:avLst/>
          </a:prstGeom>
          <a:solidFill>
            <a:srgbClr val="D6E4F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3" name="Google Shape;143;p5"/>
          <p:cNvSpPr/>
          <p:nvPr/>
        </p:nvSpPr>
        <p:spPr>
          <a:xfrm>
            <a:off x="4818888" y="2514600"/>
            <a:ext cx="384962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3A5C"/>
              </a:buClr>
              <a:buSzPts val="1200"/>
              <a:buFont typeface="Calibri"/>
              <a:buNone/>
            </a:pPr>
            <a:r>
              <a:rPr b="0" i="1" lang="en-US" sz="1200" u="none" cap="none" strike="noStrike">
                <a:solidFill>
                  <a:srgbClr val="1A3A5C"/>
                </a:solidFill>
                <a:latin typeface="Calibri"/>
                <a:ea typeface="Calibri"/>
                <a:cs typeface="Calibri"/>
                <a:sym typeface="Calibri"/>
              </a:rPr>
              <a:t>[What data or experiment did they use to show it?]</a:t>
            </a:r>
            <a:endParaRPr b="0" i="0" sz="1200" u="none" cap="none" strike="noStrike">
              <a:solidFill>
                <a:srgbClr val="000000"/>
              </a:solidFill>
              <a:latin typeface="Calibri"/>
              <a:ea typeface="Calibri"/>
              <a:cs typeface="Calibri"/>
              <a:sym typeface="Calibri"/>
            </a:endParaRPr>
          </a:p>
        </p:txBody>
      </p:sp>
      <p:sp>
        <p:nvSpPr>
          <p:cNvPr id="144" name="Google Shape;144;p5"/>
          <p:cNvSpPr/>
          <p:nvPr/>
        </p:nvSpPr>
        <p:spPr>
          <a:xfrm>
            <a:off x="365760" y="3502152"/>
            <a:ext cx="4069080" cy="31089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5" name="Google Shape;145;p5"/>
          <p:cNvSpPr/>
          <p:nvPr/>
        </p:nvSpPr>
        <p:spPr>
          <a:xfrm>
            <a:off x="475488" y="3502152"/>
            <a:ext cx="384962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Key finding</a:t>
            </a:r>
            <a:endParaRPr b="0" i="0" sz="1200" u="none" cap="none" strike="noStrike">
              <a:solidFill>
                <a:srgbClr val="000000"/>
              </a:solidFill>
              <a:latin typeface="Calibri"/>
              <a:ea typeface="Calibri"/>
              <a:cs typeface="Calibri"/>
              <a:sym typeface="Calibri"/>
            </a:endParaRPr>
          </a:p>
        </p:txBody>
      </p:sp>
      <p:sp>
        <p:nvSpPr>
          <p:cNvPr id="146" name="Google Shape;146;p5"/>
          <p:cNvSpPr/>
          <p:nvPr/>
        </p:nvSpPr>
        <p:spPr>
          <a:xfrm>
            <a:off x="365760" y="3813048"/>
            <a:ext cx="4069080" cy="923544"/>
          </a:xfrm>
          <a:prstGeom prst="rect">
            <a:avLst/>
          </a:prstGeom>
          <a:solidFill>
            <a:srgbClr val="FFF3E0"/>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7" name="Google Shape;147;p5"/>
          <p:cNvSpPr/>
          <p:nvPr/>
        </p:nvSpPr>
        <p:spPr>
          <a:xfrm>
            <a:off x="475488" y="3886200"/>
            <a:ext cx="384962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7C4700"/>
              </a:buClr>
              <a:buSzPts val="1200"/>
              <a:buFont typeface="Calibri"/>
              <a:buNone/>
            </a:pPr>
            <a:r>
              <a:rPr b="0" i="1" lang="en-US" sz="1200" u="none" cap="none" strike="noStrike">
                <a:solidFill>
                  <a:srgbClr val="7C4700"/>
                </a:solidFill>
                <a:latin typeface="Calibri"/>
                <a:ea typeface="Calibri"/>
                <a:cs typeface="Calibri"/>
                <a:sym typeface="Calibri"/>
              </a:rPr>
              <a:t>[The single most important result]</a:t>
            </a:r>
            <a:endParaRPr b="0" i="0" sz="1200" u="none" cap="none" strike="noStrike">
              <a:solidFill>
                <a:srgbClr val="000000"/>
              </a:solidFill>
              <a:latin typeface="Calibri"/>
              <a:ea typeface="Calibri"/>
              <a:cs typeface="Calibri"/>
              <a:sym typeface="Calibri"/>
            </a:endParaRPr>
          </a:p>
        </p:txBody>
      </p:sp>
      <p:sp>
        <p:nvSpPr>
          <p:cNvPr id="148" name="Google Shape;148;p5"/>
          <p:cNvSpPr/>
          <p:nvPr/>
        </p:nvSpPr>
        <p:spPr>
          <a:xfrm>
            <a:off x="4709160" y="3502152"/>
            <a:ext cx="4069080" cy="31089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9" name="Google Shape;149;p5"/>
          <p:cNvSpPr/>
          <p:nvPr/>
        </p:nvSpPr>
        <p:spPr>
          <a:xfrm>
            <a:off x="4818888" y="3502152"/>
            <a:ext cx="384962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Your reaction</a:t>
            </a:r>
            <a:endParaRPr b="0" i="0" sz="1200" u="none" cap="none" strike="noStrike">
              <a:solidFill>
                <a:srgbClr val="000000"/>
              </a:solidFill>
              <a:latin typeface="Calibri"/>
              <a:ea typeface="Calibri"/>
              <a:cs typeface="Calibri"/>
              <a:sym typeface="Calibri"/>
            </a:endParaRPr>
          </a:p>
        </p:txBody>
      </p:sp>
      <p:sp>
        <p:nvSpPr>
          <p:cNvPr id="150" name="Google Shape;150;p5"/>
          <p:cNvSpPr/>
          <p:nvPr/>
        </p:nvSpPr>
        <p:spPr>
          <a:xfrm>
            <a:off x="4709160" y="3813048"/>
            <a:ext cx="4069080" cy="923544"/>
          </a:xfrm>
          <a:prstGeom prst="rect">
            <a:avLst/>
          </a:prstGeom>
          <a:solidFill>
            <a:srgbClr val="E8F5E9"/>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1" name="Google Shape;151;p5"/>
          <p:cNvSpPr/>
          <p:nvPr/>
        </p:nvSpPr>
        <p:spPr>
          <a:xfrm>
            <a:off x="4818888" y="3886200"/>
            <a:ext cx="384962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5E20"/>
              </a:buClr>
              <a:buSzPts val="1200"/>
              <a:buFont typeface="Calibri"/>
              <a:buNone/>
            </a:pPr>
            <a:r>
              <a:rPr b="0" i="1" lang="en-US" sz="1200" u="none" cap="none" strike="noStrike">
                <a:solidFill>
                  <a:srgbClr val="1B5E20"/>
                </a:solidFill>
                <a:latin typeface="Calibri"/>
                <a:ea typeface="Calibri"/>
                <a:cs typeface="Calibri"/>
                <a:sym typeface="Calibri"/>
              </a:rPr>
              <a:t>[What surprised you or what question does it raise?]</a:t>
            </a:r>
            <a:endParaRPr b="0" i="0" sz="1200" u="none" cap="none" strike="noStrike">
              <a:solidFill>
                <a:srgbClr val="000000"/>
              </a:solidFill>
              <a:latin typeface="Calibri"/>
              <a:ea typeface="Calibri"/>
              <a:cs typeface="Calibri"/>
              <a:sym typeface="Calibri"/>
            </a:endParaRPr>
          </a:p>
        </p:txBody>
      </p:sp>
      <p:sp>
        <p:nvSpPr>
          <p:cNvPr id="152" name="Google Shape;152;p5"/>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3" name="Google Shape;153;p5"/>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154" name="Google Shape;154;p5"/>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 / 7</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59" name="Shape 159"/>
        <p:cNvGrpSpPr/>
        <p:nvPr/>
      </p:nvGrpSpPr>
      <p:grpSpPr>
        <a:xfrm>
          <a:off x="0" y="0"/>
          <a:ext cx="0" cy="0"/>
          <a:chOff x="0" y="0"/>
          <a:chExt cx="0" cy="0"/>
        </a:xfrm>
      </p:grpSpPr>
      <p:sp>
        <p:nvSpPr>
          <p:cNvPr id="160" name="Google Shape;160;p6"/>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61" name="Google Shape;161;p6"/>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62" name="Google Shape;162;p6"/>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100"/>
              <a:buFont typeface="Calibri"/>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63" name="Google Shape;163;p6"/>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6"/>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2</a:t>
            </a:r>
            <a:endParaRPr sz="1800">
              <a:solidFill>
                <a:schemeClr val="dk1"/>
              </a:solidFill>
              <a:latin typeface="Calibri"/>
              <a:ea typeface="Calibri"/>
              <a:cs typeface="Calibri"/>
              <a:sym typeface="Calibri"/>
            </a:endParaRPr>
          </a:p>
        </p:txBody>
      </p:sp>
      <p:sp>
        <p:nvSpPr>
          <p:cNvPr id="165" name="Google Shape;165;p6"/>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Main Argument</a:t>
            </a:r>
            <a:endParaRPr sz="2600">
              <a:solidFill>
                <a:schemeClr val="dk1"/>
              </a:solidFill>
              <a:latin typeface="Calibri"/>
              <a:ea typeface="Calibri"/>
              <a:cs typeface="Calibri"/>
              <a:sym typeface="Calibri"/>
            </a:endParaRPr>
          </a:p>
        </p:txBody>
      </p:sp>
      <p:sp>
        <p:nvSpPr>
          <p:cNvPr id="166" name="Google Shape;166;p6"/>
          <p:cNvSpPr/>
          <p:nvPr/>
        </p:nvSpPr>
        <p:spPr>
          <a:xfrm>
            <a:off x="365760" y="1234440"/>
            <a:ext cx="8412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State the paper's central claim in ONE sentence. If you cannot say it in one sentence, keep refining.</a:t>
            </a:r>
            <a:endParaRPr sz="1100">
              <a:solidFill>
                <a:schemeClr val="dk1"/>
              </a:solidFill>
              <a:latin typeface="Calibri"/>
              <a:ea typeface="Calibri"/>
              <a:cs typeface="Calibri"/>
              <a:sym typeface="Calibri"/>
            </a:endParaRPr>
          </a:p>
        </p:txBody>
      </p:sp>
      <p:sp>
        <p:nvSpPr>
          <p:cNvPr id="167" name="Google Shape;167;p6"/>
          <p:cNvSpPr/>
          <p:nvPr/>
        </p:nvSpPr>
        <p:spPr>
          <a:xfrm>
            <a:off x="365760" y="1645920"/>
            <a:ext cx="8412480" cy="201168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6"/>
          <p:cNvSpPr/>
          <p:nvPr/>
        </p:nvSpPr>
        <p:spPr>
          <a:xfrm>
            <a:off x="365760" y="1645920"/>
            <a:ext cx="73152" cy="201168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6"/>
          <p:cNvSpPr/>
          <p:nvPr/>
        </p:nvSpPr>
        <p:spPr>
          <a:xfrm>
            <a:off x="594360" y="1645920"/>
            <a:ext cx="8092440" cy="2011680"/>
          </a:xfrm>
          <a:prstGeom prst="rect">
            <a:avLst/>
          </a:prstGeom>
          <a:noFill/>
          <a:ln>
            <a:noFill/>
          </a:ln>
        </p:spPr>
        <p:txBody>
          <a:bodyPr anchorCtr="0" anchor="ctr" bIns="203200" lIns="203200" spcFirstLastPara="1" rIns="203200" wrap="square" tIns="203200">
            <a:noAutofit/>
          </a:bodyPr>
          <a:lstStyle/>
          <a:p>
            <a:pPr indent="0" lvl="0" marL="0" marR="0" rtl="0" algn="l">
              <a:spcBef>
                <a:spcPts val="0"/>
              </a:spcBef>
              <a:spcAft>
                <a:spcPts val="0"/>
              </a:spcAft>
              <a:buClr>
                <a:srgbClr val="FFFFFF"/>
              </a:buClr>
              <a:buSzPts val="2000"/>
              <a:buFont typeface="Georgia"/>
              <a:buNone/>
            </a:pPr>
            <a:r>
              <a:rPr i="1" lang="en-US" sz="2000">
                <a:solidFill>
                  <a:srgbClr val="FFFFFF"/>
                </a:solidFill>
                <a:latin typeface="Georgia"/>
                <a:ea typeface="Georgia"/>
                <a:cs typeface="Georgia"/>
                <a:sym typeface="Georgia"/>
              </a:rPr>
              <a:t>[Click here and type the paper's main argument in one sentence]</a:t>
            </a:r>
            <a:endParaRPr sz="2000">
              <a:solidFill>
                <a:schemeClr val="dk1"/>
              </a:solidFill>
              <a:latin typeface="Calibri"/>
              <a:ea typeface="Calibri"/>
              <a:cs typeface="Calibri"/>
              <a:sym typeface="Calibri"/>
            </a:endParaRPr>
          </a:p>
        </p:txBody>
      </p:sp>
      <p:sp>
        <p:nvSpPr>
          <p:cNvPr id="170" name="Google Shape;170;p6"/>
          <p:cNvSpPr/>
          <p:nvPr/>
        </p:nvSpPr>
        <p:spPr>
          <a:xfrm>
            <a:off x="365760" y="384048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Calibri"/>
              <a:buNone/>
            </a:pPr>
            <a:r>
              <a:rPr b="1" lang="en-US" sz="1200">
                <a:solidFill>
                  <a:srgbClr val="0D9488"/>
                </a:solidFill>
                <a:latin typeface="Calibri"/>
                <a:ea typeface="Calibri"/>
                <a:cs typeface="Calibri"/>
                <a:sym typeface="Calibri"/>
              </a:rPr>
              <a:t>Why does this matter?</a:t>
            </a:r>
            <a:endParaRPr sz="1200">
              <a:solidFill>
                <a:schemeClr val="dk1"/>
              </a:solidFill>
              <a:latin typeface="Calibri"/>
              <a:ea typeface="Calibri"/>
              <a:cs typeface="Calibri"/>
              <a:sym typeface="Calibri"/>
            </a:endParaRPr>
          </a:p>
        </p:txBody>
      </p:sp>
      <p:sp>
        <p:nvSpPr>
          <p:cNvPr id="171" name="Google Shape;171;p6"/>
          <p:cNvSpPr/>
          <p:nvPr/>
        </p:nvSpPr>
        <p:spPr>
          <a:xfrm>
            <a:off x="365760" y="4160520"/>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6"/>
          <p:cNvSpPr/>
          <p:nvPr/>
        </p:nvSpPr>
        <p:spPr>
          <a:xfrm>
            <a:off x="502920" y="4160520"/>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rPr lang="en-US" sz="1300">
                <a:solidFill>
                  <a:srgbClr val="1A3A5C"/>
                </a:solidFill>
                <a:latin typeface="Calibri"/>
                <a:ea typeface="Calibri"/>
                <a:cs typeface="Calibri"/>
                <a:sym typeface="Calibri"/>
              </a:rPr>
              <a:t>[1–2 sentences: why does this claim matter to the PHANTOM project?]</a:t>
            </a:r>
            <a:endParaRPr sz="1300">
              <a:solidFill>
                <a:schemeClr val="dk1"/>
              </a:solidFill>
              <a:latin typeface="Calibri"/>
              <a:ea typeface="Calibri"/>
              <a:cs typeface="Calibri"/>
              <a:sym typeface="Calibri"/>
            </a:endParaRPr>
          </a:p>
        </p:txBody>
      </p:sp>
      <p:sp>
        <p:nvSpPr>
          <p:cNvPr id="173" name="Google Shape;173;p6"/>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6"/>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175" name="Google Shape;175;p6"/>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2 / 7</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80" name="Shape 180"/>
        <p:cNvGrpSpPr/>
        <p:nvPr/>
      </p:nvGrpSpPr>
      <p:grpSpPr>
        <a:xfrm>
          <a:off x="0" y="0"/>
          <a:ext cx="0" cy="0"/>
          <a:chOff x="0" y="0"/>
          <a:chExt cx="0" cy="0"/>
        </a:xfrm>
      </p:grpSpPr>
      <p:sp>
        <p:nvSpPr>
          <p:cNvPr id="181" name="Google Shape;181;p7"/>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182" name="Google Shape;182;p7"/>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183" name="Google Shape;183;p7"/>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184" name="Google Shape;184;p7"/>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7"/>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86" name="Google Shape;186;p7"/>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Method or Evidence</a:t>
            </a:r>
            <a:endParaRPr sz="2600">
              <a:solidFill>
                <a:schemeClr val="dk1"/>
              </a:solidFill>
              <a:latin typeface="Calibri"/>
              <a:ea typeface="Calibri"/>
              <a:cs typeface="Calibri"/>
              <a:sym typeface="Calibri"/>
            </a:endParaRPr>
          </a:p>
        </p:txBody>
      </p:sp>
      <p:sp>
        <p:nvSpPr>
          <p:cNvPr id="187" name="Google Shape;187;p7"/>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How did they show it? Describe the dataset, experiment, proof, or analysis.</a:t>
            </a:r>
            <a:endParaRPr sz="1100">
              <a:solidFill>
                <a:schemeClr val="dk1"/>
              </a:solidFill>
              <a:latin typeface="Calibri"/>
              <a:ea typeface="Calibri"/>
              <a:cs typeface="Calibri"/>
              <a:sym typeface="Calibri"/>
            </a:endParaRPr>
          </a:p>
        </p:txBody>
      </p:sp>
      <p:sp>
        <p:nvSpPr>
          <p:cNvPr id="188" name="Google Shape;188;p7"/>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7"/>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Dataset or setting</a:t>
            </a:r>
            <a:endParaRPr sz="1200">
              <a:solidFill>
                <a:schemeClr val="dk1"/>
              </a:solidFill>
              <a:latin typeface="Calibri"/>
              <a:ea typeface="Calibri"/>
              <a:cs typeface="Calibri"/>
              <a:sym typeface="Calibri"/>
            </a:endParaRPr>
          </a:p>
        </p:txBody>
      </p:sp>
      <p:sp>
        <p:nvSpPr>
          <p:cNvPr id="190" name="Google Shape;190;p7"/>
          <p:cNvSpPr/>
          <p:nvPr/>
        </p:nvSpPr>
        <p:spPr>
          <a:xfrm>
            <a:off x="365760"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p:nvPr/>
        </p:nvSpPr>
        <p:spPr>
          <a:xfrm>
            <a:off x="457200"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i="1" lang="en-US" sz="1200">
                <a:solidFill>
                  <a:srgbClr val="666666"/>
                </a:solidFill>
                <a:latin typeface="Calibri"/>
                <a:ea typeface="Calibri"/>
                <a:cs typeface="Calibri"/>
                <a:sym typeface="Calibri"/>
              </a:rPr>
              <a:t>[What data did they use? How large? What domain?]</a:t>
            </a:r>
            <a:endParaRPr sz="1200">
              <a:solidFill>
                <a:schemeClr val="dk1"/>
              </a:solidFill>
              <a:latin typeface="Calibri"/>
              <a:ea typeface="Calibri"/>
              <a:cs typeface="Calibri"/>
              <a:sym typeface="Calibri"/>
            </a:endParaRPr>
          </a:p>
        </p:txBody>
      </p:sp>
      <p:sp>
        <p:nvSpPr>
          <p:cNvPr id="192" name="Google Shape;192;p7"/>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7"/>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Experimental approach</a:t>
            </a:r>
            <a:endParaRPr sz="1200">
              <a:solidFill>
                <a:schemeClr val="dk1"/>
              </a:solidFill>
              <a:latin typeface="Calibri"/>
              <a:ea typeface="Calibri"/>
              <a:cs typeface="Calibri"/>
              <a:sym typeface="Calibri"/>
            </a:endParaRPr>
          </a:p>
        </p:txBody>
      </p:sp>
      <p:sp>
        <p:nvSpPr>
          <p:cNvPr id="194" name="Google Shape;194;p7"/>
          <p:cNvSpPr/>
          <p:nvPr/>
        </p:nvSpPr>
        <p:spPr>
          <a:xfrm>
            <a:off x="3172968"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7"/>
          <p:cNvSpPr/>
          <p:nvPr/>
        </p:nvSpPr>
        <p:spPr>
          <a:xfrm>
            <a:off x="3264408"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i="1" lang="en-US" sz="1200">
                <a:solidFill>
                  <a:srgbClr val="666666"/>
                </a:solidFill>
                <a:latin typeface="Calibri"/>
                <a:ea typeface="Calibri"/>
                <a:cs typeface="Calibri"/>
                <a:sym typeface="Calibri"/>
              </a:rPr>
              <a:t>[What did they actually do? What comparisons did they make?]</a:t>
            </a:r>
            <a:endParaRPr sz="1200">
              <a:solidFill>
                <a:schemeClr val="dk1"/>
              </a:solidFill>
              <a:latin typeface="Calibri"/>
              <a:ea typeface="Calibri"/>
              <a:cs typeface="Calibri"/>
              <a:sym typeface="Calibri"/>
            </a:endParaRPr>
          </a:p>
        </p:txBody>
      </p:sp>
      <p:sp>
        <p:nvSpPr>
          <p:cNvPr id="196" name="Google Shape;196;p7"/>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7"/>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How they measured success</a:t>
            </a:r>
            <a:endParaRPr sz="1200">
              <a:solidFill>
                <a:schemeClr val="dk1"/>
              </a:solidFill>
              <a:latin typeface="Calibri"/>
              <a:ea typeface="Calibri"/>
              <a:cs typeface="Calibri"/>
              <a:sym typeface="Calibri"/>
            </a:endParaRPr>
          </a:p>
        </p:txBody>
      </p:sp>
      <p:sp>
        <p:nvSpPr>
          <p:cNvPr id="198" name="Google Shape;198;p7"/>
          <p:cNvSpPr/>
          <p:nvPr/>
        </p:nvSpPr>
        <p:spPr>
          <a:xfrm>
            <a:off x="5980176" y="1993392"/>
            <a:ext cx="2651760" cy="164592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7"/>
          <p:cNvSpPr/>
          <p:nvPr/>
        </p:nvSpPr>
        <p:spPr>
          <a:xfrm>
            <a:off x="6071616" y="2057400"/>
            <a:ext cx="2468880" cy="1508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66666"/>
              </a:buClr>
              <a:buSzPts val="1200"/>
              <a:buFont typeface="Calibri"/>
              <a:buNone/>
            </a:pPr>
            <a:r>
              <a:rPr i="1" lang="en-US" sz="1200">
                <a:solidFill>
                  <a:srgbClr val="666666"/>
                </a:solidFill>
                <a:latin typeface="Calibri"/>
                <a:ea typeface="Calibri"/>
                <a:cs typeface="Calibri"/>
                <a:sym typeface="Calibri"/>
              </a:rPr>
              <a:t>[What metrics? What threshold for a good result?]</a:t>
            </a:r>
            <a:endParaRPr sz="1200">
              <a:solidFill>
                <a:schemeClr val="dk1"/>
              </a:solidFill>
              <a:latin typeface="Calibri"/>
              <a:ea typeface="Calibri"/>
              <a:cs typeface="Calibri"/>
              <a:sym typeface="Calibri"/>
            </a:endParaRPr>
          </a:p>
        </p:txBody>
      </p:sp>
      <p:sp>
        <p:nvSpPr>
          <p:cNvPr id="200" name="Google Shape;200;p7"/>
          <p:cNvSpPr/>
          <p:nvPr/>
        </p:nvSpPr>
        <p:spPr>
          <a:xfrm>
            <a:off x="365760" y="379476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100"/>
              <a:buFont typeface="Calibri"/>
              <a:buNone/>
            </a:pPr>
            <a:r>
              <a:rPr b="1" lang="en-US" sz="1100">
                <a:solidFill>
                  <a:srgbClr val="0D9488"/>
                </a:solidFill>
                <a:latin typeface="Calibri"/>
                <a:ea typeface="Calibri"/>
                <a:cs typeface="Calibri"/>
                <a:sym typeface="Calibri"/>
              </a:rPr>
              <a:t>Additional notes on the method:</a:t>
            </a:r>
            <a:endParaRPr sz="1100">
              <a:solidFill>
                <a:schemeClr val="dk1"/>
              </a:solidFill>
              <a:latin typeface="Calibri"/>
              <a:ea typeface="Calibri"/>
              <a:cs typeface="Calibri"/>
              <a:sym typeface="Calibri"/>
            </a:endParaRPr>
          </a:p>
        </p:txBody>
      </p:sp>
      <p:sp>
        <p:nvSpPr>
          <p:cNvPr id="201" name="Google Shape;201;p7"/>
          <p:cNvSpPr/>
          <p:nvPr/>
        </p:nvSpPr>
        <p:spPr>
          <a:xfrm>
            <a:off x="365760" y="4096512"/>
            <a:ext cx="8412480" cy="685800"/>
          </a:xfrm>
          <a:prstGeom prst="rect">
            <a:avLst/>
          </a:prstGeom>
          <a:solidFill>
            <a:srgbClr val="D6E4F0"/>
          </a:solidFill>
          <a:ln cap="flat" cmpd="sng" w="12700">
            <a:solidFill>
              <a:srgbClr val="CCDD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7"/>
          <p:cNvSpPr/>
          <p:nvPr/>
        </p:nvSpPr>
        <p:spPr>
          <a:xfrm>
            <a:off x="502920" y="4096512"/>
            <a:ext cx="81381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300"/>
              <a:buFont typeface="Calibri"/>
              <a:buNone/>
            </a:pPr>
            <a:r>
              <a:rPr i="1" lang="en-US" sz="1300">
                <a:solidFill>
                  <a:srgbClr val="1A3A5C"/>
                </a:solidFill>
                <a:latin typeface="Calibri"/>
                <a:ea typeface="Calibri"/>
                <a:cs typeface="Calibri"/>
                <a:sym typeface="Calibri"/>
              </a:rPr>
              <a:t>[Any additional context about how they conducted the study]</a:t>
            </a:r>
            <a:endParaRPr sz="1300">
              <a:solidFill>
                <a:schemeClr val="dk1"/>
              </a:solidFill>
              <a:latin typeface="Calibri"/>
              <a:ea typeface="Calibri"/>
              <a:cs typeface="Calibri"/>
              <a:sym typeface="Calibri"/>
            </a:endParaRPr>
          </a:p>
        </p:txBody>
      </p:sp>
      <p:sp>
        <p:nvSpPr>
          <p:cNvPr id="203" name="Google Shape;203;p7"/>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7"/>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205" name="Google Shape;205;p7"/>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3 / 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10" name="Shape 210"/>
        <p:cNvGrpSpPr/>
        <p:nvPr/>
      </p:nvGrpSpPr>
      <p:grpSpPr>
        <a:xfrm>
          <a:off x="0" y="0"/>
          <a:ext cx="0" cy="0"/>
          <a:chOff x="0" y="0"/>
          <a:chExt cx="0" cy="0"/>
        </a:xfrm>
      </p:grpSpPr>
      <p:sp>
        <p:nvSpPr>
          <p:cNvPr id="211" name="Google Shape;211;p8"/>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212" name="Google Shape;212;p8"/>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213" name="Google Shape;213;p8"/>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214" name="Google Shape;214;p8"/>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8"/>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216" name="Google Shape;216;p8"/>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Key Finding or Result</a:t>
            </a:r>
            <a:endParaRPr sz="2600">
              <a:solidFill>
                <a:schemeClr val="dk1"/>
              </a:solidFill>
              <a:latin typeface="Calibri"/>
              <a:ea typeface="Calibri"/>
              <a:cs typeface="Calibri"/>
              <a:sym typeface="Calibri"/>
            </a:endParaRPr>
          </a:p>
        </p:txBody>
      </p:sp>
      <p:sp>
        <p:nvSpPr>
          <p:cNvPr id="217" name="Google Shape;217;p8"/>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The single most important thing the paper found or demonstrated.</a:t>
            </a:r>
            <a:endParaRPr sz="1100">
              <a:solidFill>
                <a:schemeClr val="dk1"/>
              </a:solidFill>
              <a:latin typeface="Calibri"/>
              <a:ea typeface="Calibri"/>
              <a:cs typeface="Calibri"/>
              <a:sym typeface="Calibri"/>
            </a:endParaRPr>
          </a:p>
        </p:txBody>
      </p:sp>
      <p:sp>
        <p:nvSpPr>
          <p:cNvPr id="218" name="Google Shape;218;p8"/>
          <p:cNvSpPr/>
          <p:nvPr/>
        </p:nvSpPr>
        <p:spPr>
          <a:xfrm>
            <a:off x="365760" y="1600200"/>
            <a:ext cx="8412480" cy="1737360"/>
          </a:xfrm>
          <a:prstGeom prst="rect">
            <a:avLst/>
          </a:prstGeom>
          <a:solidFill>
            <a:srgbClr val="F7F7F7"/>
          </a:solidFill>
          <a:ln cap="flat" cmpd="sng" w="12700">
            <a:solidFill>
              <a:srgbClr val="E8E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8"/>
          <p:cNvSpPr/>
          <p:nvPr/>
        </p:nvSpPr>
        <p:spPr>
          <a:xfrm>
            <a:off x="365760" y="1600200"/>
            <a:ext cx="64008" cy="173736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8"/>
          <p:cNvSpPr/>
          <p:nvPr/>
        </p:nvSpPr>
        <p:spPr>
          <a:xfrm>
            <a:off x="594360" y="16459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102E"/>
              </a:buClr>
              <a:buSzPts val="1000"/>
              <a:buFont typeface="Calibri"/>
              <a:buNone/>
            </a:pPr>
            <a:r>
              <a:rPr b="1" lang="en-US" sz="1000">
                <a:solidFill>
                  <a:srgbClr val="C8102E"/>
                </a:solidFill>
                <a:latin typeface="Calibri"/>
                <a:ea typeface="Calibri"/>
                <a:cs typeface="Calibri"/>
                <a:sym typeface="Calibri"/>
              </a:rPr>
              <a:t>★  Main finding</a:t>
            </a:r>
            <a:endParaRPr sz="1000">
              <a:solidFill>
                <a:schemeClr val="dk1"/>
              </a:solidFill>
              <a:latin typeface="Calibri"/>
              <a:ea typeface="Calibri"/>
              <a:cs typeface="Calibri"/>
              <a:sym typeface="Calibri"/>
            </a:endParaRPr>
          </a:p>
        </p:txBody>
      </p:sp>
      <p:sp>
        <p:nvSpPr>
          <p:cNvPr id="221" name="Google Shape;221;p8"/>
          <p:cNvSpPr/>
          <p:nvPr/>
        </p:nvSpPr>
        <p:spPr>
          <a:xfrm>
            <a:off x="594360" y="1965960"/>
            <a:ext cx="804672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400"/>
              <a:buFont typeface="Calibri"/>
              <a:buNone/>
            </a:pPr>
            <a:r>
              <a:rPr i="1" lang="en-US" sz="1400">
                <a:solidFill>
                  <a:srgbClr val="1A1A1A"/>
                </a:solidFill>
                <a:latin typeface="Calibri"/>
                <a:ea typeface="Calibri"/>
                <a:cs typeface="Calibri"/>
                <a:sym typeface="Calibri"/>
              </a:rPr>
              <a:t>[Describe the key result in 2–3 sentences. Be specific — include numbers if the paper reports them.]</a:t>
            </a:r>
            <a:endParaRPr sz="1400">
              <a:solidFill>
                <a:schemeClr val="dk1"/>
              </a:solidFill>
              <a:latin typeface="Calibri"/>
              <a:ea typeface="Calibri"/>
              <a:cs typeface="Calibri"/>
              <a:sym typeface="Calibri"/>
            </a:endParaRPr>
          </a:p>
        </p:txBody>
      </p:sp>
      <p:sp>
        <p:nvSpPr>
          <p:cNvPr id="222" name="Google Shape;222;p8"/>
          <p:cNvSpPr/>
          <p:nvPr/>
        </p:nvSpPr>
        <p:spPr>
          <a:xfrm>
            <a:off x="36576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8"/>
          <p:cNvSpPr/>
          <p:nvPr/>
        </p:nvSpPr>
        <p:spPr>
          <a:xfrm>
            <a:off x="47548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1</a:t>
            </a:r>
            <a:endParaRPr sz="1000">
              <a:solidFill>
                <a:schemeClr val="dk1"/>
              </a:solidFill>
              <a:latin typeface="Calibri"/>
              <a:ea typeface="Calibri"/>
              <a:cs typeface="Calibri"/>
              <a:sym typeface="Calibri"/>
            </a:endParaRPr>
          </a:p>
        </p:txBody>
      </p:sp>
      <p:sp>
        <p:nvSpPr>
          <p:cNvPr id="224" name="Google Shape;224;p8"/>
          <p:cNvSpPr/>
          <p:nvPr/>
        </p:nvSpPr>
        <p:spPr>
          <a:xfrm>
            <a:off x="475488" y="3794760"/>
            <a:ext cx="3749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i="1" lang="en-US" sz="1200">
                <a:solidFill>
                  <a:srgbClr val="1A3A5C"/>
                </a:solidFill>
                <a:latin typeface="Calibri"/>
                <a:ea typeface="Calibri"/>
                <a:cs typeface="Calibri"/>
                <a:sym typeface="Calibri"/>
              </a:rPr>
              <a:t>[Secondary finding or supporting data point]</a:t>
            </a:r>
            <a:endParaRPr sz="1200">
              <a:solidFill>
                <a:schemeClr val="dk1"/>
              </a:solidFill>
              <a:latin typeface="Calibri"/>
              <a:ea typeface="Calibri"/>
              <a:cs typeface="Calibri"/>
              <a:sym typeface="Calibri"/>
            </a:endParaRPr>
          </a:p>
        </p:txBody>
      </p:sp>
      <p:sp>
        <p:nvSpPr>
          <p:cNvPr id="225" name="Google Shape;225;p8"/>
          <p:cNvSpPr/>
          <p:nvPr/>
        </p:nvSpPr>
        <p:spPr>
          <a:xfrm>
            <a:off x="4617720" y="3429000"/>
            <a:ext cx="4069080" cy="13716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8"/>
          <p:cNvSpPr/>
          <p:nvPr/>
        </p:nvSpPr>
        <p:spPr>
          <a:xfrm>
            <a:off x="4727448" y="34747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A5C"/>
              </a:buClr>
              <a:buSzPts val="1000"/>
              <a:buFont typeface="Calibri"/>
              <a:buNone/>
            </a:pPr>
            <a:r>
              <a:rPr b="1" lang="en-US" sz="1000">
                <a:solidFill>
                  <a:srgbClr val="1A3A5C"/>
                </a:solidFill>
                <a:latin typeface="Calibri"/>
                <a:ea typeface="Calibri"/>
                <a:cs typeface="Calibri"/>
                <a:sym typeface="Calibri"/>
              </a:rPr>
              <a:t>Supporting result 2</a:t>
            </a:r>
            <a:endParaRPr sz="1000">
              <a:solidFill>
                <a:schemeClr val="dk1"/>
              </a:solidFill>
              <a:latin typeface="Calibri"/>
              <a:ea typeface="Calibri"/>
              <a:cs typeface="Calibri"/>
              <a:sym typeface="Calibri"/>
            </a:endParaRPr>
          </a:p>
        </p:txBody>
      </p:sp>
      <p:sp>
        <p:nvSpPr>
          <p:cNvPr id="227" name="Google Shape;227;p8"/>
          <p:cNvSpPr/>
          <p:nvPr/>
        </p:nvSpPr>
        <p:spPr>
          <a:xfrm>
            <a:off x="4727448" y="3794760"/>
            <a:ext cx="3749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i="1" lang="en-US" sz="1200">
                <a:solidFill>
                  <a:srgbClr val="1A3A5C"/>
                </a:solidFill>
                <a:latin typeface="Calibri"/>
                <a:ea typeface="Calibri"/>
                <a:cs typeface="Calibri"/>
                <a:sym typeface="Calibri"/>
              </a:rPr>
              <a:t>[Another supporting finding or comparison]</a:t>
            </a:r>
            <a:endParaRPr sz="1200">
              <a:solidFill>
                <a:schemeClr val="dk1"/>
              </a:solidFill>
              <a:latin typeface="Calibri"/>
              <a:ea typeface="Calibri"/>
              <a:cs typeface="Calibri"/>
              <a:sym typeface="Calibri"/>
            </a:endParaRPr>
          </a:p>
        </p:txBody>
      </p:sp>
      <p:sp>
        <p:nvSpPr>
          <p:cNvPr id="228" name="Google Shape;228;p8"/>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8"/>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230" name="Google Shape;230;p8"/>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4 / 7</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35" name="Shape 235"/>
        <p:cNvGrpSpPr/>
        <p:nvPr/>
      </p:nvGrpSpPr>
      <p:grpSpPr>
        <a:xfrm>
          <a:off x="0" y="0"/>
          <a:ext cx="0" cy="0"/>
          <a:chOff x="0" y="0"/>
          <a:chExt cx="0" cy="0"/>
        </a:xfrm>
      </p:grpSpPr>
      <p:sp>
        <p:nvSpPr>
          <p:cNvPr id="236" name="Google Shape;236;p9"/>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237" name="Google Shape;237;p9"/>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238" name="Google Shape;238;p9"/>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100">
                <a:solidFill>
                  <a:srgbClr val="CCCCCC"/>
                </a:solidFill>
                <a:latin typeface="Calibri"/>
                <a:ea typeface="Calibri"/>
                <a:cs typeface="Calibri"/>
                <a:sym typeface="Calibri"/>
              </a:rPr>
              <a:t>blindspot · Paper Presentation</a:t>
            </a:r>
            <a:endParaRPr sz="1100">
              <a:solidFill>
                <a:schemeClr val="dk1"/>
              </a:solidFill>
              <a:latin typeface="Calibri"/>
              <a:ea typeface="Calibri"/>
              <a:cs typeface="Calibri"/>
              <a:sym typeface="Calibri"/>
            </a:endParaRPr>
          </a:p>
        </p:txBody>
      </p:sp>
      <p:sp>
        <p:nvSpPr>
          <p:cNvPr id="239" name="Google Shape;239;p9"/>
          <p:cNvSpPr/>
          <p:nvPr/>
        </p:nvSpPr>
        <p:spPr>
          <a:xfrm>
            <a:off x="365760" y="640080"/>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9"/>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241" name="Google Shape;241;p9"/>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Limitation or Open Question</a:t>
            </a:r>
            <a:endParaRPr sz="2600">
              <a:solidFill>
                <a:schemeClr val="dk1"/>
              </a:solidFill>
              <a:latin typeface="Calibri"/>
              <a:ea typeface="Calibri"/>
              <a:cs typeface="Calibri"/>
              <a:sym typeface="Calibri"/>
            </a:endParaRPr>
          </a:p>
        </p:txBody>
      </p:sp>
      <p:sp>
        <p:nvSpPr>
          <p:cNvPr id="242" name="Google Shape;242;p9"/>
          <p:cNvSpPr/>
          <p:nvPr/>
        </p:nvSpPr>
        <p:spPr>
          <a:xfrm>
            <a:off x="365760" y="1234440"/>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What does this paper leave unsolved? What are you skeptical of?</a:t>
            </a:r>
            <a:endParaRPr sz="1100">
              <a:solidFill>
                <a:schemeClr val="dk1"/>
              </a:solidFill>
              <a:latin typeface="Calibri"/>
              <a:ea typeface="Calibri"/>
              <a:cs typeface="Calibri"/>
              <a:sym typeface="Calibri"/>
            </a:endParaRPr>
          </a:p>
        </p:txBody>
      </p:sp>
      <p:sp>
        <p:nvSpPr>
          <p:cNvPr id="243" name="Google Shape;243;p9"/>
          <p:cNvSpPr/>
          <p:nvPr/>
        </p:nvSpPr>
        <p:spPr>
          <a:xfrm>
            <a:off x="365760"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9"/>
          <p:cNvSpPr/>
          <p:nvPr/>
        </p:nvSpPr>
        <p:spPr>
          <a:xfrm>
            <a:off x="365760"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it leaves unsolved</a:t>
            </a:r>
            <a:endParaRPr sz="1100">
              <a:solidFill>
                <a:schemeClr val="dk1"/>
              </a:solidFill>
              <a:latin typeface="Calibri"/>
              <a:ea typeface="Calibri"/>
              <a:cs typeface="Calibri"/>
              <a:sym typeface="Calibri"/>
            </a:endParaRPr>
          </a:p>
        </p:txBody>
      </p:sp>
      <p:sp>
        <p:nvSpPr>
          <p:cNvPr id="245" name="Google Shape;245;p9"/>
          <p:cNvSpPr/>
          <p:nvPr/>
        </p:nvSpPr>
        <p:spPr>
          <a:xfrm>
            <a:off x="365760" y="1993392"/>
            <a:ext cx="2651760" cy="1828800"/>
          </a:xfrm>
          <a:prstGeom prst="rect">
            <a:avLst/>
          </a:prstGeom>
          <a:solidFill>
            <a:srgbClr val="FFF3E0"/>
          </a:solidFill>
          <a:ln cap="flat" cmpd="sng" w="12700">
            <a:solidFill>
              <a:srgbClr val="FFCC8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9"/>
          <p:cNvSpPr/>
          <p:nvPr/>
        </p:nvSpPr>
        <p:spPr>
          <a:xfrm>
            <a:off x="457200"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C4700"/>
              </a:buClr>
              <a:buSzPts val="1200"/>
              <a:buFont typeface="Calibri"/>
              <a:buNone/>
            </a:pPr>
            <a:r>
              <a:rPr i="1" lang="en-US" sz="1200">
                <a:solidFill>
                  <a:srgbClr val="7C4700"/>
                </a:solidFill>
                <a:latin typeface="Calibri"/>
                <a:ea typeface="Calibri"/>
                <a:cs typeface="Calibri"/>
                <a:sym typeface="Calibri"/>
              </a:rPr>
              <a:t>[What gap or assumption does this paper leave unaddressed?]</a:t>
            </a:r>
            <a:endParaRPr sz="1200">
              <a:solidFill>
                <a:schemeClr val="dk1"/>
              </a:solidFill>
              <a:latin typeface="Calibri"/>
              <a:ea typeface="Calibri"/>
              <a:cs typeface="Calibri"/>
              <a:sym typeface="Calibri"/>
            </a:endParaRPr>
          </a:p>
        </p:txBody>
      </p:sp>
      <p:sp>
        <p:nvSpPr>
          <p:cNvPr id="247" name="Google Shape;247;p9"/>
          <p:cNvSpPr/>
          <p:nvPr/>
        </p:nvSpPr>
        <p:spPr>
          <a:xfrm>
            <a:off x="3172968"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9"/>
          <p:cNvSpPr/>
          <p:nvPr/>
        </p:nvSpPr>
        <p:spPr>
          <a:xfrm>
            <a:off x="3172968"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you are skeptical of</a:t>
            </a:r>
            <a:endParaRPr sz="1100">
              <a:solidFill>
                <a:schemeClr val="dk1"/>
              </a:solidFill>
              <a:latin typeface="Calibri"/>
              <a:ea typeface="Calibri"/>
              <a:cs typeface="Calibri"/>
              <a:sym typeface="Calibri"/>
            </a:endParaRPr>
          </a:p>
        </p:txBody>
      </p:sp>
      <p:sp>
        <p:nvSpPr>
          <p:cNvPr id="249" name="Google Shape;249;p9"/>
          <p:cNvSpPr/>
          <p:nvPr/>
        </p:nvSpPr>
        <p:spPr>
          <a:xfrm>
            <a:off x="3172968" y="1993392"/>
            <a:ext cx="2651760" cy="1828800"/>
          </a:xfrm>
          <a:prstGeom prst="rect">
            <a:avLst/>
          </a:prstGeom>
          <a:solidFill>
            <a:srgbClr val="FFEBEE"/>
          </a:solidFill>
          <a:ln cap="flat" cmpd="sng" w="12700">
            <a:solidFill>
              <a:srgbClr val="FFCDD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9"/>
          <p:cNvSpPr/>
          <p:nvPr/>
        </p:nvSpPr>
        <p:spPr>
          <a:xfrm>
            <a:off x="3264408"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71C1C"/>
              </a:buClr>
              <a:buSzPts val="1200"/>
              <a:buFont typeface="Calibri"/>
              <a:buNone/>
            </a:pPr>
            <a:r>
              <a:rPr i="1" lang="en-US" sz="1200">
                <a:solidFill>
                  <a:srgbClr val="B71C1C"/>
                </a:solidFill>
                <a:latin typeface="Calibri"/>
                <a:ea typeface="Calibri"/>
                <a:cs typeface="Calibri"/>
                <a:sym typeface="Calibri"/>
              </a:rPr>
              <a:t>[What claim or result would you push back on and why?]</a:t>
            </a:r>
            <a:endParaRPr sz="1200">
              <a:solidFill>
                <a:schemeClr val="dk1"/>
              </a:solidFill>
              <a:latin typeface="Calibri"/>
              <a:ea typeface="Calibri"/>
              <a:cs typeface="Calibri"/>
              <a:sym typeface="Calibri"/>
            </a:endParaRPr>
          </a:p>
        </p:txBody>
      </p:sp>
      <p:sp>
        <p:nvSpPr>
          <p:cNvPr id="251" name="Google Shape;251;p9"/>
          <p:cNvSpPr/>
          <p:nvPr/>
        </p:nvSpPr>
        <p:spPr>
          <a:xfrm>
            <a:off x="5980176" y="1645920"/>
            <a:ext cx="2651760" cy="34747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9"/>
          <p:cNvSpPr/>
          <p:nvPr/>
        </p:nvSpPr>
        <p:spPr>
          <a:xfrm>
            <a:off x="5980176" y="16459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question it raises for us</a:t>
            </a:r>
            <a:endParaRPr sz="1100">
              <a:solidFill>
                <a:schemeClr val="dk1"/>
              </a:solidFill>
              <a:latin typeface="Calibri"/>
              <a:ea typeface="Calibri"/>
              <a:cs typeface="Calibri"/>
              <a:sym typeface="Calibri"/>
            </a:endParaRPr>
          </a:p>
        </p:txBody>
      </p:sp>
      <p:sp>
        <p:nvSpPr>
          <p:cNvPr id="253" name="Google Shape;253;p9"/>
          <p:cNvSpPr/>
          <p:nvPr/>
        </p:nvSpPr>
        <p:spPr>
          <a:xfrm>
            <a:off x="5980176" y="1993392"/>
            <a:ext cx="2651760" cy="182880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9"/>
          <p:cNvSpPr/>
          <p:nvPr/>
        </p:nvSpPr>
        <p:spPr>
          <a:xfrm>
            <a:off x="6071616" y="2084832"/>
            <a:ext cx="246888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200"/>
              <a:buFont typeface="Calibri"/>
              <a:buNone/>
            </a:pPr>
            <a:r>
              <a:rPr i="1" lang="en-US" sz="1200">
                <a:solidFill>
                  <a:srgbClr val="1A3A5C"/>
                </a:solidFill>
                <a:latin typeface="Calibri"/>
                <a:ea typeface="Calibri"/>
                <a:cs typeface="Calibri"/>
                <a:sym typeface="Calibri"/>
              </a:rPr>
              <a:t>[What new question does this paper create for the blindspot project?]</a:t>
            </a:r>
            <a:endParaRPr sz="1200">
              <a:solidFill>
                <a:schemeClr val="dk1"/>
              </a:solidFill>
              <a:latin typeface="Calibri"/>
              <a:ea typeface="Calibri"/>
              <a:cs typeface="Calibri"/>
              <a:sym typeface="Calibri"/>
            </a:endParaRPr>
          </a:p>
        </p:txBody>
      </p:sp>
      <p:sp>
        <p:nvSpPr>
          <p:cNvPr id="255" name="Google Shape;255;p9"/>
          <p:cNvSpPr/>
          <p:nvPr/>
        </p:nvSpPr>
        <p:spPr>
          <a:xfrm>
            <a:off x="365760" y="3931920"/>
            <a:ext cx="8412480" cy="77724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9"/>
          <p:cNvSpPr/>
          <p:nvPr/>
        </p:nvSpPr>
        <p:spPr>
          <a:xfrm>
            <a:off x="548640" y="3931920"/>
            <a:ext cx="8046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AAAA"/>
              </a:buClr>
              <a:buSzPts val="1200"/>
              <a:buFont typeface="Calibri"/>
              <a:buNone/>
            </a:pPr>
            <a:r>
              <a:rPr i="1" lang="en-US" sz="1200">
                <a:solidFill>
                  <a:srgbClr val="AAAAAA"/>
                </a:solidFill>
                <a:latin typeface="Calibri"/>
                <a:ea typeface="Calibri"/>
                <a:cs typeface="Calibri"/>
                <a:sym typeface="Calibri"/>
              </a:rPr>
              <a:t>Critical thinking prompt: Could you replicate this paper's results? What would you need?</a:t>
            </a:r>
            <a:endParaRPr sz="1200">
              <a:solidFill>
                <a:schemeClr val="dk1"/>
              </a:solidFill>
              <a:latin typeface="Calibri"/>
              <a:ea typeface="Calibri"/>
              <a:cs typeface="Calibri"/>
              <a:sym typeface="Calibri"/>
            </a:endParaRPr>
          </a:p>
        </p:txBody>
      </p:sp>
      <p:sp>
        <p:nvSpPr>
          <p:cNvPr id="257" name="Google Shape;257;p9"/>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9"/>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259" name="Google Shape;259;p9"/>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5 / 7</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264" name="Shape 264"/>
        <p:cNvGrpSpPr/>
        <p:nvPr/>
      </p:nvGrpSpPr>
      <p:grpSpPr>
        <a:xfrm>
          <a:off x="0" y="0"/>
          <a:ext cx="0" cy="0"/>
          <a:chOff x="0" y="0"/>
          <a:chExt cx="0" cy="0"/>
        </a:xfrm>
      </p:grpSpPr>
      <p:sp>
        <p:nvSpPr>
          <p:cNvPr id="265" name="Google Shape;265;p10"/>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mplate_img1.png" id="266" name="Google Shape;266;p10"/>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267" name="Google Shape;267;p10"/>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P.R.I.M.E. · blindspot-summer-2026 · Multi-Paper Presentation</a:t>
            </a:r>
            <a:endParaRPr b="0" i="0" sz="1100" u="none" cap="none" strike="noStrike">
              <a:solidFill>
                <a:srgbClr val="000000"/>
              </a:solidFill>
              <a:latin typeface="Calibri"/>
              <a:ea typeface="Calibri"/>
              <a:cs typeface="Calibri"/>
              <a:sym typeface="Calibri"/>
            </a:endParaRPr>
          </a:p>
        </p:txBody>
      </p:sp>
      <p:sp>
        <p:nvSpPr>
          <p:cNvPr id="268" name="Google Shape;268;p10"/>
          <p:cNvSpPr/>
          <p:nvPr/>
        </p:nvSpPr>
        <p:spPr>
          <a:xfrm>
            <a:off x="365760" y="667512"/>
            <a:ext cx="457200" cy="457200"/>
          </a:xfrm>
          <a:prstGeom prst="rect">
            <a:avLst/>
          </a:prstGeom>
          <a:solidFill>
            <a:srgbClr val="7B1FA2"/>
          </a:solidFill>
          <a:ln cap="flat" cmpd="sng" w="12700">
            <a:solidFill>
              <a:srgbClr val="7B1FA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9" name="Google Shape;269;p10"/>
          <p:cNvSpPr/>
          <p:nvPr/>
        </p:nvSpPr>
        <p:spPr>
          <a:xfrm>
            <a:off x="365760" y="667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5</a:t>
            </a:r>
            <a:endParaRPr b="0" i="0" sz="1800" u="none" cap="none" strike="noStrike">
              <a:solidFill>
                <a:srgbClr val="000000"/>
              </a:solidFill>
              <a:latin typeface="Calibri"/>
              <a:ea typeface="Calibri"/>
              <a:cs typeface="Calibri"/>
              <a:sym typeface="Calibri"/>
            </a:endParaRPr>
          </a:p>
        </p:txBody>
      </p:sp>
      <p:sp>
        <p:nvSpPr>
          <p:cNvPr id="270" name="Google Shape;270;p10"/>
          <p:cNvSpPr/>
          <p:nvPr/>
        </p:nvSpPr>
        <p:spPr>
          <a:xfrm>
            <a:off x="960120" y="667512"/>
            <a:ext cx="7498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B2B"/>
              </a:buClr>
              <a:buSzPts val="2600"/>
              <a:buFont typeface="Calibri"/>
              <a:buNone/>
            </a:pPr>
            <a:r>
              <a:rPr b="1" i="0" lang="en-US" sz="2600" u="none" cap="none" strike="noStrike">
                <a:solidFill>
                  <a:srgbClr val="2B2B2B"/>
                </a:solidFill>
                <a:latin typeface="Calibri"/>
                <a:ea typeface="Calibri"/>
                <a:cs typeface="Calibri"/>
                <a:sym typeface="Calibri"/>
              </a:rPr>
              <a:t>What Connects These Papers?</a:t>
            </a:r>
            <a:endParaRPr b="0" i="0" sz="2600" u="none" cap="none" strike="noStrike">
              <a:solidFill>
                <a:srgbClr val="000000"/>
              </a:solidFill>
              <a:latin typeface="Calibri"/>
              <a:ea typeface="Calibri"/>
              <a:cs typeface="Calibri"/>
              <a:sym typeface="Calibri"/>
            </a:endParaRPr>
          </a:p>
        </p:txBody>
      </p:sp>
      <p:sp>
        <p:nvSpPr>
          <p:cNvPr id="271" name="Google Shape;271;p10"/>
          <p:cNvSpPr/>
          <p:nvPr/>
        </p:nvSpPr>
        <p:spPr>
          <a:xfrm>
            <a:off x="365760" y="1234440"/>
            <a:ext cx="8412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88888"/>
              </a:buClr>
              <a:buSzPts val="1100"/>
              <a:buFont typeface="Calibri"/>
              <a:buNone/>
            </a:pPr>
            <a:r>
              <a:rPr b="0" i="1" lang="en-US" sz="1100" u="none" cap="none" strike="noStrike">
                <a:solidFill>
                  <a:srgbClr val="888888"/>
                </a:solidFill>
                <a:latin typeface="Calibri"/>
                <a:ea typeface="Calibri"/>
                <a:cs typeface="Calibri"/>
                <a:sym typeface="Calibri"/>
              </a:rPr>
              <a:t>Look across all the papers you presented this week, what do they have in common?</a:t>
            </a:r>
            <a:endParaRPr b="0" i="0" sz="1100" u="none" cap="none" strike="noStrike">
              <a:solidFill>
                <a:srgbClr val="000000"/>
              </a:solidFill>
              <a:latin typeface="Calibri"/>
              <a:ea typeface="Calibri"/>
              <a:cs typeface="Calibri"/>
              <a:sym typeface="Calibri"/>
            </a:endParaRPr>
          </a:p>
        </p:txBody>
      </p:sp>
      <p:sp>
        <p:nvSpPr>
          <p:cNvPr id="272" name="Google Shape;272;p10"/>
          <p:cNvSpPr/>
          <p:nvPr/>
        </p:nvSpPr>
        <p:spPr>
          <a:xfrm>
            <a:off x="365760" y="1627632"/>
            <a:ext cx="4069080" cy="329184"/>
          </a:xfrm>
          <a:prstGeom prst="rect">
            <a:avLst/>
          </a:prstGeom>
          <a:solidFill>
            <a:srgbClr val="7B1FA2"/>
          </a:solidFill>
          <a:ln cap="flat" cmpd="sng" w="12700">
            <a:solidFill>
              <a:srgbClr val="7B1FA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3" name="Google Shape;273;p10"/>
          <p:cNvSpPr/>
          <p:nvPr/>
        </p:nvSpPr>
        <p:spPr>
          <a:xfrm>
            <a:off x="475488" y="1627632"/>
            <a:ext cx="38404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Theme or pattern across this week's papers</a:t>
            </a:r>
            <a:endParaRPr b="0" i="0" sz="1200" u="none" cap="none" strike="noStrike">
              <a:solidFill>
                <a:srgbClr val="000000"/>
              </a:solidFill>
              <a:latin typeface="Calibri"/>
              <a:ea typeface="Calibri"/>
              <a:cs typeface="Calibri"/>
              <a:sym typeface="Calibri"/>
            </a:endParaRPr>
          </a:p>
        </p:txBody>
      </p:sp>
      <p:sp>
        <p:nvSpPr>
          <p:cNvPr id="274" name="Google Shape;274;p10"/>
          <p:cNvSpPr/>
          <p:nvPr/>
        </p:nvSpPr>
        <p:spPr>
          <a:xfrm>
            <a:off x="365760" y="1956816"/>
            <a:ext cx="4069080" cy="2011680"/>
          </a:xfrm>
          <a:prstGeom prst="rect">
            <a:avLst/>
          </a:prstGeom>
          <a:solidFill>
            <a:srgbClr val="F3E8FF"/>
          </a:solidFill>
          <a:ln cap="flat" cmpd="sng" w="12700">
            <a:solidFill>
              <a:srgbClr val="D1A8E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5" name="Google Shape;275;p10"/>
          <p:cNvSpPr/>
          <p:nvPr/>
        </p:nvSpPr>
        <p:spPr>
          <a:xfrm>
            <a:off x="475488" y="2039112"/>
            <a:ext cx="384048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148C"/>
              </a:buClr>
              <a:buSzPts val="1100"/>
              <a:buFont typeface="Calibri"/>
              <a:buNone/>
            </a:pPr>
            <a:r>
              <a:rPr b="0" i="1" lang="en-US" sz="1100" u="none" cap="none" strike="noStrike">
                <a:solidFill>
                  <a:srgbClr val="4A148C"/>
                </a:solidFill>
                <a:latin typeface="Calibri"/>
                <a:ea typeface="Calibri"/>
                <a:cs typeface="Calibri"/>
                <a:sym typeface="Calibri"/>
              </a:rPr>
              <a:t>What idea, method, or approach shows up in more than one of the papers you read this week? Be specific — name the papers.</a:t>
            </a:r>
            <a:endParaRPr b="0" i="0" sz="1100" u="none" cap="none" strike="noStrike">
              <a:solidFill>
                <a:srgbClr val="000000"/>
              </a:solidFill>
              <a:latin typeface="Calibri"/>
              <a:ea typeface="Calibri"/>
              <a:cs typeface="Calibri"/>
              <a:sym typeface="Calibri"/>
            </a:endParaRPr>
          </a:p>
        </p:txBody>
      </p:sp>
      <p:sp>
        <p:nvSpPr>
          <p:cNvPr id="276" name="Google Shape;276;p10"/>
          <p:cNvSpPr/>
          <p:nvPr/>
        </p:nvSpPr>
        <p:spPr>
          <a:xfrm>
            <a:off x="475488" y="2862072"/>
            <a:ext cx="384048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148C"/>
              </a:buClr>
              <a:buSzPts val="1200"/>
              <a:buFont typeface="Calibri"/>
              <a:buNone/>
            </a:pPr>
            <a:r>
              <a:rPr lang="en-US" sz="1100">
                <a:latin typeface="Calibri"/>
                <a:ea typeface="Calibri"/>
                <a:cs typeface="Calibri"/>
                <a:sym typeface="Calibri"/>
              </a:rPr>
              <a:t>Both of the papers I read this week had to do with adversarial attacks on tracking systems. The </a:t>
            </a:r>
            <a:r>
              <a:rPr lang="en-US" sz="1100">
                <a:latin typeface="Calibri"/>
                <a:ea typeface="Calibri"/>
                <a:cs typeface="Calibri"/>
                <a:sym typeface="Calibri"/>
              </a:rPr>
              <a:t>Hijacking Tracker: A Powerful Adversarial Attack On Visual Tracking paper corrupted image pixels, while Robust Filtering for Multi-Object Tracking Against Stealthy Measurement-Oriented Adversarial Attacks inserted false sensor measurements. </a:t>
            </a:r>
            <a:endParaRPr i="0" sz="1100" u="none" cap="none" strike="noStrike">
              <a:latin typeface="Calibri"/>
              <a:ea typeface="Calibri"/>
              <a:cs typeface="Calibri"/>
              <a:sym typeface="Calibri"/>
            </a:endParaRPr>
          </a:p>
        </p:txBody>
      </p:sp>
      <p:sp>
        <p:nvSpPr>
          <p:cNvPr id="277" name="Google Shape;277;p10"/>
          <p:cNvSpPr/>
          <p:nvPr/>
        </p:nvSpPr>
        <p:spPr>
          <a:xfrm>
            <a:off x="4709160" y="1627632"/>
            <a:ext cx="4069080" cy="329184"/>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78" name="Google Shape;278;p10"/>
          <p:cNvSpPr/>
          <p:nvPr/>
        </p:nvSpPr>
        <p:spPr>
          <a:xfrm>
            <a:off x="4818888" y="1627632"/>
            <a:ext cx="38404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How these papers connect to ALL prior reading</a:t>
            </a:r>
            <a:endParaRPr b="0" i="0" sz="1200" u="none" cap="none" strike="noStrike">
              <a:solidFill>
                <a:srgbClr val="000000"/>
              </a:solidFill>
              <a:latin typeface="Calibri"/>
              <a:ea typeface="Calibri"/>
              <a:cs typeface="Calibri"/>
              <a:sym typeface="Calibri"/>
            </a:endParaRPr>
          </a:p>
        </p:txBody>
      </p:sp>
      <p:sp>
        <p:nvSpPr>
          <p:cNvPr id="279" name="Google Shape;279;p10"/>
          <p:cNvSpPr/>
          <p:nvPr/>
        </p:nvSpPr>
        <p:spPr>
          <a:xfrm>
            <a:off x="4709160" y="1956816"/>
            <a:ext cx="4069080" cy="201168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0" name="Google Shape;280;p10"/>
          <p:cNvSpPr/>
          <p:nvPr/>
        </p:nvSpPr>
        <p:spPr>
          <a:xfrm>
            <a:off x="4818888" y="2039112"/>
            <a:ext cx="384048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3A5C"/>
              </a:buClr>
              <a:buSzPts val="1100"/>
              <a:buFont typeface="Calibri"/>
              <a:buNone/>
            </a:pPr>
            <a:r>
              <a:rPr b="0" i="1" lang="en-US" sz="1100" u="none" cap="none" strike="noStrike">
                <a:solidFill>
                  <a:srgbClr val="1A3A5C"/>
                </a:solidFill>
                <a:latin typeface="Calibri"/>
                <a:ea typeface="Calibri"/>
                <a:cs typeface="Calibri"/>
                <a:sym typeface="Calibri"/>
              </a:rPr>
              <a:t>Do these papers agree with, contradict, or extend what you read in earlier weeks? Name specific prior papers.</a:t>
            </a:r>
            <a:endParaRPr b="0" i="0" sz="1100" u="none" cap="none" strike="noStrike">
              <a:solidFill>
                <a:srgbClr val="000000"/>
              </a:solidFill>
              <a:latin typeface="Calibri"/>
              <a:ea typeface="Calibri"/>
              <a:cs typeface="Calibri"/>
              <a:sym typeface="Calibri"/>
            </a:endParaRPr>
          </a:p>
        </p:txBody>
      </p:sp>
      <p:sp>
        <p:nvSpPr>
          <p:cNvPr id="281" name="Google Shape;281;p10"/>
          <p:cNvSpPr/>
          <p:nvPr/>
        </p:nvSpPr>
        <p:spPr>
          <a:xfrm>
            <a:off x="4818888" y="2862072"/>
            <a:ext cx="384048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3A5C"/>
              </a:buClr>
              <a:buSzPts val="1200"/>
              <a:buFont typeface="Calibri"/>
              <a:buNone/>
            </a:pPr>
            <a:r>
              <a:rPr lang="en-US" sz="1200">
                <a:solidFill>
                  <a:srgbClr val="1A3A5C"/>
                </a:solidFill>
                <a:latin typeface="Calibri"/>
                <a:ea typeface="Calibri"/>
                <a:cs typeface="Calibri"/>
                <a:sym typeface="Calibri"/>
              </a:rPr>
              <a:t>I think these papers agree with the two papers from last week in the sense that all four papers show that tracking systems are vulnerable to adversarial attacks. All four papers used a different method of creating perturbations. </a:t>
            </a:r>
            <a:endParaRPr b="0" i="0" sz="1200" u="none" cap="none" strike="noStrike">
              <a:solidFill>
                <a:srgbClr val="000000"/>
              </a:solidFill>
              <a:latin typeface="Calibri"/>
              <a:ea typeface="Calibri"/>
              <a:cs typeface="Calibri"/>
              <a:sym typeface="Calibri"/>
            </a:endParaRPr>
          </a:p>
        </p:txBody>
      </p:sp>
      <p:sp>
        <p:nvSpPr>
          <p:cNvPr id="282" name="Google Shape;282;p10"/>
          <p:cNvSpPr/>
          <p:nvPr/>
        </p:nvSpPr>
        <p:spPr>
          <a:xfrm>
            <a:off x="365760" y="4096512"/>
            <a:ext cx="8412480" cy="31089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3" name="Google Shape;283;p10"/>
          <p:cNvSpPr/>
          <p:nvPr/>
        </p:nvSpPr>
        <p:spPr>
          <a:xfrm>
            <a:off x="475488" y="4096512"/>
            <a:ext cx="819302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What is still missing across everything you have read?</a:t>
            </a:r>
            <a:endParaRPr b="0" i="0" sz="1200" u="none" cap="none" strike="noStrike">
              <a:solidFill>
                <a:srgbClr val="000000"/>
              </a:solidFill>
              <a:latin typeface="Calibri"/>
              <a:ea typeface="Calibri"/>
              <a:cs typeface="Calibri"/>
              <a:sym typeface="Calibri"/>
            </a:endParaRPr>
          </a:p>
        </p:txBody>
      </p:sp>
      <p:sp>
        <p:nvSpPr>
          <p:cNvPr id="284" name="Google Shape;284;p10"/>
          <p:cNvSpPr/>
          <p:nvPr/>
        </p:nvSpPr>
        <p:spPr>
          <a:xfrm>
            <a:off x="365760" y="4407408"/>
            <a:ext cx="8412480" cy="475488"/>
          </a:xfrm>
          <a:prstGeom prst="rect">
            <a:avLst/>
          </a:prstGeom>
          <a:solidFill>
            <a:srgbClr val="E8F5E9"/>
          </a:solidFill>
          <a:ln cap="flat" cmpd="sng" w="12700">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5" name="Google Shape;285;p10"/>
          <p:cNvSpPr/>
          <p:nvPr/>
        </p:nvSpPr>
        <p:spPr>
          <a:xfrm>
            <a:off x="475488" y="4434840"/>
            <a:ext cx="8193024"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5E20"/>
              </a:buClr>
              <a:buSzPts val="1200"/>
              <a:buFont typeface="Calibri"/>
              <a:buNone/>
            </a:pPr>
            <a:r>
              <a:rPr i="1" lang="en-US" sz="1200">
                <a:solidFill>
                  <a:srgbClr val="1B5E20"/>
                </a:solidFill>
                <a:latin typeface="Calibri"/>
                <a:ea typeface="Calibri"/>
                <a:cs typeface="Calibri"/>
                <a:sym typeface="Calibri"/>
              </a:rPr>
              <a:t>The thing that has been missing from all papers I have read so far is how adversarial perturbations can be used in multi-camera tracking systems.</a:t>
            </a:r>
            <a:endParaRPr b="0" i="0" sz="1200" u="none" cap="none" strike="noStrike">
              <a:solidFill>
                <a:srgbClr val="000000"/>
              </a:solidFill>
              <a:latin typeface="Calibri"/>
              <a:ea typeface="Calibri"/>
              <a:cs typeface="Calibri"/>
              <a:sym typeface="Calibri"/>
            </a:endParaRPr>
          </a:p>
        </p:txBody>
      </p:sp>
      <p:sp>
        <p:nvSpPr>
          <p:cNvPr id="286" name="Google Shape;286;p10"/>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87" name="Google Shape;287;p10"/>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288" name="Google Shape;288;p10"/>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 / 7</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1"/>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emplate_img1.png" id="295" name="Google Shape;295;p11"/>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296" name="Google Shape;296;p11"/>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CCCCC"/>
              </a:buClr>
              <a:buSzPts val="1100"/>
              <a:buFont typeface="Calibri"/>
              <a:buNone/>
            </a:pPr>
            <a:r>
              <a:rPr lang="en-US" sz="1100">
                <a:solidFill>
                  <a:srgbClr val="CCCCCC"/>
                </a:solidFill>
                <a:latin typeface="Calibri"/>
                <a:ea typeface="Calibri"/>
                <a:cs typeface="Calibri"/>
                <a:sym typeface="Calibri"/>
              </a:rPr>
              <a:t>P.R.I.M.E. · blindspot-summer-2026 · Paper Presentation</a:t>
            </a:r>
            <a:endParaRPr sz="1100">
              <a:solidFill>
                <a:schemeClr val="dk1"/>
              </a:solidFill>
              <a:latin typeface="Calibri"/>
              <a:ea typeface="Calibri"/>
              <a:cs typeface="Calibri"/>
              <a:sym typeface="Calibri"/>
            </a:endParaRPr>
          </a:p>
        </p:txBody>
      </p:sp>
      <p:sp>
        <p:nvSpPr>
          <p:cNvPr id="297" name="Google Shape;297;p11"/>
          <p:cNvSpPr/>
          <p:nvPr/>
        </p:nvSpPr>
        <p:spPr>
          <a:xfrm>
            <a:off x="365760" y="640080"/>
            <a:ext cx="457200" cy="45720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1"/>
          <p:cNvSpPr/>
          <p:nvPr/>
        </p:nvSpPr>
        <p:spPr>
          <a:xfrm>
            <a:off x="365760" y="6400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lang="en-US" sz="1800">
                <a:solidFill>
                  <a:srgbClr val="FFFFFF"/>
                </a:solidFill>
                <a:latin typeface="Calibri"/>
                <a:ea typeface="Calibri"/>
                <a:cs typeface="Calibri"/>
                <a:sym typeface="Calibri"/>
              </a:rPr>
              <a:t>7</a:t>
            </a:r>
            <a:endParaRPr sz="1800">
              <a:solidFill>
                <a:schemeClr val="dk1"/>
              </a:solidFill>
              <a:latin typeface="Calibri"/>
              <a:ea typeface="Calibri"/>
              <a:cs typeface="Calibri"/>
              <a:sym typeface="Calibri"/>
            </a:endParaRPr>
          </a:p>
        </p:txBody>
      </p:sp>
      <p:sp>
        <p:nvSpPr>
          <p:cNvPr id="299" name="Google Shape;299;p11"/>
          <p:cNvSpPr/>
          <p:nvPr/>
        </p:nvSpPr>
        <p:spPr>
          <a:xfrm>
            <a:off x="960120" y="64008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2600"/>
              <a:buFont typeface="Calibri"/>
              <a:buNone/>
            </a:pPr>
            <a:r>
              <a:rPr b="1" lang="en-US" sz="2600">
                <a:solidFill>
                  <a:srgbClr val="2B2B2B"/>
                </a:solidFill>
                <a:latin typeface="Calibri"/>
                <a:ea typeface="Calibri"/>
                <a:cs typeface="Calibri"/>
                <a:sym typeface="Calibri"/>
              </a:rPr>
              <a:t>Synthesis: Connecting the Papers</a:t>
            </a:r>
            <a:endParaRPr sz="2600">
              <a:solidFill>
                <a:schemeClr val="dk1"/>
              </a:solidFill>
              <a:latin typeface="Calibri"/>
              <a:ea typeface="Calibri"/>
              <a:cs typeface="Calibri"/>
              <a:sym typeface="Calibri"/>
            </a:endParaRPr>
          </a:p>
        </p:txBody>
      </p:sp>
      <p:sp>
        <p:nvSpPr>
          <p:cNvPr id="300" name="Google Shape;300;p11"/>
          <p:cNvSpPr/>
          <p:nvPr/>
        </p:nvSpPr>
        <p:spPr>
          <a:xfrm>
            <a:off x="365760" y="1234440"/>
            <a:ext cx="8412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6666"/>
              </a:buClr>
              <a:buSzPts val="1100"/>
              <a:buFont typeface="Calibri"/>
              <a:buNone/>
            </a:pPr>
            <a:r>
              <a:rPr i="1" lang="en-US" sz="1100">
                <a:solidFill>
                  <a:srgbClr val="666666"/>
                </a:solidFill>
                <a:latin typeface="Calibri"/>
                <a:ea typeface="Calibri"/>
                <a:cs typeface="Calibri"/>
                <a:sym typeface="Calibri"/>
              </a:rPr>
              <a:t>Starting from week 3, use this slide to connect ALL the papers you have read so far, not just this week's paper.</a:t>
            </a:r>
            <a:endParaRPr sz="1100">
              <a:solidFill>
                <a:schemeClr val="dk1"/>
              </a:solidFill>
              <a:latin typeface="Calibri"/>
              <a:ea typeface="Calibri"/>
              <a:cs typeface="Calibri"/>
              <a:sym typeface="Calibri"/>
            </a:endParaRPr>
          </a:p>
        </p:txBody>
      </p:sp>
      <p:sp>
        <p:nvSpPr>
          <p:cNvPr id="301" name="Google Shape;301;p11"/>
          <p:cNvSpPr/>
          <p:nvPr/>
        </p:nvSpPr>
        <p:spPr>
          <a:xfrm>
            <a:off x="365760" y="1627632"/>
            <a:ext cx="2651760" cy="384048"/>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p:nvPr/>
        </p:nvSpPr>
        <p:spPr>
          <a:xfrm>
            <a:off x="365760" y="1627632"/>
            <a:ext cx="320040" cy="384048"/>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p:nvPr/>
        </p:nvSpPr>
        <p:spPr>
          <a:xfrm>
            <a:off x="365760" y="1627632"/>
            <a:ext cx="3200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304" name="Google Shape;304;p11"/>
          <p:cNvSpPr/>
          <p:nvPr/>
        </p:nvSpPr>
        <p:spPr>
          <a:xfrm>
            <a:off x="749808" y="1627632"/>
            <a:ext cx="2212848" cy="384048"/>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What pattern connects the papers?</a:t>
            </a:r>
            <a:endParaRPr sz="1100">
              <a:solidFill>
                <a:schemeClr val="dk1"/>
              </a:solidFill>
              <a:latin typeface="Calibri"/>
              <a:ea typeface="Calibri"/>
              <a:cs typeface="Calibri"/>
              <a:sym typeface="Calibri"/>
            </a:endParaRPr>
          </a:p>
        </p:txBody>
      </p:sp>
      <p:sp>
        <p:nvSpPr>
          <p:cNvPr id="305" name="Google Shape;305;p11"/>
          <p:cNvSpPr/>
          <p:nvPr/>
        </p:nvSpPr>
        <p:spPr>
          <a:xfrm>
            <a:off x="365760" y="2011680"/>
            <a:ext cx="2651760" cy="2377440"/>
          </a:xfrm>
          <a:prstGeom prst="rect">
            <a:avLst/>
          </a:prstGeom>
          <a:solidFill>
            <a:srgbClr val="D6E4F0"/>
          </a:solidFill>
          <a:ln cap="flat" cmpd="sng" w="12700">
            <a:solidFill>
              <a:srgbClr val="BBCC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1"/>
          <p:cNvSpPr/>
          <p:nvPr/>
        </p:nvSpPr>
        <p:spPr>
          <a:xfrm>
            <a:off x="475488" y="2103120"/>
            <a:ext cx="243230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100"/>
              <a:buFont typeface="Calibri"/>
              <a:buNone/>
            </a:pPr>
            <a:r>
              <a:rPr i="1" lang="en-US" sz="1100">
                <a:solidFill>
                  <a:srgbClr val="1A3A5C"/>
                </a:solidFill>
                <a:latin typeface="Calibri"/>
                <a:ea typeface="Calibri"/>
                <a:cs typeface="Calibri"/>
                <a:sym typeface="Calibri"/>
              </a:rPr>
              <a:t>What theme, idea, or approach shows up across multiple papers you have read? Name at least two papers in your answer.</a:t>
            </a:r>
            <a:endParaRPr sz="1100">
              <a:solidFill>
                <a:schemeClr val="dk1"/>
              </a:solidFill>
              <a:latin typeface="Calibri"/>
              <a:ea typeface="Calibri"/>
              <a:cs typeface="Calibri"/>
              <a:sym typeface="Calibri"/>
            </a:endParaRPr>
          </a:p>
        </p:txBody>
      </p:sp>
      <p:sp>
        <p:nvSpPr>
          <p:cNvPr id="307" name="Google Shape;307;p11"/>
          <p:cNvSpPr/>
          <p:nvPr/>
        </p:nvSpPr>
        <p:spPr>
          <a:xfrm>
            <a:off x="475488" y="3044952"/>
            <a:ext cx="2432304"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3A5C"/>
              </a:buClr>
              <a:buSzPts val="1100"/>
              <a:buFont typeface="Calibri"/>
              <a:buNone/>
            </a:pPr>
            <a:r>
              <a:rPr lang="en-US" sz="1100">
                <a:solidFill>
                  <a:schemeClr val="dk1"/>
                </a:solidFill>
                <a:latin typeface="Calibri"/>
                <a:ea typeface="Calibri"/>
                <a:cs typeface="Calibri"/>
                <a:sym typeface="Calibri"/>
              </a:rPr>
              <a:t>All five papers that I have read so far all talk about some form of data poisoning and different methods of attacks. </a:t>
            </a:r>
            <a:endParaRPr sz="1100">
              <a:solidFill>
                <a:schemeClr val="dk1"/>
              </a:solidFill>
              <a:latin typeface="Calibri"/>
              <a:ea typeface="Calibri"/>
              <a:cs typeface="Calibri"/>
              <a:sym typeface="Calibri"/>
            </a:endParaRPr>
          </a:p>
        </p:txBody>
      </p:sp>
      <p:sp>
        <p:nvSpPr>
          <p:cNvPr id="308" name="Google Shape;308;p11"/>
          <p:cNvSpPr/>
          <p:nvPr/>
        </p:nvSpPr>
        <p:spPr>
          <a:xfrm>
            <a:off x="3172968" y="1627632"/>
            <a:ext cx="2651760" cy="384048"/>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1"/>
          <p:cNvSpPr/>
          <p:nvPr/>
        </p:nvSpPr>
        <p:spPr>
          <a:xfrm>
            <a:off x="3172968" y="1627632"/>
            <a:ext cx="320040" cy="384048"/>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11"/>
          <p:cNvSpPr/>
          <p:nvPr/>
        </p:nvSpPr>
        <p:spPr>
          <a:xfrm>
            <a:off x="3172968" y="1627632"/>
            <a:ext cx="3200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311" name="Google Shape;311;p11"/>
          <p:cNvSpPr/>
          <p:nvPr/>
        </p:nvSpPr>
        <p:spPr>
          <a:xfrm>
            <a:off x="3557016" y="1627632"/>
            <a:ext cx="2212848" cy="384048"/>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Where is the gap?</a:t>
            </a:r>
            <a:endParaRPr sz="1100">
              <a:solidFill>
                <a:schemeClr val="dk1"/>
              </a:solidFill>
              <a:latin typeface="Calibri"/>
              <a:ea typeface="Calibri"/>
              <a:cs typeface="Calibri"/>
              <a:sym typeface="Calibri"/>
            </a:endParaRPr>
          </a:p>
        </p:txBody>
      </p:sp>
      <p:sp>
        <p:nvSpPr>
          <p:cNvPr id="312" name="Google Shape;312;p11"/>
          <p:cNvSpPr/>
          <p:nvPr/>
        </p:nvSpPr>
        <p:spPr>
          <a:xfrm>
            <a:off x="3172968" y="2011680"/>
            <a:ext cx="2651760" cy="2377440"/>
          </a:xfrm>
          <a:prstGeom prst="rect">
            <a:avLst/>
          </a:prstGeom>
          <a:solidFill>
            <a:srgbClr val="FFF8E1"/>
          </a:solidFill>
          <a:ln cap="flat" cmpd="sng" w="12700">
            <a:solidFill>
              <a:srgbClr val="FFD54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11"/>
          <p:cNvSpPr/>
          <p:nvPr/>
        </p:nvSpPr>
        <p:spPr>
          <a:xfrm>
            <a:off x="3282696" y="2103120"/>
            <a:ext cx="243230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4037"/>
              </a:buClr>
              <a:buSzPts val="1100"/>
              <a:buFont typeface="Calibri"/>
              <a:buNone/>
            </a:pPr>
            <a:r>
              <a:rPr i="1" lang="en-US" sz="1100">
                <a:solidFill>
                  <a:srgbClr val="5D4037"/>
                </a:solidFill>
                <a:latin typeface="Calibri"/>
                <a:ea typeface="Calibri"/>
                <a:cs typeface="Calibri"/>
                <a:sym typeface="Calibri"/>
              </a:rPr>
              <a:t>What has NOT been done yet across all the papers you have read? How does PHANTOM fill that gap?</a:t>
            </a:r>
            <a:endParaRPr sz="1100">
              <a:solidFill>
                <a:schemeClr val="dk1"/>
              </a:solidFill>
              <a:latin typeface="Calibri"/>
              <a:ea typeface="Calibri"/>
              <a:cs typeface="Calibri"/>
              <a:sym typeface="Calibri"/>
            </a:endParaRPr>
          </a:p>
        </p:txBody>
      </p:sp>
      <p:sp>
        <p:nvSpPr>
          <p:cNvPr id="314" name="Google Shape;314;p11"/>
          <p:cNvSpPr/>
          <p:nvPr/>
        </p:nvSpPr>
        <p:spPr>
          <a:xfrm>
            <a:off x="3282696" y="3044952"/>
            <a:ext cx="2432304"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D4037"/>
              </a:buClr>
              <a:buSzPts val="1100"/>
              <a:buFont typeface="Calibri"/>
              <a:buNone/>
            </a:pPr>
            <a:r>
              <a:rPr lang="en-US" sz="1100">
                <a:solidFill>
                  <a:srgbClr val="5D4037"/>
                </a:solidFill>
                <a:latin typeface="Calibri"/>
                <a:ea typeface="Calibri"/>
                <a:cs typeface="Calibri"/>
                <a:sym typeface="Calibri"/>
              </a:rPr>
              <a:t>So far all five papers I have read have not touched on adversarial perturbations in multi camera tracking systems. </a:t>
            </a:r>
            <a:endParaRPr sz="1100">
              <a:solidFill>
                <a:schemeClr val="dk1"/>
              </a:solidFill>
              <a:latin typeface="Calibri"/>
              <a:ea typeface="Calibri"/>
              <a:cs typeface="Calibri"/>
              <a:sym typeface="Calibri"/>
            </a:endParaRPr>
          </a:p>
        </p:txBody>
      </p:sp>
      <p:sp>
        <p:nvSpPr>
          <p:cNvPr id="315" name="Google Shape;315;p11"/>
          <p:cNvSpPr/>
          <p:nvPr/>
        </p:nvSpPr>
        <p:spPr>
          <a:xfrm>
            <a:off x="5980176" y="1627632"/>
            <a:ext cx="2651760" cy="384048"/>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1"/>
          <p:cNvSpPr/>
          <p:nvPr/>
        </p:nvSpPr>
        <p:spPr>
          <a:xfrm>
            <a:off x="5980176" y="1627632"/>
            <a:ext cx="320040" cy="384048"/>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1"/>
          <p:cNvSpPr/>
          <p:nvPr/>
        </p:nvSpPr>
        <p:spPr>
          <a:xfrm>
            <a:off x="5980176" y="1627632"/>
            <a:ext cx="3200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lang="en-US" sz="1600">
                <a:solidFill>
                  <a:srgbClr val="FFFFFF"/>
                </a:solidFill>
                <a:latin typeface="Calibri"/>
                <a:ea typeface="Calibri"/>
                <a:cs typeface="Calibri"/>
                <a:sym typeface="Calibri"/>
              </a:rPr>
              <a:t>3</a:t>
            </a:r>
            <a:endParaRPr sz="1600">
              <a:solidFill>
                <a:schemeClr val="dk1"/>
              </a:solidFill>
              <a:latin typeface="Calibri"/>
              <a:ea typeface="Calibri"/>
              <a:cs typeface="Calibri"/>
              <a:sym typeface="Calibri"/>
            </a:endParaRPr>
          </a:p>
        </p:txBody>
      </p:sp>
      <p:sp>
        <p:nvSpPr>
          <p:cNvPr id="318" name="Google Shape;318;p11"/>
          <p:cNvSpPr/>
          <p:nvPr/>
        </p:nvSpPr>
        <p:spPr>
          <a:xfrm>
            <a:off x="6364224" y="1627632"/>
            <a:ext cx="2212848" cy="384048"/>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Which paper surprised you most and why?</a:t>
            </a:r>
            <a:endParaRPr sz="1100">
              <a:solidFill>
                <a:schemeClr val="dk1"/>
              </a:solidFill>
              <a:latin typeface="Calibri"/>
              <a:ea typeface="Calibri"/>
              <a:cs typeface="Calibri"/>
              <a:sym typeface="Calibri"/>
            </a:endParaRPr>
          </a:p>
        </p:txBody>
      </p:sp>
      <p:sp>
        <p:nvSpPr>
          <p:cNvPr id="319" name="Google Shape;319;p11"/>
          <p:cNvSpPr/>
          <p:nvPr/>
        </p:nvSpPr>
        <p:spPr>
          <a:xfrm>
            <a:off x="5980176" y="2011680"/>
            <a:ext cx="2651760" cy="2377440"/>
          </a:xfrm>
          <a:prstGeom prst="rect">
            <a:avLst/>
          </a:prstGeom>
          <a:solidFill>
            <a:srgbClr val="E8F5E9"/>
          </a:solidFill>
          <a:ln cap="flat" cmpd="sng" w="12700">
            <a:solidFill>
              <a:srgbClr val="A5D6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1"/>
          <p:cNvSpPr/>
          <p:nvPr/>
        </p:nvSpPr>
        <p:spPr>
          <a:xfrm>
            <a:off x="6089904" y="2103120"/>
            <a:ext cx="243230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100"/>
              <a:buFont typeface="Calibri"/>
              <a:buNone/>
            </a:pPr>
            <a:r>
              <a:rPr i="1" lang="en-US" sz="1100">
                <a:solidFill>
                  <a:srgbClr val="1B5E20"/>
                </a:solidFill>
                <a:latin typeface="Calibri"/>
                <a:ea typeface="Calibri"/>
                <a:cs typeface="Calibri"/>
                <a:sym typeface="Calibri"/>
              </a:rPr>
              <a:t>Pick one paper from any week. What did it say that you did not expect — and did it change how you think about the project?</a:t>
            </a:r>
            <a:endParaRPr sz="1100">
              <a:solidFill>
                <a:schemeClr val="dk1"/>
              </a:solidFill>
              <a:latin typeface="Calibri"/>
              <a:ea typeface="Calibri"/>
              <a:cs typeface="Calibri"/>
              <a:sym typeface="Calibri"/>
            </a:endParaRPr>
          </a:p>
        </p:txBody>
      </p:sp>
      <p:sp>
        <p:nvSpPr>
          <p:cNvPr id="321" name="Google Shape;321;p11"/>
          <p:cNvSpPr/>
          <p:nvPr/>
        </p:nvSpPr>
        <p:spPr>
          <a:xfrm>
            <a:off x="6089904" y="3044952"/>
            <a:ext cx="2432304"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100"/>
              <a:buFont typeface="Calibri"/>
              <a:buNone/>
            </a:pPr>
            <a:r>
              <a:rPr lang="en-US" sz="1100">
                <a:solidFill>
                  <a:srgbClr val="1B5E20"/>
                </a:solidFill>
                <a:latin typeface="Calibri"/>
                <a:ea typeface="Calibri"/>
                <a:cs typeface="Calibri"/>
                <a:sym typeface="Calibri"/>
              </a:rPr>
              <a:t>The first paper Wild Patterns Reloaded: A Survey of Machine Learning Security against Training Data Poisoning  was the paper that has changed how I think </a:t>
            </a:r>
            <a:r>
              <a:rPr lang="en-US" sz="1100">
                <a:solidFill>
                  <a:srgbClr val="1B5E20"/>
                </a:solidFill>
                <a:latin typeface="Calibri"/>
                <a:ea typeface="Calibri"/>
                <a:cs typeface="Calibri"/>
                <a:sym typeface="Calibri"/>
              </a:rPr>
              <a:t>about</a:t>
            </a:r>
            <a:r>
              <a:rPr lang="en-US" sz="1100">
                <a:solidFill>
                  <a:srgbClr val="1B5E20"/>
                </a:solidFill>
                <a:latin typeface="Calibri"/>
                <a:ea typeface="Calibri"/>
                <a:cs typeface="Calibri"/>
                <a:sym typeface="Calibri"/>
              </a:rPr>
              <a:t> the project. It gave me a better understanding of the different types of attacks and potential defenses. </a:t>
            </a:r>
            <a:endParaRPr sz="1100">
              <a:solidFill>
                <a:schemeClr val="dk1"/>
              </a:solidFill>
              <a:latin typeface="Calibri"/>
              <a:ea typeface="Calibri"/>
              <a:cs typeface="Calibri"/>
              <a:sym typeface="Calibri"/>
            </a:endParaRPr>
          </a:p>
        </p:txBody>
      </p:sp>
      <p:sp>
        <p:nvSpPr>
          <p:cNvPr id="322" name="Google Shape;322;p11"/>
          <p:cNvSpPr/>
          <p:nvPr/>
        </p:nvSpPr>
        <p:spPr>
          <a:xfrm>
            <a:off x="365760" y="5852160"/>
            <a:ext cx="8412480" cy="530352"/>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1"/>
          <p:cNvSpPr/>
          <p:nvPr/>
        </p:nvSpPr>
        <p:spPr>
          <a:xfrm>
            <a:off x="548640" y="5852160"/>
            <a:ext cx="80467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This slide is pre-writing your Week 8 literature review. The patterns you identify here become the themes that organize the paper.</a:t>
            </a:r>
            <a:endParaRPr sz="1200">
              <a:solidFill>
                <a:schemeClr val="dk1"/>
              </a:solidFill>
              <a:latin typeface="Calibri"/>
              <a:ea typeface="Calibri"/>
              <a:cs typeface="Calibri"/>
              <a:sym typeface="Calibri"/>
            </a:endParaRPr>
          </a:p>
        </p:txBody>
      </p:sp>
      <p:sp>
        <p:nvSpPr>
          <p:cNvPr id="324" name="Google Shape;324;p11"/>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1"/>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P.R.I.M.E. Research Experience  ·  blindspot-summer-2026  ·  APSU CSIT</a:t>
            </a:r>
            <a:endParaRPr sz="900">
              <a:solidFill>
                <a:schemeClr val="dk1"/>
              </a:solidFill>
              <a:latin typeface="Calibri"/>
              <a:ea typeface="Calibri"/>
              <a:cs typeface="Calibri"/>
              <a:sym typeface="Calibri"/>
            </a:endParaRPr>
          </a:p>
        </p:txBody>
      </p:sp>
      <p:sp>
        <p:nvSpPr>
          <p:cNvPr id="326" name="Google Shape;326;p11"/>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6/ 7</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2B2B"/>
        </a:solidFill>
      </p:bgPr>
    </p:bg>
    <p:spTree>
      <p:nvGrpSpPr>
        <p:cNvPr id="331" name="Shape 331"/>
        <p:cNvGrpSpPr/>
        <p:nvPr/>
      </p:nvGrpSpPr>
      <p:grpSpPr>
        <a:xfrm>
          <a:off x="0" y="0"/>
          <a:ext cx="0" cy="0"/>
          <a:chOff x="0" y="0"/>
          <a:chExt cx="0" cy="0"/>
        </a:xfrm>
      </p:grpSpPr>
      <p:sp>
        <p:nvSpPr>
          <p:cNvPr id="332" name="Google Shape;332;p12"/>
          <p:cNvSpPr/>
          <p:nvPr/>
        </p:nvSpPr>
        <p:spPr>
          <a:xfrm>
            <a:off x="0" y="0"/>
            <a:ext cx="9144000" cy="502920"/>
          </a:xfrm>
          <a:prstGeom prst="rect">
            <a:avLst/>
          </a:prstGeom>
          <a:solidFill>
            <a:srgbClr val="2B2B2B"/>
          </a:solidFill>
          <a:ln cap="flat" cmpd="sng" w="12700">
            <a:solidFill>
              <a:srgbClr val="2B2B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descr="template_img1.png" id="333" name="Google Shape;333;p12"/>
          <p:cNvPicPr preferRelativeResize="0"/>
          <p:nvPr/>
        </p:nvPicPr>
        <p:blipFill rotWithShape="1">
          <a:blip r:embed="rId3">
            <a:alphaModFix/>
          </a:blip>
          <a:srcRect b="0" l="0" r="0" t="0"/>
          <a:stretch/>
        </p:blipFill>
        <p:spPr>
          <a:xfrm>
            <a:off x="6583680" y="0"/>
            <a:ext cx="2560320" cy="502920"/>
          </a:xfrm>
          <a:prstGeom prst="rect">
            <a:avLst/>
          </a:prstGeom>
          <a:noFill/>
          <a:ln>
            <a:noFill/>
          </a:ln>
        </p:spPr>
      </p:pic>
      <p:sp>
        <p:nvSpPr>
          <p:cNvPr id="334" name="Google Shape;334;p12"/>
          <p:cNvSpPr/>
          <p:nvPr/>
        </p:nvSpPr>
        <p:spPr>
          <a:xfrm>
            <a:off x="365760" y="0"/>
            <a:ext cx="62179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100"/>
              <a:buFont typeface="Calibri"/>
              <a:buNone/>
            </a:pPr>
            <a:r>
              <a:rPr b="0" i="0" lang="en-US" sz="1100" u="none" cap="none" strike="noStrike">
                <a:solidFill>
                  <a:srgbClr val="CCCCCC"/>
                </a:solidFill>
                <a:latin typeface="Calibri"/>
                <a:ea typeface="Calibri"/>
                <a:cs typeface="Calibri"/>
                <a:sym typeface="Calibri"/>
              </a:rPr>
              <a:t>P.R.I.M.E. · blindspot-summer-2026 · Multi-Paper Presentation</a:t>
            </a:r>
            <a:endParaRPr b="0" i="0" sz="1100" u="none" cap="none" strike="noStrike">
              <a:solidFill>
                <a:srgbClr val="000000"/>
              </a:solidFill>
              <a:latin typeface="Calibri"/>
              <a:ea typeface="Calibri"/>
              <a:cs typeface="Calibri"/>
              <a:sym typeface="Calibri"/>
            </a:endParaRPr>
          </a:p>
        </p:txBody>
      </p:sp>
      <p:sp>
        <p:nvSpPr>
          <p:cNvPr id="335" name="Google Shape;335;p12"/>
          <p:cNvSpPr/>
          <p:nvPr/>
        </p:nvSpPr>
        <p:spPr>
          <a:xfrm>
            <a:off x="365760" y="667512"/>
            <a:ext cx="457200" cy="45720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36" name="Google Shape;336;p12"/>
          <p:cNvSpPr/>
          <p:nvPr/>
        </p:nvSpPr>
        <p:spPr>
          <a:xfrm>
            <a:off x="365760" y="667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7</a:t>
            </a:r>
            <a:endParaRPr b="0" i="0" sz="1800" u="none" cap="none" strike="noStrike">
              <a:solidFill>
                <a:srgbClr val="000000"/>
              </a:solidFill>
              <a:latin typeface="Calibri"/>
              <a:ea typeface="Calibri"/>
              <a:cs typeface="Calibri"/>
              <a:sym typeface="Calibri"/>
            </a:endParaRPr>
          </a:p>
        </p:txBody>
      </p:sp>
      <p:sp>
        <p:nvSpPr>
          <p:cNvPr id="337" name="Google Shape;337;p12"/>
          <p:cNvSpPr/>
          <p:nvPr/>
        </p:nvSpPr>
        <p:spPr>
          <a:xfrm>
            <a:off x="960120" y="667512"/>
            <a:ext cx="74980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One Question for the Group</a:t>
            </a:r>
            <a:endParaRPr b="0" i="0" sz="2600" u="none" cap="none" strike="noStrike">
              <a:solidFill>
                <a:srgbClr val="000000"/>
              </a:solidFill>
              <a:latin typeface="Calibri"/>
              <a:ea typeface="Calibri"/>
              <a:cs typeface="Calibri"/>
              <a:sym typeface="Calibri"/>
            </a:endParaRPr>
          </a:p>
        </p:txBody>
      </p:sp>
      <p:sp>
        <p:nvSpPr>
          <p:cNvPr id="338" name="Google Shape;338;p12"/>
          <p:cNvSpPr/>
          <p:nvPr/>
        </p:nvSpPr>
        <p:spPr>
          <a:xfrm>
            <a:off x="365760" y="1261872"/>
            <a:ext cx="84124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AAAAA"/>
              </a:buClr>
              <a:buSzPts val="1100"/>
              <a:buFont typeface="Calibri"/>
              <a:buNone/>
            </a:pPr>
            <a:r>
              <a:rPr b="0" i="1" lang="en-US" sz="1100" u="none" cap="none" strike="noStrike">
                <a:solidFill>
                  <a:srgbClr val="AAAAAA"/>
                </a:solidFill>
                <a:latin typeface="Calibri"/>
                <a:ea typeface="Calibri"/>
                <a:cs typeface="Calibri"/>
                <a:sym typeface="Calibri"/>
              </a:rPr>
              <a:t>End every presentation with one open question. It should come from the gap you identified, something the group can actually discuss.</a:t>
            </a:r>
            <a:endParaRPr b="0" i="0" sz="1100" u="none" cap="none" strike="noStrike">
              <a:solidFill>
                <a:srgbClr val="000000"/>
              </a:solidFill>
              <a:latin typeface="Calibri"/>
              <a:ea typeface="Calibri"/>
              <a:cs typeface="Calibri"/>
              <a:sym typeface="Calibri"/>
            </a:endParaRPr>
          </a:p>
        </p:txBody>
      </p:sp>
      <p:sp>
        <p:nvSpPr>
          <p:cNvPr id="339" name="Google Shape;339;p12"/>
          <p:cNvSpPr/>
          <p:nvPr/>
        </p:nvSpPr>
        <p:spPr>
          <a:xfrm>
            <a:off x="365760" y="1719072"/>
            <a:ext cx="8412480" cy="2377440"/>
          </a:xfrm>
          <a:prstGeom prst="rect">
            <a:avLst/>
          </a:prstGeom>
          <a:solidFill>
            <a:srgbClr val="FFFFFF">
              <a:alpha val="7843"/>
            </a:srgbClr>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0" name="Google Shape;340;p12"/>
          <p:cNvSpPr/>
          <p:nvPr/>
        </p:nvSpPr>
        <p:spPr>
          <a:xfrm>
            <a:off x="365760" y="1719072"/>
            <a:ext cx="64008" cy="2377440"/>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1" name="Google Shape;341;p12"/>
          <p:cNvSpPr/>
          <p:nvPr/>
        </p:nvSpPr>
        <p:spPr>
          <a:xfrm>
            <a:off x="594360" y="18105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8102E"/>
              </a:buClr>
              <a:buSzPts val="2200"/>
              <a:buFont typeface="Calibri"/>
              <a:buNone/>
            </a:pPr>
            <a:r>
              <a:rPr b="0" i="0" lang="en-US" sz="2200" u="none" cap="none" strike="noStrike">
                <a:solidFill>
                  <a:srgbClr val="C8102E"/>
                </a:solidFill>
                <a:latin typeface="Calibri"/>
                <a:ea typeface="Calibri"/>
                <a:cs typeface="Calibri"/>
                <a:sym typeface="Calibri"/>
              </a:rPr>
              <a:t>❓</a:t>
            </a:r>
            <a:endParaRPr b="0" i="0" sz="2200" u="none" cap="none" strike="noStrike">
              <a:solidFill>
                <a:srgbClr val="000000"/>
              </a:solidFill>
              <a:latin typeface="Calibri"/>
              <a:ea typeface="Calibri"/>
              <a:cs typeface="Calibri"/>
              <a:sym typeface="Calibri"/>
            </a:endParaRPr>
          </a:p>
        </p:txBody>
      </p:sp>
      <p:sp>
        <p:nvSpPr>
          <p:cNvPr id="342" name="Google Shape;342;p12"/>
          <p:cNvSpPr/>
          <p:nvPr/>
        </p:nvSpPr>
        <p:spPr>
          <a:xfrm>
            <a:off x="1188720" y="1810512"/>
            <a:ext cx="7406640" cy="2194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Georgia"/>
              <a:buNone/>
            </a:pPr>
            <a:r>
              <a:rPr i="1" lang="en-US" sz="2000">
                <a:solidFill>
                  <a:srgbClr val="FFFFFF"/>
                </a:solidFill>
                <a:latin typeface="Georgia"/>
                <a:ea typeface="Georgia"/>
                <a:cs typeface="Georgia"/>
                <a:sym typeface="Georgia"/>
              </a:rPr>
              <a:t>Can a tracking system detect and localize compromised cameras when the attack occurs in the appearance embedding space rather than through sensor measurements or image pixels?</a:t>
            </a:r>
            <a:endParaRPr b="0" i="0" sz="2000" u="none" cap="none" strike="noStrike">
              <a:solidFill>
                <a:srgbClr val="000000"/>
              </a:solidFill>
              <a:latin typeface="Calibri"/>
              <a:ea typeface="Calibri"/>
              <a:cs typeface="Calibri"/>
              <a:sym typeface="Calibri"/>
            </a:endParaRPr>
          </a:p>
        </p:txBody>
      </p:sp>
      <p:sp>
        <p:nvSpPr>
          <p:cNvPr id="343" name="Google Shape;343;p12"/>
          <p:cNvSpPr/>
          <p:nvPr/>
        </p:nvSpPr>
        <p:spPr>
          <a:xfrm>
            <a:off x="365760" y="4279392"/>
            <a:ext cx="8412480" cy="822960"/>
          </a:xfrm>
          <a:prstGeom prst="rect">
            <a:avLst/>
          </a:prstGeom>
          <a:solidFill>
            <a:srgbClr val="FFFFFF">
              <a:alpha val="5882"/>
            </a:srgbClr>
          </a:solidFill>
          <a:ln cap="flat" cmpd="sng" w="12700">
            <a:solidFill>
              <a:srgbClr val="44444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4" name="Google Shape;344;p12"/>
          <p:cNvSpPr/>
          <p:nvPr/>
        </p:nvSpPr>
        <p:spPr>
          <a:xfrm>
            <a:off x="548640" y="4306824"/>
            <a:ext cx="80467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CCCCC"/>
              </a:buClr>
              <a:buSzPts val="1200"/>
              <a:buFont typeface="Calibri"/>
              <a:buNone/>
            </a:pPr>
            <a:r>
              <a:rPr b="0" i="1" lang="en-US" sz="1200" u="none" cap="none" strike="noStrike">
                <a:solidFill>
                  <a:srgbClr val="CCCCCC"/>
                </a:solidFill>
                <a:latin typeface="Calibri"/>
                <a:ea typeface="Calibri"/>
                <a:cs typeface="Calibri"/>
                <a:sym typeface="Calibri"/>
              </a:rPr>
              <a:t>A good question is one you genuinely do not know the answer to. It should make the group think, not just recap what the papers said.</a:t>
            </a:r>
            <a:endParaRPr b="0" i="0" sz="1200" u="none" cap="none" strike="noStrike">
              <a:solidFill>
                <a:srgbClr val="000000"/>
              </a:solidFill>
              <a:latin typeface="Calibri"/>
              <a:ea typeface="Calibri"/>
              <a:cs typeface="Calibri"/>
              <a:sym typeface="Calibri"/>
            </a:endParaRPr>
          </a:p>
        </p:txBody>
      </p:sp>
      <p:sp>
        <p:nvSpPr>
          <p:cNvPr id="345" name="Google Shape;345;p12"/>
          <p:cNvSpPr/>
          <p:nvPr/>
        </p:nvSpPr>
        <p:spPr>
          <a:xfrm>
            <a:off x="0" y="6510528"/>
            <a:ext cx="9144000" cy="347472"/>
          </a:xfrm>
          <a:prstGeom prst="rect">
            <a:avLst/>
          </a:prstGeom>
          <a:solidFill>
            <a:srgbClr val="C8102E"/>
          </a:solidFill>
          <a:ln cap="flat" cmpd="sng" w="12700">
            <a:solidFill>
              <a:srgbClr val="C810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46" name="Google Shape;346;p12"/>
          <p:cNvSpPr/>
          <p:nvPr/>
        </p:nvSpPr>
        <p:spPr>
          <a:xfrm>
            <a:off x="365760" y="6510528"/>
            <a:ext cx="7772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P.R.I.M.E. Research Experience  ·  blindspot-summer-2026  ·  APSU CSIT</a:t>
            </a:r>
            <a:endParaRPr b="0" i="0" sz="900" u="none" cap="none" strike="noStrike">
              <a:solidFill>
                <a:srgbClr val="000000"/>
              </a:solidFill>
              <a:latin typeface="Calibri"/>
              <a:ea typeface="Calibri"/>
              <a:cs typeface="Calibri"/>
              <a:sym typeface="Calibri"/>
            </a:endParaRPr>
          </a:p>
        </p:txBody>
      </p:sp>
      <p:sp>
        <p:nvSpPr>
          <p:cNvPr id="347" name="Google Shape;347;p12"/>
          <p:cNvSpPr/>
          <p:nvPr/>
        </p:nvSpPr>
        <p:spPr>
          <a:xfrm>
            <a:off x="8412480" y="6510528"/>
            <a:ext cx="548640" cy="34747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 / 7</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2026-05-19T13:44:10Z</dcterms:created>
  <dc:creator>PptxGenJS</dc:creator>
</cp:coreProperties>
</file>