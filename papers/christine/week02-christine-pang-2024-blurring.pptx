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insHTH2HktFPaA0LrCa8ohu7aV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 name="Google Shape;3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2" name="Google Shape;8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9" name="Google Shape;10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8" name="Google Shape;13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B2B"/>
        </a:solidFill>
      </p:bgPr>
    </p:bg>
    <p:spTree>
      <p:nvGrpSpPr>
        <p:cNvPr id="11" name="Shape 11"/>
        <p:cNvGrpSpPr/>
        <p:nvPr/>
      </p:nvGrpSpPr>
      <p:grpSpPr>
        <a:xfrm>
          <a:off x="0" y="0"/>
          <a:ext cx="0" cy="0"/>
          <a:chOff x="0" y="0"/>
          <a:chExt cx="0" cy="0"/>
        </a:xfrm>
      </p:grpSpPr>
      <p:pic>
        <p:nvPicPr>
          <p:cNvPr descr="template_img1.png" id="12" name="Google Shape;12;p1"/>
          <p:cNvPicPr preferRelativeResize="0"/>
          <p:nvPr/>
        </p:nvPicPr>
        <p:blipFill rotWithShape="1">
          <a:blip r:embed="rId3">
            <a:alphaModFix/>
          </a:blip>
          <a:srcRect b="0" l="0" r="0" t="0"/>
          <a:stretch/>
        </p:blipFill>
        <p:spPr>
          <a:xfrm>
            <a:off x="6217920" y="182880"/>
            <a:ext cx="2743200" cy="502920"/>
          </a:xfrm>
          <a:prstGeom prst="rect">
            <a:avLst/>
          </a:prstGeom>
          <a:noFill/>
          <a:ln>
            <a:noFill/>
          </a:ln>
        </p:spPr>
      </p:pic>
      <p:sp>
        <p:nvSpPr>
          <p:cNvPr id="13" name="Google Shape;13;p1"/>
          <p:cNvSpPr/>
          <p:nvPr/>
        </p:nvSpPr>
        <p:spPr>
          <a:xfrm>
            <a:off x="365760" y="82296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Georgia"/>
              <a:buNone/>
            </a:pPr>
            <a:r>
              <a:rPr b="1" i="0" lang="en-US" sz="5400" u="none" cap="none" strike="noStrike">
                <a:solidFill>
                  <a:srgbClr val="FFFFFF"/>
                </a:solidFill>
                <a:latin typeface="Georgia"/>
                <a:ea typeface="Georgia"/>
                <a:cs typeface="Georgia"/>
                <a:sym typeface="Georgia"/>
              </a:rPr>
              <a:t>blindspot</a:t>
            </a:r>
            <a:endParaRPr b="0" i="0" sz="5400" u="none" cap="none" strike="noStrike">
              <a:solidFill>
                <a:schemeClr val="dk1"/>
              </a:solidFill>
              <a:latin typeface="Calibri"/>
              <a:ea typeface="Calibri"/>
              <a:cs typeface="Calibri"/>
              <a:sym typeface="Calibri"/>
            </a:endParaRPr>
          </a:p>
        </p:txBody>
      </p:sp>
      <p:sp>
        <p:nvSpPr>
          <p:cNvPr id="14" name="Google Shape;14;p1"/>
          <p:cNvSpPr/>
          <p:nvPr/>
        </p:nvSpPr>
        <p:spPr>
          <a:xfrm>
            <a:off x="365760" y="1874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400"/>
              <a:buFont typeface="Calibri"/>
              <a:buNone/>
            </a:pPr>
            <a:r>
              <a:rPr b="0" i="1" lang="en-US" sz="1400" u="none" cap="none" strike="noStrike">
                <a:solidFill>
                  <a:srgbClr val="AAAAAA"/>
                </a:solidFill>
                <a:latin typeface="Calibri"/>
                <a:ea typeface="Calibri"/>
                <a:cs typeface="Calibri"/>
                <a:sym typeface="Calibri"/>
              </a:rPr>
              <a:t>detecting what the tracker cannot see</a:t>
            </a:r>
            <a:endParaRPr b="0" i="0" sz="1400" u="none" cap="none" strike="noStrike">
              <a:solidFill>
                <a:schemeClr val="dk1"/>
              </a:solidFill>
              <a:latin typeface="Calibri"/>
              <a:ea typeface="Calibri"/>
              <a:cs typeface="Calibri"/>
              <a:sym typeface="Calibri"/>
            </a:endParaRPr>
          </a:p>
        </p:txBody>
      </p:sp>
      <p:sp>
        <p:nvSpPr>
          <p:cNvPr id="15" name="Google Shape;15;p1"/>
          <p:cNvSpPr/>
          <p:nvPr/>
        </p:nvSpPr>
        <p:spPr>
          <a:xfrm>
            <a:off x="365760" y="2377440"/>
            <a:ext cx="5029200" cy="4572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365760" y="2560320"/>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Paper title:</a:t>
            </a:r>
            <a:endParaRPr sz="1100">
              <a:solidFill>
                <a:schemeClr val="dk1"/>
              </a:solidFill>
              <a:latin typeface="Calibri"/>
              <a:ea typeface="Calibri"/>
              <a:cs typeface="Calibri"/>
              <a:sym typeface="Calibri"/>
            </a:endParaRPr>
          </a:p>
        </p:txBody>
      </p:sp>
      <p:sp>
        <p:nvSpPr>
          <p:cNvPr id="17" name="Google Shape;17;p1"/>
          <p:cNvSpPr/>
          <p:nvPr/>
        </p:nvSpPr>
        <p:spPr>
          <a:xfrm>
            <a:off x="1737360" y="2560320"/>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200">
                <a:solidFill>
                  <a:schemeClr val="lt1"/>
                </a:solidFill>
                <a:latin typeface="Calibri"/>
                <a:ea typeface="Calibri"/>
                <a:cs typeface="Calibri"/>
                <a:sym typeface="Calibri"/>
              </a:rPr>
              <a:t>Blinding and blurring the multi-object tracker with adversarial perturbations</a:t>
            </a:r>
            <a:endParaRPr sz="1500">
              <a:solidFill>
                <a:schemeClr val="lt1"/>
              </a:solidFill>
              <a:latin typeface="Calibri"/>
              <a:ea typeface="Calibri"/>
              <a:cs typeface="Calibri"/>
              <a:sym typeface="Calibri"/>
            </a:endParaRPr>
          </a:p>
        </p:txBody>
      </p:sp>
      <p:sp>
        <p:nvSpPr>
          <p:cNvPr id="18" name="Google Shape;18;p1"/>
          <p:cNvSpPr/>
          <p:nvPr/>
        </p:nvSpPr>
        <p:spPr>
          <a:xfrm>
            <a:off x="365760" y="3035808"/>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Authors:</a:t>
            </a:r>
            <a:endParaRPr sz="1100">
              <a:solidFill>
                <a:schemeClr val="dk1"/>
              </a:solidFill>
              <a:latin typeface="Calibri"/>
              <a:ea typeface="Calibri"/>
              <a:cs typeface="Calibri"/>
              <a:sym typeface="Calibri"/>
            </a:endParaRPr>
          </a:p>
        </p:txBody>
      </p:sp>
      <p:sp>
        <p:nvSpPr>
          <p:cNvPr id="19" name="Google Shape;19;p1"/>
          <p:cNvSpPr/>
          <p:nvPr/>
        </p:nvSpPr>
        <p:spPr>
          <a:xfrm>
            <a:off x="1737360" y="3035808"/>
            <a:ext cx="6858000" cy="4114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00"/>
              </a:spcAft>
              <a:buClr>
                <a:schemeClr val="dk1"/>
              </a:buClr>
              <a:buSzPts val="1100"/>
              <a:buFont typeface="Arial"/>
              <a:buNone/>
            </a:pPr>
            <a:r>
              <a:rPr lang="en-US" sz="1200">
                <a:solidFill>
                  <a:schemeClr val="lt1"/>
                </a:solidFill>
                <a:latin typeface="Calibri"/>
                <a:ea typeface="Calibri"/>
                <a:cs typeface="Calibri"/>
                <a:sym typeface="Calibri"/>
              </a:rPr>
              <a:t>Haibo Pang, Rongqi Ma, Jie Su, Chengming Liu, Yufei Gao, Qun Jin</a:t>
            </a:r>
            <a:endParaRPr sz="1500">
              <a:solidFill>
                <a:schemeClr val="lt1"/>
              </a:solidFill>
              <a:latin typeface="Calibri"/>
              <a:ea typeface="Calibri"/>
              <a:cs typeface="Calibri"/>
              <a:sym typeface="Calibri"/>
            </a:endParaRPr>
          </a:p>
        </p:txBody>
      </p:sp>
      <p:sp>
        <p:nvSpPr>
          <p:cNvPr id="20" name="Google Shape;20;p1"/>
          <p:cNvSpPr/>
          <p:nvPr/>
        </p:nvSpPr>
        <p:spPr>
          <a:xfrm>
            <a:off x="365760" y="3511296"/>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Venue &amp; year:</a:t>
            </a:r>
            <a:endParaRPr sz="1100">
              <a:solidFill>
                <a:schemeClr val="dk1"/>
              </a:solidFill>
              <a:latin typeface="Calibri"/>
              <a:ea typeface="Calibri"/>
              <a:cs typeface="Calibri"/>
              <a:sym typeface="Calibri"/>
            </a:endParaRPr>
          </a:p>
        </p:txBody>
      </p:sp>
      <p:sp>
        <p:nvSpPr>
          <p:cNvPr id="21" name="Google Shape;21;p1"/>
          <p:cNvSpPr/>
          <p:nvPr/>
        </p:nvSpPr>
        <p:spPr>
          <a:xfrm>
            <a:off x="1737360" y="3511296"/>
            <a:ext cx="6858000" cy="41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00"/>
              </a:spcAft>
              <a:buClr>
                <a:schemeClr val="dk1"/>
              </a:buClr>
              <a:buSzPts val="1100"/>
              <a:buFont typeface="Arial"/>
              <a:buNone/>
            </a:pPr>
            <a:r>
              <a:rPr lang="en-US" sz="1200">
                <a:solidFill>
                  <a:schemeClr val="lt1"/>
                </a:solidFill>
                <a:latin typeface="Calibri"/>
                <a:ea typeface="Calibri"/>
                <a:cs typeface="Calibri"/>
                <a:sym typeface="Calibri"/>
              </a:rPr>
              <a:t>Neural Networks, Volume 176, 2024</a:t>
            </a:r>
            <a:endParaRPr sz="1500">
              <a:solidFill>
                <a:schemeClr val="lt1"/>
              </a:solidFill>
              <a:latin typeface="Calibri"/>
              <a:ea typeface="Calibri"/>
              <a:cs typeface="Calibri"/>
              <a:sym typeface="Calibri"/>
            </a:endParaRPr>
          </a:p>
        </p:txBody>
      </p:sp>
      <p:sp>
        <p:nvSpPr>
          <p:cNvPr id="22" name="Google Shape;22;p1"/>
          <p:cNvSpPr/>
          <p:nvPr/>
        </p:nvSpPr>
        <p:spPr>
          <a:xfrm>
            <a:off x="365760" y="3986784"/>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Link:</a:t>
            </a:r>
            <a:endParaRPr sz="1100">
              <a:solidFill>
                <a:schemeClr val="dk1"/>
              </a:solidFill>
              <a:latin typeface="Calibri"/>
              <a:ea typeface="Calibri"/>
              <a:cs typeface="Calibri"/>
              <a:sym typeface="Calibri"/>
            </a:endParaRPr>
          </a:p>
        </p:txBody>
      </p:sp>
      <p:sp>
        <p:nvSpPr>
          <p:cNvPr id="23" name="Google Shape;23;p1"/>
          <p:cNvSpPr/>
          <p:nvPr/>
        </p:nvSpPr>
        <p:spPr>
          <a:xfrm>
            <a:off x="1737360" y="3986784"/>
            <a:ext cx="6858000" cy="4114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00"/>
              </a:spcAft>
              <a:buNone/>
            </a:pPr>
            <a:r>
              <a:rPr lang="en-US" sz="1200">
                <a:solidFill>
                  <a:schemeClr val="lt1"/>
                </a:solidFill>
                <a:latin typeface="Calibri"/>
                <a:ea typeface="Calibri"/>
                <a:cs typeface="Calibri"/>
                <a:sym typeface="Calibri"/>
              </a:rPr>
              <a:t>https://doi.org/10.1016/j.neunet.2024.106331</a:t>
            </a:r>
            <a:endParaRPr sz="1500">
              <a:solidFill>
                <a:schemeClr val="lt1"/>
              </a:solidFill>
              <a:latin typeface="Calibri"/>
              <a:ea typeface="Calibri"/>
              <a:cs typeface="Calibri"/>
              <a:sym typeface="Calibri"/>
            </a:endParaRPr>
          </a:p>
        </p:txBody>
      </p:sp>
      <p:sp>
        <p:nvSpPr>
          <p:cNvPr id="24" name="Google Shape;24;p1"/>
          <p:cNvSpPr/>
          <p:nvPr/>
        </p:nvSpPr>
        <p:spPr>
          <a:xfrm>
            <a:off x="365760" y="6035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100"/>
              <a:buFont typeface="Calibri"/>
              <a:buNone/>
            </a:pPr>
            <a:r>
              <a:rPr lang="en-US" sz="1100">
                <a:solidFill>
                  <a:srgbClr val="888888"/>
                </a:solidFill>
                <a:latin typeface="Calibri"/>
                <a:ea typeface="Calibri"/>
                <a:cs typeface="Calibri"/>
                <a:sym typeface="Calibri"/>
              </a:rPr>
              <a:t>Christine</a:t>
            </a:r>
            <a:r>
              <a:rPr lang="en-US" sz="1100">
                <a:solidFill>
                  <a:srgbClr val="888888"/>
                </a:solidFill>
                <a:latin typeface="Calibri"/>
                <a:ea typeface="Calibri"/>
                <a:cs typeface="Calibri"/>
                <a:sym typeface="Calibri"/>
              </a:rPr>
              <a:t>  ·  Week 02  ·  P.R.I.M.E. Summer 2026</a:t>
            </a:r>
            <a:endParaRPr sz="1100">
              <a:solidFill>
                <a:schemeClr val="dk1"/>
              </a:solidFill>
              <a:latin typeface="Calibri"/>
              <a:ea typeface="Calibri"/>
              <a:cs typeface="Calibri"/>
              <a:sym typeface="Calibri"/>
            </a:endParaRPr>
          </a:p>
        </p:txBody>
      </p:sp>
      <p:sp>
        <p:nvSpPr>
          <p:cNvPr id="25" name="Google Shape;25;p1"/>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27" name="Google Shape;27;p1"/>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 / 7</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34" name="Google Shape;34;p2"/>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35" name="Google Shape;35;p2"/>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100"/>
              <a:buFont typeface="Calibri"/>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36" name="Google Shape;36;p2"/>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38" name="Google Shape;38;p2"/>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Main Argument</a:t>
            </a:r>
            <a:endParaRPr sz="2600">
              <a:solidFill>
                <a:schemeClr val="dk1"/>
              </a:solidFill>
              <a:latin typeface="Calibri"/>
              <a:ea typeface="Calibri"/>
              <a:cs typeface="Calibri"/>
              <a:sym typeface="Calibri"/>
            </a:endParaRPr>
          </a:p>
        </p:txBody>
      </p:sp>
      <p:sp>
        <p:nvSpPr>
          <p:cNvPr id="39" name="Google Shape;39;p2"/>
          <p:cNvSpPr/>
          <p:nvPr/>
        </p:nvSpPr>
        <p:spPr>
          <a:xfrm>
            <a:off x="365760" y="1234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State the paper's central claim in ONE sentence. If you cannot say it in one sentence, keep refining.</a:t>
            </a:r>
            <a:endParaRPr sz="1100">
              <a:solidFill>
                <a:schemeClr val="dk1"/>
              </a:solidFill>
              <a:latin typeface="Calibri"/>
              <a:ea typeface="Calibri"/>
              <a:cs typeface="Calibri"/>
              <a:sym typeface="Calibri"/>
            </a:endParaRPr>
          </a:p>
        </p:txBody>
      </p:sp>
      <p:sp>
        <p:nvSpPr>
          <p:cNvPr id="40" name="Google Shape;40;p2"/>
          <p:cNvSpPr/>
          <p:nvPr/>
        </p:nvSpPr>
        <p:spPr>
          <a:xfrm>
            <a:off x="365760" y="1645920"/>
            <a:ext cx="8412480" cy="201168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365760" y="1645920"/>
            <a:ext cx="73152" cy="201168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594360" y="1645920"/>
            <a:ext cx="8092440" cy="2011680"/>
          </a:xfrm>
          <a:prstGeom prst="rect">
            <a:avLst/>
          </a:prstGeom>
          <a:noFill/>
          <a:ln>
            <a:noFill/>
          </a:ln>
        </p:spPr>
        <p:txBody>
          <a:bodyPr anchorCtr="0" anchor="ctr" bIns="203200" lIns="203200" spcFirstLastPara="1" rIns="203200" wrap="square" tIns="203200">
            <a:noAutofit/>
          </a:bodyPr>
          <a:lstStyle/>
          <a:p>
            <a:pPr indent="0" lvl="0" marL="0" rtl="0" algn="l">
              <a:spcBef>
                <a:spcPts val="0"/>
              </a:spcBef>
              <a:spcAft>
                <a:spcPts val="8500"/>
              </a:spcAft>
              <a:buClr>
                <a:schemeClr val="dk1"/>
              </a:buClr>
              <a:buSzPts val="1100"/>
              <a:buFont typeface="Arial"/>
              <a:buNone/>
            </a:pPr>
            <a:r>
              <a:rPr lang="en-US" sz="1750">
                <a:solidFill>
                  <a:schemeClr val="lt1"/>
                </a:solidFill>
                <a:latin typeface="Calibri"/>
                <a:ea typeface="Calibri"/>
                <a:cs typeface="Calibri"/>
                <a:sym typeface="Calibri"/>
              </a:rPr>
              <a:t>This paper is a study on whether or not creating small changes to video frames will cause tracking systems to stop seeing objects it was tracking or start tracking things that are essentially background objects. </a:t>
            </a:r>
            <a:endParaRPr sz="2800">
              <a:solidFill>
                <a:schemeClr val="lt1"/>
              </a:solidFill>
              <a:latin typeface="Calibri"/>
              <a:ea typeface="Calibri"/>
              <a:cs typeface="Calibri"/>
              <a:sym typeface="Calibri"/>
            </a:endParaRPr>
          </a:p>
        </p:txBody>
      </p:sp>
      <p:sp>
        <p:nvSpPr>
          <p:cNvPr id="43" name="Google Shape;43;p2"/>
          <p:cNvSpPr/>
          <p:nvPr/>
        </p:nvSpPr>
        <p:spPr>
          <a:xfrm>
            <a:off x="365760" y="384048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lang="en-US" sz="1200">
                <a:solidFill>
                  <a:srgbClr val="0D9488"/>
                </a:solidFill>
                <a:latin typeface="Calibri"/>
                <a:ea typeface="Calibri"/>
                <a:cs typeface="Calibri"/>
                <a:sym typeface="Calibri"/>
              </a:rPr>
              <a:t>Why does this matter?</a:t>
            </a:r>
            <a:endParaRPr sz="1200">
              <a:solidFill>
                <a:schemeClr val="dk1"/>
              </a:solidFill>
              <a:latin typeface="Calibri"/>
              <a:ea typeface="Calibri"/>
              <a:cs typeface="Calibri"/>
              <a:sym typeface="Calibri"/>
            </a:endParaRPr>
          </a:p>
        </p:txBody>
      </p:sp>
      <p:sp>
        <p:nvSpPr>
          <p:cNvPr id="44" name="Google Shape;44;p2"/>
          <p:cNvSpPr/>
          <p:nvPr/>
        </p:nvSpPr>
        <p:spPr>
          <a:xfrm>
            <a:off x="365760" y="4160520"/>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502920" y="4160520"/>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rPr lang="en-US" sz="1300">
                <a:solidFill>
                  <a:schemeClr val="dk1"/>
                </a:solidFill>
                <a:latin typeface="Calibri"/>
                <a:ea typeface="Calibri"/>
                <a:cs typeface="Calibri"/>
                <a:sym typeface="Calibri"/>
              </a:rPr>
              <a:t>This is important because this is similar to the experiment we will be running. This article shows us that the tracker we plan to test will most likely be vulnerable to an adversarial attack since it is an extension of ByteTrack.</a:t>
            </a:r>
            <a:endParaRPr sz="1300">
              <a:solidFill>
                <a:schemeClr val="dk1"/>
              </a:solidFill>
              <a:latin typeface="Calibri"/>
              <a:ea typeface="Calibri"/>
              <a:cs typeface="Calibri"/>
              <a:sym typeface="Calibri"/>
            </a:endParaRPr>
          </a:p>
        </p:txBody>
      </p:sp>
      <p:sp>
        <p:nvSpPr>
          <p:cNvPr id="46" name="Google Shape;46;p2"/>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2"/>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48" name="Google Shape;48;p2"/>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2 / 7</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3"/>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55" name="Google Shape;55;p3"/>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56" name="Google Shape;56;p3"/>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57" name="Google Shape;57;p3"/>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3"/>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59" name="Google Shape;59;p3"/>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Method or Evidence</a:t>
            </a:r>
            <a:endParaRPr sz="2600">
              <a:solidFill>
                <a:schemeClr val="dk1"/>
              </a:solidFill>
              <a:latin typeface="Calibri"/>
              <a:ea typeface="Calibri"/>
              <a:cs typeface="Calibri"/>
              <a:sym typeface="Calibri"/>
            </a:endParaRPr>
          </a:p>
        </p:txBody>
      </p:sp>
      <p:sp>
        <p:nvSpPr>
          <p:cNvPr id="60" name="Google Shape;60;p3"/>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How did they show it? Describe the dataset, experiment, proof, or analysis.</a:t>
            </a:r>
            <a:endParaRPr sz="1100">
              <a:solidFill>
                <a:schemeClr val="dk1"/>
              </a:solidFill>
              <a:latin typeface="Calibri"/>
              <a:ea typeface="Calibri"/>
              <a:cs typeface="Calibri"/>
              <a:sym typeface="Calibri"/>
            </a:endParaRPr>
          </a:p>
        </p:txBody>
      </p:sp>
      <p:sp>
        <p:nvSpPr>
          <p:cNvPr id="61" name="Google Shape;61;p3"/>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3"/>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Dataset or setting</a:t>
            </a:r>
            <a:endParaRPr sz="1200">
              <a:solidFill>
                <a:schemeClr val="dk1"/>
              </a:solidFill>
              <a:latin typeface="Calibri"/>
              <a:ea typeface="Calibri"/>
              <a:cs typeface="Calibri"/>
              <a:sym typeface="Calibri"/>
            </a:endParaRPr>
          </a:p>
        </p:txBody>
      </p:sp>
      <p:sp>
        <p:nvSpPr>
          <p:cNvPr id="63" name="Google Shape;63;p3"/>
          <p:cNvSpPr/>
          <p:nvPr/>
        </p:nvSpPr>
        <p:spPr>
          <a:xfrm>
            <a:off x="365760"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3"/>
          <p:cNvSpPr/>
          <p:nvPr/>
        </p:nvSpPr>
        <p:spPr>
          <a:xfrm>
            <a:off x="457200"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The datasets </a:t>
            </a:r>
            <a:r>
              <a:rPr lang="en-US" sz="1200">
                <a:solidFill>
                  <a:schemeClr val="dk1"/>
                </a:solidFill>
                <a:latin typeface="Calibri"/>
                <a:ea typeface="Calibri"/>
                <a:cs typeface="Calibri"/>
                <a:sym typeface="Calibri"/>
              </a:rPr>
              <a:t>used</a:t>
            </a:r>
            <a:r>
              <a:rPr lang="en-US" sz="1200">
                <a:solidFill>
                  <a:schemeClr val="dk1"/>
                </a:solidFill>
                <a:latin typeface="Calibri"/>
                <a:ea typeface="Calibri"/>
                <a:cs typeface="Calibri"/>
                <a:sym typeface="Calibri"/>
              </a:rPr>
              <a:t> for evaluation were: MOT16, MOT17, and MOT20. They don’t explicitly state the size but say that the test set contained 7 video sequences. </a:t>
            </a:r>
            <a:endParaRPr sz="1200">
              <a:solidFill>
                <a:schemeClr val="dk1"/>
              </a:solidFill>
              <a:latin typeface="Calibri"/>
              <a:ea typeface="Calibri"/>
              <a:cs typeface="Calibri"/>
              <a:sym typeface="Calibri"/>
            </a:endParaRPr>
          </a:p>
        </p:txBody>
      </p:sp>
      <p:sp>
        <p:nvSpPr>
          <p:cNvPr id="65" name="Google Shape;65;p3"/>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3"/>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Experimental approach</a:t>
            </a:r>
            <a:endParaRPr sz="1200">
              <a:solidFill>
                <a:schemeClr val="dk1"/>
              </a:solidFill>
              <a:latin typeface="Calibri"/>
              <a:ea typeface="Calibri"/>
              <a:cs typeface="Calibri"/>
              <a:sym typeface="Calibri"/>
            </a:endParaRPr>
          </a:p>
        </p:txBody>
      </p:sp>
      <p:sp>
        <p:nvSpPr>
          <p:cNvPr id="67" name="Google Shape;67;p3"/>
          <p:cNvSpPr/>
          <p:nvPr/>
        </p:nvSpPr>
        <p:spPr>
          <a:xfrm>
            <a:off x="3172968"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3"/>
          <p:cNvSpPr/>
          <p:nvPr/>
        </p:nvSpPr>
        <p:spPr>
          <a:xfrm>
            <a:off x="3264408"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The authors created a new adversarial attack called Blind-Blur Attack that’s main goal was to blind the tracker from detecting real people or blurring the tracker so it mistakes the background for a person. They compared the performance of the tracker on clean data and then used blinded and blurred data. </a:t>
            </a:r>
            <a:endParaRPr sz="1200">
              <a:solidFill>
                <a:schemeClr val="dk1"/>
              </a:solidFill>
              <a:latin typeface="Calibri"/>
              <a:ea typeface="Calibri"/>
              <a:cs typeface="Calibri"/>
              <a:sym typeface="Calibri"/>
            </a:endParaRPr>
          </a:p>
        </p:txBody>
      </p:sp>
      <p:sp>
        <p:nvSpPr>
          <p:cNvPr id="69" name="Google Shape;69;p3"/>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How they measured success</a:t>
            </a:r>
            <a:endParaRPr sz="1200">
              <a:solidFill>
                <a:schemeClr val="dk1"/>
              </a:solidFill>
              <a:latin typeface="Calibri"/>
              <a:ea typeface="Calibri"/>
              <a:cs typeface="Calibri"/>
              <a:sym typeface="Calibri"/>
            </a:endParaRPr>
          </a:p>
        </p:txBody>
      </p:sp>
      <p:sp>
        <p:nvSpPr>
          <p:cNvPr id="71" name="Google Shape;71;p3"/>
          <p:cNvSpPr/>
          <p:nvPr/>
        </p:nvSpPr>
        <p:spPr>
          <a:xfrm>
            <a:off x="5980176"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3"/>
          <p:cNvSpPr/>
          <p:nvPr/>
        </p:nvSpPr>
        <p:spPr>
          <a:xfrm>
            <a:off x="6071616"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Metrics: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MOTA</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IDF1</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HOTA</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666666"/>
              </a:buClr>
              <a:buSzPts val="1200"/>
              <a:buFont typeface="Calibri"/>
              <a:buNone/>
            </a:pPr>
            <a:r>
              <a:rPr lang="en-US" sz="1200">
                <a:solidFill>
                  <a:schemeClr val="dk1"/>
                </a:solidFill>
                <a:latin typeface="Calibri"/>
                <a:ea typeface="Calibri"/>
                <a:cs typeface="Calibri"/>
                <a:sym typeface="Calibri"/>
              </a:rPr>
              <a:t>The threshold for a good result came from the difference between the performance of clean and attacked data.</a:t>
            </a:r>
            <a:endParaRPr sz="1200">
              <a:solidFill>
                <a:schemeClr val="dk1"/>
              </a:solidFill>
              <a:latin typeface="Calibri"/>
              <a:ea typeface="Calibri"/>
              <a:cs typeface="Calibri"/>
              <a:sym typeface="Calibri"/>
            </a:endParaRPr>
          </a:p>
        </p:txBody>
      </p:sp>
      <p:sp>
        <p:nvSpPr>
          <p:cNvPr id="73" name="Google Shape;73;p3"/>
          <p:cNvSpPr/>
          <p:nvPr/>
        </p:nvSpPr>
        <p:spPr>
          <a:xfrm>
            <a:off x="365760" y="379476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Additional notes on the method:</a:t>
            </a:r>
            <a:endParaRPr sz="1100">
              <a:solidFill>
                <a:schemeClr val="dk1"/>
              </a:solidFill>
              <a:latin typeface="Calibri"/>
              <a:ea typeface="Calibri"/>
              <a:cs typeface="Calibri"/>
              <a:sym typeface="Calibri"/>
            </a:endParaRPr>
          </a:p>
        </p:txBody>
      </p:sp>
      <p:sp>
        <p:nvSpPr>
          <p:cNvPr id="74" name="Google Shape;74;p3"/>
          <p:cNvSpPr/>
          <p:nvPr/>
        </p:nvSpPr>
        <p:spPr>
          <a:xfrm>
            <a:off x="365760" y="4096512"/>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3"/>
          <p:cNvSpPr/>
          <p:nvPr/>
        </p:nvSpPr>
        <p:spPr>
          <a:xfrm>
            <a:off x="502920" y="409651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rPr lang="en-US" sz="1300">
                <a:solidFill>
                  <a:schemeClr val="dk1"/>
                </a:solidFill>
                <a:latin typeface="Calibri"/>
                <a:ea typeface="Calibri"/>
                <a:cs typeface="Calibri"/>
                <a:sym typeface="Calibri"/>
              </a:rPr>
              <a:t>They take into consideration things like random heavy noise and compare the results to other attacks like F&amp;F and Hijacking.</a:t>
            </a:r>
            <a:endParaRPr sz="1300">
              <a:solidFill>
                <a:schemeClr val="dk1"/>
              </a:solidFill>
              <a:latin typeface="Calibri"/>
              <a:ea typeface="Calibri"/>
              <a:cs typeface="Calibri"/>
              <a:sym typeface="Calibri"/>
            </a:endParaRPr>
          </a:p>
        </p:txBody>
      </p:sp>
      <p:sp>
        <p:nvSpPr>
          <p:cNvPr id="76" name="Google Shape;76;p3"/>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3"/>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78" name="Google Shape;78;p3"/>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3 / 7</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4"/>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85" name="Google Shape;85;p4"/>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86" name="Google Shape;86;p4"/>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87" name="Google Shape;87;p4"/>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4"/>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89" name="Google Shape;89;p4"/>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Key Finding or Result</a:t>
            </a:r>
            <a:endParaRPr sz="2600">
              <a:solidFill>
                <a:schemeClr val="dk1"/>
              </a:solidFill>
              <a:latin typeface="Calibri"/>
              <a:ea typeface="Calibri"/>
              <a:cs typeface="Calibri"/>
              <a:sym typeface="Calibri"/>
            </a:endParaRPr>
          </a:p>
        </p:txBody>
      </p:sp>
      <p:sp>
        <p:nvSpPr>
          <p:cNvPr id="90" name="Google Shape;90;p4"/>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The single most important thing the paper found or demonstrated.</a:t>
            </a:r>
            <a:endParaRPr sz="1100">
              <a:solidFill>
                <a:schemeClr val="dk1"/>
              </a:solidFill>
              <a:latin typeface="Calibri"/>
              <a:ea typeface="Calibri"/>
              <a:cs typeface="Calibri"/>
              <a:sym typeface="Calibri"/>
            </a:endParaRPr>
          </a:p>
        </p:txBody>
      </p:sp>
      <p:sp>
        <p:nvSpPr>
          <p:cNvPr id="91" name="Google Shape;91;p4"/>
          <p:cNvSpPr/>
          <p:nvPr/>
        </p:nvSpPr>
        <p:spPr>
          <a:xfrm>
            <a:off x="365760" y="1600200"/>
            <a:ext cx="8412480" cy="173736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4"/>
          <p:cNvSpPr/>
          <p:nvPr/>
        </p:nvSpPr>
        <p:spPr>
          <a:xfrm>
            <a:off x="365760" y="1600200"/>
            <a:ext cx="64008" cy="173736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4"/>
          <p:cNvSpPr/>
          <p:nvPr/>
        </p:nvSpPr>
        <p:spPr>
          <a:xfrm>
            <a:off x="594360" y="16459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000"/>
              <a:buFont typeface="Calibri"/>
              <a:buNone/>
            </a:pPr>
            <a:r>
              <a:rPr b="1" lang="en-US" sz="1000">
                <a:solidFill>
                  <a:srgbClr val="C8102E"/>
                </a:solidFill>
                <a:latin typeface="Calibri"/>
                <a:ea typeface="Calibri"/>
                <a:cs typeface="Calibri"/>
                <a:sym typeface="Calibri"/>
              </a:rPr>
              <a:t>★  Main finding</a:t>
            </a:r>
            <a:endParaRPr sz="1000">
              <a:solidFill>
                <a:schemeClr val="dk1"/>
              </a:solidFill>
              <a:latin typeface="Calibri"/>
              <a:ea typeface="Calibri"/>
              <a:cs typeface="Calibri"/>
              <a:sym typeface="Calibri"/>
            </a:endParaRPr>
          </a:p>
        </p:txBody>
      </p:sp>
      <p:sp>
        <p:nvSpPr>
          <p:cNvPr id="94" name="Google Shape;94;p4"/>
          <p:cNvSpPr/>
          <p:nvPr/>
        </p:nvSpPr>
        <p:spPr>
          <a:xfrm>
            <a:off x="594360" y="1965960"/>
            <a:ext cx="80467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Calibri"/>
              <a:buNone/>
            </a:pPr>
            <a:r>
              <a:rPr lang="en-US">
                <a:solidFill>
                  <a:srgbClr val="1A1A1A"/>
                </a:solidFill>
                <a:latin typeface="Calibri"/>
                <a:ea typeface="Calibri"/>
                <a:cs typeface="Calibri"/>
                <a:sym typeface="Calibri"/>
              </a:rPr>
              <a:t>This papers key result is the BBA degrades the performance of multi-object trackers. The tables below show how effective this attack was on four different trackers. This attack dramatically reduced the performance of the trackers it attacked.</a:t>
            </a:r>
            <a:endParaRPr sz="1400">
              <a:solidFill>
                <a:schemeClr val="dk1"/>
              </a:solidFill>
              <a:latin typeface="Calibri"/>
              <a:ea typeface="Calibri"/>
              <a:cs typeface="Calibri"/>
              <a:sym typeface="Calibri"/>
            </a:endParaRPr>
          </a:p>
        </p:txBody>
      </p:sp>
      <p:sp>
        <p:nvSpPr>
          <p:cNvPr id="95" name="Google Shape;95;p4"/>
          <p:cNvSpPr/>
          <p:nvPr/>
        </p:nvSpPr>
        <p:spPr>
          <a:xfrm>
            <a:off x="36576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4"/>
          <p:cNvSpPr/>
          <p:nvPr/>
        </p:nvSpPr>
        <p:spPr>
          <a:xfrm>
            <a:off x="47548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1</a:t>
            </a:r>
            <a:endParaRPr sz="1000">
              <a:solidFill>
                <a:schemeClr val="dk1"/>
              </a:solidFill>
              <a:latin typeface="Calibri"/>
              <a:ea typeface="Calibri"/>
              <a:cs typeface="Calibri"/>
              <a:sym typeface="Calibri"/>
            </a:endParaRPr>
          </a:p>
        </p:txBody>
      </p:sp>
      <p:sp>
        <p:nvSpPr>
          <p:cNvPr id="97" name="Google Shape;97;p4"/>
          <p:cNvSpPr/>
          <p:nvPr/>
        </p:nvSpPr>
        <p:spPr>
          <a:xfrm>
            <a:off x="475488" y="3794760"/>
            <a:ext cx="3749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i="1" lang="en-US" sz="1200">
                <a:solidFill>
                  <a:srgbClr val="1A3A5C"/>
                </a:solidFill>
                <a:latin typeface="Calibri"/>
                <a:ea typeface="Calibri"/>
                <a:cs typeface="Calibri"/>
                <a:sym typeface="Calibri"/>
              </a:rPr>
              <a:t>[Secondary finding or supporting data point]</a:t>
            </a:r>
            <a:endParaRPr sz="1200">
              <a:solidFill>
                <a:schemeClr val="dk1"/>
              </a:solidFill>
              <a:latin typeface="Calibri"/>
              <a:ea typeface="Calibri"/>
              <a:cs typeface="Calibri"/>
              <a:sym typeface="Calibri"/>
            </a:endParaRPr>
          </a:p>
        </p:txBody>
      </p:sp>
      <p:sp>
        <p:nvSpPr>
          <p:cNvPr id="98" name="Google Shape;98;p4"/>
          <p:cNvSpPr/>
          <p:nvPr/>
        </p:nvSpPr>
        <p:spPr>
          <a:xfrm>
            <a:off x="461772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4"/>
          <p:cNvSpPr/>
          <p:nvPr/>
        </p:nvSpPr>
        <p:spPr>
          <a:xfrm>
            <a:off x="472744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2</a:t>
            </a:r>
            <a:endParaRPr sz="1000">
              <a:solidFill>
                <a:schemeClr val="dk1"/>
              </a:solidFill>
              <a:latin typeface="Calibri"/>
              <a:ea typeface="Calibri"/>
              <a:cs typeface="Calibri"/>
              <a:sym typeface="Calibri"/>
            </a:endParaRPr>
          </a:p>
        </p:txBody>
      </p:sp>
      <p:sp>
        <p:nvSpPr>
          <p:cNvPr id="100" name="Google Shape;100;p4"/>
          <p:cNvSpPr/>
          <p:nvPr/>
        </p:nvSpPr>
        <p:spPr>
          <a:xfrm>
            <a:off x="4727448" y="3794760"/>
            <a:ext cx="3749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t/>
            </a:r>
            <a:endParaRPr sz="1200">
              <a:solidFill>
                <a:schemeClr val="dk1"/>
              </a:solidFill>
              <a:latin typeface="Calibri"/>
              <a:ea typeface="Calibri"/>
              <a:cs typeface="Calibri"/>
              <a:sym typeface="Calibri"/>
            </a:endParaRPr>
          </a:p>
        </p:txBody>
      </p:sp>
      <p:sp>
        <p:nvSpPr>
          <p:cNvPr id="101" name="Google Shape;101;p4"/>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4"/>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03" name="Google Shape;103;p4"/>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4 / 7</a:t>
            </a:r>
            <a:endParaRPr sz="900">
              <a:solidFill>
                <a:schemeClr val="dk1"/>
              </a:solidFill>
              <a:latin typeface="Calibri"/>
              <a:ea typeface="Calibri"/>
              <a:cs typeface="Calibri"/>
              <a:sym typeface="Calibri"/>
            </a:endParaRPr>
          </a:p>
        </p:txBody>
      </p:sp>
      <p:pic>
        <p:nvPicPr>
          <p:cNvPr id="104" name="Google Shape;104;p4"/>
          <p:cNvPicPr preferRelativeResize="0"/>
          <p:nvPr/>
        </p:nvPicPr>
        <p:blipFill>
          <a:blip r:embed="rId4">
            <a:alphaModFix/>
          </a:blip>
          <a:stretch>
            <a:fillRect/>
          </a:stretch>
        </p:blipFill>
        <p:spPr>
          <a:xfrm>
            <a:off x="0" y="3749050"/>
            <a:ext cx="4434851" cy="2640450"/>
          </a:xfrm>
          <a:prstGeom prst="rect">
            <a:avLst/>
          </a:prstGeom>
          <a:noFill/>
          <a:ln>
            <a:noFill/>
          </a:ln>
        </p:spPr>
      </p:pic>
      <p:pic>
        <p:nvPicPr>
          <p:cNvPr id="105" name="Google Shape;105;p4"/>
          <p:cNvPicPr preferRelativeResize="0"/>
          <p:nvPr/>
        </p:nvPicPr>
        <p:blipFill>
          <a:blip r:embed="rId5">
            <a:alphaModFix/>
          </a:blip>
          <a:stretch>
            <a:fillRect/>
          </a:stretch>
        </p:blipFill>
        <p:spPr>
          <a:xfrm>
            <a:off x="4617725" y="3749050"/>
            <a:ext cx="7167248" cy="1793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5"/>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12" name="Google Shape;112;p5"/>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13" name="Google Shape;113;p5"/>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14" name="Google Shape;114;p5"/>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5"/>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16" name="Google Shape;116;p5"/>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Limitation or Open Question</a:t>
            </a:r>
            <a:endParaRPr sz="2600">
              <a:solidFill>
                <a:schemeClr val="dk1"/>
              </a:solidFill>
              <a:latin typeface="Calibri"/>
              <a:ea typeface="Calibri"/>
              <a:cs typeface="Calibri"/>
              <a:sym typeface="Calibri"/>
            </a:endParaRPr>
          </a:p>
        </p:txBody>
      </p:sp>
      <p:sp>
        <p:nvSpPr>
          <p:cNvPr id="117" name="Google Shape;117;p5"/>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What does this paper leave unsolved? What are you skeptical of?</a:t>
            </a:r>
            <a:endParaRPr sz="1100">
              <a:solidFill>
                <a:schemeClr val="dk1"/>
              </a:solidFill>
              <a:latin typeface="Calibri"/>
              <a:ea typeface="Calibri"/>
              <a:cs typeface="Calibri"/>
              <a:sym typeface="Calibri"/>
            </a:endParaRPr>
          </a:p>
        </p:txBody>
      </p:sp>
      <p:sp>
        <p:nvSpPr>
          <p:cNvPr id="118" name="Google Shape;118;p5"/>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5"/>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it leaves unsolved</a:t>
            </a:r>
            <a:endParaRPr sz="1100">
              <a:solidFill>
                <a:schemeClr val="dk1"/>
              </a:solidFill>
              <a:latin typeface="Calibri"/>
              <a:ea typeface="Calibri"/>
              <a:cs typeface="Calibri"/>
              <a:sym typeface="Calibri"/>
            </a:endParaRPr>
          </a:p>
        </p:txBody>
      </p:sp>
      <p:sp>
        <p:nvSpPr>
          <p:cNvPr id="120" name="Google Shape;120;p5"/>
          <p:cNvSpPr/>
          <p:nvPr/>
        </p:nvSpPr>
        <p:spPr>
          <a:xfrm>
            <a:off x="365760" y="1993392"/>
            <a:ext cx="2651760" cy="1828800"/>
          </a:xfrm>
          <a:prstGeom prst="rect">
            <a:avLst/>
          </a:prstGeom>
          <a:solidFill>
            <a:srgbClr val="FFF3E0"/>
          </a:solidFill>
          <a:ln cap="flat" cmpd="sng" w="12700">
            <a:solidFill>
              <a:srgbClr val="FFCC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5"/>
          <p:cNvSpPr/>
          <p:nvPr/>
        </p:nvSpPr>
        <p:spPr>
          <a:xfrm>
            <a:off x="457200" y="2084832"/>
            <a:ext cx="2468880" cy="164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6800"/>
              </a:spcAft>
              <a:buClr>
                <a:schemeClr val="dk1"/>
              </a:buClr>
              <a:buSzPts val="1100"/>
              <a:buFont typeface="Arial"/>
              <a:buNone/>
            </a:pPr>
            <a:r>
              <a:rPr lang="en-US" sz="1200">
                <a:solidFill>
                  <a:schemeClr val="dk1"/>
                </a:solidFill>
                <a:latin typeface="Calibri"/>
                <a:ea typeface="Calibri"/>
                <a:cs typeface="Calibri"/>
                <a:sym typeface="Calibri"/>
              </a:rPr>
              <a:t>This study was mostly focused on tracking pedestrians so it’s difficult to say that this method would work on tracking any other objects. Also there was no testing with any defense mechanisms. </a:t>
            </a:r>
            <a:endParaRPr sz="1200">
              <a:solidFill>
                <a:schemeClr val="dk1"/>
              </a:solidFill>
              <a:latin typeface="Calibri"/>
              <a:ea typeface="Calibri"/>
              <a:cs typeface="Calibri"/>
              <a:sym typeface="Calibri"/>
            </a:endParaRPr>
          </a:p>
        </p:txBody>
      </p:sp>
      <p:sp>
        <p:nvSpPr>
          <p:cNvPr id="122" name="Google Shape;122;p5"/>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5"/>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you are skeptical of</a:t>
            </a:r>
            <a:endParaRPr sz="1100">
              <a:solidFill>
                <a:schemeClr val="dk1"/>
              </a:solidFill>
              <a:latin typeface="Calibri"/>
              <a:ea typeface="Calibri"/>
              <a:cs typeface="Calibri"/>
              <a:sym typeface="Calibri"/>
            </a:endParaRPr>
          </a:p>
        </p:txBody>
      </p:sp>
      <p:sp>
        <p:nvSpPr>
          <p:cNvPr id="124" name="Google Shape;124;p5"/>
          <p:cNvSpPr/>
          <p:nvPr/>
        </p:nvSpPr>
        <p:spPr>
          <a:xfrm>
            <a:off x="3172968" y="1993392"/>
            <a:ext cx="2651760" cy="1828800"/>
          </a:xfrm>
          <a:prstGeom prst="rect">
            <a:avLst/>
          </a:prstGeom>
          <a:solidFill>
            <a:srgbClr val="FFEBEE"/>
          </a:solidFill>
          <a:ln cap="flat" cmpd="sng" w="12700">
            <a:solidFill>
              <a:srgbClr val="FFC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5"/>
          <p:cNvSpPr/>
          <p:nvPr/>
        </p:nvSpPr>
        <p:spPr>
          <a:xfrm>
            <a:off x="3264408"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1C1C"/>
              </a:buClr>
              <a:buSzPts val="1200"/>
              <a:buFont typeface="Calibri"/>
              <a:buNone/>
            </a:pPr>
            <a:r>
              <a:rPr lang="en-US" sz="1200">
                <a:solidFill>
                  <a:schemeClr val="dk1"/>
                </a:solidFill>
                <a:latin typeface="Calibri"/>
                <a:ea typeface="Calibri"/>
                <a:cs typeface="Calibri"/>
                <a:sym typeface="Calibri"/>
              </a:rPr>
              <a:t>I would be skeptical of the fact that this was all done in a digital </a:t>
            </a:r>
            <a:r>
              <a:rPr lang="en-US" sz="1200">
                <a:solidFill>
                  <a:schemeClr val="dk1"/>
                </a:solidFill>
                <a:latin typeface="Calibri"/>
                <a:ea typeface="Calibri"/>
                <a:cs typeface="Calibri"/>
                <a:sym typeface="Calibri"/>
              </a:rPr>
              <a:t>environment</a:t>
            </a:r>
            <a:r>
              <a:rPr lang="en-US" sz="1200">
                <a:solidFill>
                  <a:schemeClr val="dk1"/>
                </a:solidFill>
                <a:latin typeface="Calibri"/>
                <a:ea typeface="Calibri"/>
                <a:cs typeface="Calibri"/>
                <a:sym typeface="Calibri"/>
              </a:rPr>
              <a:t> and not in a real-world setting. </a:t>
            </a:r>
            <a:endParaRPr sz="1200">
              <a:solidFill>
                <a:schemeClr val="dk1"/>
              </a:solidFill>
              <a:latin typeface="Calibri"/>
              <a:ea typeface="Calibri"/>
              <a:cs typeface="Calibri"/>
              <a:sym typeface="Calibri"/>
            </a:endParaRPr>
          </a:p>
        </p:txBody>
      </p:sp>
      <p:sp>
        <p:nvSpPr>
          <p:cNvPr id="126" name="Google Shape;126;p5"/>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5"/>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question it raises for us</a:t>
            </a:r>
            <a:endParaRPr sz="1100">
              <a:solidFill>
                <a:schemeClr val="dk1"/>
              </a:solidFill>
              <a:latin typeface="Calibri"/>
              <a:ea typeface="Calibri"/>
              <a:cs typeface="Calibri"/>
              <a:sym typeface="Calibri"/>
            </a:endParaRPr>
          </a:p>
        </p:txBody>
      </p:sp>
      <p:sp>
        <p:nvSpPr>
          <p:cNvPr id="128" name="Google Shape;128;p5"/>
          <p:cNvSpPr/>
          <p:nvPr/>
        </p:nvSpPr>
        <p:spPr>
          <a:xfrm>
            <a:off x="5980176" y="1993392"/>
            <a:ext cx="2651760" cy="18288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5"/>
          <p:cNvSpPr/>
          <p:nvPr/>
        </p:nvSpPr>
        <p:spPr>
          <a:xfrm>
            <a:off x="6071616"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lang="en-US" sz="1200">
                <a:solidFill>
                  <a:schemeClr val="dk1"/>
                </a:solidFill>
                <a:latin typeface="Calibri"/>
                <a:ea typeface="Calibri"/>
                <a:cs typeface="Calibri"/>
                <a:sym typeface="Calibri"/>
              </a:rPr>
              <a:t>Can an attack like this be replicated using multi-camera tracking?</a:t>
            </a:r>
            <a:endParaRPr sz="1200">
              <a:solidFill>
                <a:schemeClr val="dk1"/>
              </a:solidFill>
              <a:latin typeface="Calibri"/>
              <a:ea typeface="Calibri"/>
              <a:cs typeface="Calibri"/>
              <a:sym typeface="Calibri"/>
            </a:endParaRPr>
          </a:p>
        </p:txBody>
      </p:sp>
      <p:sp>
        <p:nvSpPr>
          <p:cNvPr id="130" name="Google Shape;130;p5"/>
          <p:cNvSpPr/>
          <p:nvPr/>
        </p:nvSpPr>
        <p:spPr>
          <a:xfrm>
            <a:off x="365760" y="3931920"/>
            <a:ext cx="8412480" cy="77724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5"/>
          <p:cNvSpPr/>
          <p:nvPr/>
        </p:nvSpPr>
        <p:spPr>
          <a:xfrm>
            <a:off x="548640" y="3931920"/>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200"/>
              <a:buFont typeface="Calibri"/>
              <a:buNone/>
            </a:pPr>
            <a:r>
              <a:rPr lang="en-US" sz="1200">
                <a:solidFill>
                  <a:schemeClr val="lt1"/>
                </a:solidFill>
                <a:latin typeface="Calibri"/>
                <a:ea typeface="Calibri"/>
                <a:cs typeface="Calibri"/>
                <a:sym typeface="Calibri"/>
              </a:rPr>
              <a:t>I think this experiment could be replicated if we used the same datasets and trackers. </a:t>
            </a:r>
            <a:endParaRPr sz="1200">
              <a:solidFill>
                <a:schemeClr val="lt1"/>
              </a:solidFill>
              <a:latin typeface="Calibri"/>
              <a:ea typeface="Calibri"/>
              <a:cs typeface="Calibri"/>
              <a:sym typeface="Calibri"/>
            </a:endParaRPr>
          </a:p>
        </p:txBody>
      </p:sp>
      <p:sp>
        <p:nvSpPr>
          <p:cNvPr id="132" name="Google Shape;132;p5"/>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5"/>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34" name="Google Shape;134;p5"/>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5 / 7</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6"/>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41" name="Google Shape;141;p6"/>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42" name="Google Shape;142;p6"/>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43" name="Google Shape;143;p6"/>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6"/>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6</a:t>
            </a:r>
            <a:endParaRPr sz="1800">
              <a:solidFill>
                <a:schemeClr val="dk1"/>
              </a:solidFill>
              <a:latin typeface="Calibri"/>
              <a:ea typeface="Calibri"/>
              <a:cs typeface="Calibri"/>
              <a:sym typeface="Calibri"/>
            </a:endParaRPr>
          </a:p>
        </p:txBody>
      </p:sp>
      <p:sp>
        <p:nvSpPr>
          <p:cNvPr id="145" name="Google Shape;145;p6"/>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Connection to Our Project</a:t>
            </a:r>
            <a:endParaRPr sz="2600">
              <a:solidFill>
                <a:schemeClr val="dk1"/>
              </a:solidFill>
              <a:latin typeface="Calibri"/>
              <a:ea typeface="Calibri"/>
              <a:cs typeface="Calibri"/>
              <a:sym typeface="Calibri"/>
            </a:endParaRPr>
          </a:p>
        </p:txBody>
      </p:sp>
      <p:sp>
        <p:nvSpPr>
          <p:cNvPr id="146" name="Google Shape;146;p6"/>
          <p:cNvSpPr/>
          <p:nvPr/>
        </p:nvSpPr>
        <p:spPr>
          <a:xfrm>
            <a:off x="365760" y="1234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How does this paper change how you think about embedding-space poisoning in multi-camera tracking?</a:t>
            </a:r>
            <a:endParaRPr sz="1100">
              <a:solidFill>
                <a:schemeClr val="dk1"/>
              </a:solidFill>
              <a:latin typeface="Calibri"/>
              <a:ea typeface="Calibri"/>
              <a:cs typeface="Calibri"/>
              <a:sym typeface="Calibri"/>
            </a:endParaRPr>
          </a:p>
        </p:txBody>
      </p:sp>
      <p:sp>
        <p:nvSpPr>
          <p:cNvPr id="147" name="Google Shape;147;p6"/>
          <p:cNvSpPr/>
          <p:nvPr/>
        </p:nvSpPr>
        <p:spPr>
          <a:xfrm>
            <a:off x="365760" y="1645920"/>
            <a:ext cx="8412480" cy="182880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6"/>
          <p:cNvSpPr/>
          <p:nvPr/>
        </p:nvSpPr>
        <p:spPr>
          <a:xfrm>
            <a:off x="365760" y="1645920"/>
            <a:ext cx="64008" cy="18288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6"/>
          <p:cNvSpPr/>
          <p:nvPr/>
        </p:nvSpPr>
        <p:spPr>
          <a:xfrm>
            <a:off x="594360" y="1691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1" lang="en-US" sz="1000">
                <a:solidFill>
                  <a:srgbClr val="AAAAAA"/>
                </a:solidFill>
                <a:latin typeface="Calibri"/>
                <a:ea typeface="Calibri"/>
                <a:cs typeface="Calibri"/>
                <a:sym typeface="Calibri"/>
              </a:rPr>
              <a:t>How this paper connects to blindspot:</a:t>
            </a:r>
            <a:endParaRPr sz="1000">
              <a:solidFill>
                <a:schemeClr val="dk1"/>
              </a:solidFill>
              <a:latin typeface="Calibri"/>
              <a:ea typeface="Calibri"/>
              <a:cs typeface="Calibri"/>
              <a:sym typeface="Calibri"/>
            </a:endParaRPr>
          </a:p>
        </p:txBody>
      </p:sp>
      <p:sp>
        <p:nvSpPr>
          <p:cNvPr id="150" name="Google Shape;150;p6"/>
          <p:cNvSpPr/>
          <p:nvPr/>
        </p:nvSpPr>
        <p:spPr>
          <a:xfrm>
            <a:off x="594360" y="2011680"/>
            <a:ext cx="8046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This paper connects to blindspot because it shows that attacks can distort the trackers “eyes” and cause the performance to degrade and the output becomes unreliable. This is similar to what we want to do, which is to make the system form incorrect associations between observations. </a:t>
            </a:r>
            <a:endParaRPr sz="1300">
              <a:solidFill>
                <a:schemeClr val="dk1"/>
              </a:solidFill>
              <a:latin typeface="Calibri"/>
              <a:ea typeface="Calibri"/>
              <a:cs typeface="Calibri"/>
              <a:sym typeface="Calibri"/>
            </a:endParaRPr>
          </a:p>
        </p:txBody>
      </p:sp>
      <p:sp>
        <p:nvSpPr>
          <p:cNvPr id="151" name="Google Shape;151;p6"/>
          <p:cNvSpPr/>
          <p:nvPr/>
        </p:nvSpPr>
        <p:spPr>
          <a:xfrm>
            <a:off x="365760" y="3566160"/>
            <a:ext cx="4069080" cy="1234440"/>
          </a:xfrm>
          <a:prstGeom prst="rect">
            <a:avLst/>
          </a:prstGeom>
          <a:solidFill>
            <a:srgbClr val="E8F5E9"/>
          </a:solidFill>
          <a:ln cap="flat" cmpd="sng" w="12700">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6"/>
          <p:cNvSpPr/>
          <p:nvPr/>
        </p:nvSpPr>
        <p:spPr>
          <a:xfrm>
            <a:off x="475488" y="3611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5E20"/>
              </a:buClr>
              <a:buSzPts val="1000"/>
              <a:buFont typeface="Calibri"/>
              <a:buNone/>
            </a:pPr>
            <a:r>
              <a:rPr b="1" lang="en-US" sz="1000">
                <a:solidFill>
                  <a:srgbClr val="1B5E20"/>
                </a:solidFill>
                <a:latin typeface="Calibri"/>
                <a:ea typeface="Calibri"/>
                <a:cs typeface="Calibri"/>
                <a:sym typeface="Calibri"/>
              </a:rPr>
              <a:t>This paper supports our approach because...</a:t>
            </a:r>
            <a:endParaRPr sz="1000">
              <a:solidFill>
                <a:schemeClr val="dk1"/>
              </a:solidFill>
              <a:latin typeface="Calibri"/>
              <a:ea typeface="Calibri"/>
              <a:cs typeface="Calibri"/>
              <a:sym typeface="Calibri"/>
            </a:endParaRPr>
          </a:p>
        </p:txBody>
      </p:sp>
      <p:sp>
        <p:nvSpPr>
          <p:cNvPr id="153" name="Google Shape;153;p6"/>
          <p:cNvSpPr/>
          <p:nvPr/>
        </p:nvSpPr>
        <p:spPr>
          <a:xfrm>
            <a:off x="475488" y="3977640"/>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200"/>
              <a:buFont typeface="Calibri"/>
              <a:buNone/>
            </a:pPr>
            <a:r>
              <a:rPr lang="en-US" sz="1200">
                <a:solidFill>
                  <a:schemeClr val="dk1"/>
                </a:solidFill>
                <a:latin typeface="Calibri"/>
                <a:ea typeface="Calibri"/>
                <a:cs typeface="Calibri"/>
                <a:sym typeface="Calibri"/>
              </a:rPr>
              <a:t>it shows that adding perturbations the tracker can make mistakes or misidentify objects it was tracking. </a:t>
            </a:r>
            <a:endParaRPr sz="1200">
              <a:solidFill>
                <a:schemeClr val="dk1"/>
              </a:solidFill>
              <a:latin typeface="Calibri"/>
              <a:ea typeface="Calibri"/>
              <a:cs typeface="Calibri"/>
              <a:sym typeface="Calibri"/>
            </a:endParaRPr>
          </a:p>
        </p:txBody>
      </p:sp>
      <p:sp>
        <p:nvSpPr>
          <p:cNvPr id="154" name="Google Shape;154;p6"/>
          <p:cNvSpPr/>
          <p:nvPr/>
        </p:nvSpPr>
        <p:spPr>
          <a:xfrm>
            <a:off x="4617720" y="3566160"/>
            <a:ext cx="4069080" cy="1234440"/>
          </a:xfrm>
          <a:prstGeom prst="rect">
            <a:avLst/>
          </a:prstGeom>
          <a:solidFill>
            <a:srgbClr val="FFEBEE"/>
          </a:solidFill>
          <a:ln cap="flat" cmpd="sng" w="12700">
            <a:solidFill>
              <a:srgbClr val="FFC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p:nvPr/>
        </p:nvSpPr>
        <p:spPr>
          <a:xfrm>
            <a:off x="4727448" y="3611880"/>
            <a:ext cx="3749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1C1C"/>
              </a:buClr>
              <a:buSzPts val="1000"/>
              <a:buFont typeface="Calibri"/>
              <a:buNone/>
            </a:pPr>
            <a:r>
              <a:rPr b="1" lang="en-US" sz="1000">
                <a:solidFill>
                  <a:srgbClr val="B71C1C"/>
                </a:solidFill>
                <a:latin typeface="Calibri"/>
                <a:ea typeface="Calibri"/>
                <a:cs typeface="Calibri"/>
                <a:sym typeface="Calibri"/>
              </a:rPr>
              <a:t>This paper challenges our approach because...</a:t>
            </a:r>
            <a:endParaRPr sz="1000">
              <a:solidFill>
                <a:schemeClr val="dk1"/>
              </a:solidFill>
              <a:latin typeface="Calibri"/>
              <a:ea typeface="Calibri"/>
              <a:cs typeface="Calibri"/>
              <a:sym typeface="Calibri"/>
            </a:endParaRPr>
          </a:p>
        </p:txBody>
      </p:sp>
      <p:sp>
        <p:nvSpPr>
          <p:cNvPr id="156" name="Google Shape;156;p6"/>
          <p:cNvSpPr/>
          <p:nvPr/>
        </p:nvSpPr>
        <p:spPr>
          <a:xfrm>
            <a:off x="4727448" y="3977640"/>
            <a:ext cx="37491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1C1C"/>
              </a:buClr>
              <a:buSzPts val="1200"/>
              <a:buFont typeface="Calibri"/>
              <a:buNone/>
            </a:pPr>
            <a:r>
              <a:rPr lang="en-US" sz="1200">
                <a:solidFill>
                  <a:schemeClr val="dk1"/>
                </a:solidFill>
                <a:latin typeface="Calibri"/>
                <a:ea typeface="Calibri"/>
                <a:cs typeface="Calibri"/>
                <a:sym typeface="Calibri"/>
              </a:rPr>
              <a:t>it only used single camera multi-object tracking.</a:t>
            </a:r>
            <a:endParaRPr sz="1200">
              <a:solidFill>
                <a:schemeClr val="dk1"/>
              </a:solidFill>
              <a:latin typeface="Calibri"/>
              <a:ea typeface="Calibri"/>
              <a:cs typeface="Calibri"/>
              <a:sym typeface="Calibri"/>
            </a:endParaRPr>
          </a:p>
        </p:txBody>
      </p:sp>
      <p:sp>
        <p:nvSpPr>
          <p:cNvPr id="157" name="Google Shape;157;p6"/>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6"/>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59" name="Google Shape;159;p6"/>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6 / 7</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2026-05-19T13:44:10Z</dcterms:created>
  <dc:creator>PptxGenJS</dc:creator>
</cp:coreProperties>
</file>